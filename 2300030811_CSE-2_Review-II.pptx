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61" r:id="rId3"/>
    <p:sldId id="258" r:id="rId4"/>
    <p:sldId id="322" r:id="rId5"/>
    <p:sldId id="323" r:id="rId6"/>
    <p:sldId id="329" r:id="rId7"/>
    <p:sldId id="266" r:id="rId8"/>
    <p:sldId id="330" r:id="rId9"/>
    <p:sldId id="331" r:id="rId10"/>
    <p:sldId id="280" r:id="rId11"/>
    <p:sldId id="333" r:id="rId12"/>
    <p:sldId id="334" r:id="rId13"/>
    <p:sldId id="336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5833"/>
  </p:normalViewPr>
  <p:slideViewPr>
    <p:cSldViewPr snapToGrid="0" snapToObjects="1">
      <p:cViewPr varScale="1">
        <p:scale>
          <a:sx n="70" d="100"/>
          <a:sy n="70" d="100"/>
        </p:scale>
        <p:origin x="43" y="30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2300030112_CSE-2_Review-II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Picture 11" descr="KL University Guntur: Courses, Fees, Admission 2026 ...">
            <a:extLst>
              <a:ext uri="{FF2B5EF4-FFF2-40B4-BE49-F238E27FC236}">
                <a16:creationId xmlns:a16="http://schemas.microsoft.com/office/drawing/2014/main" id="{472328A0-15CC-729D-47DA-2F69F951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90675" cy="90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515600" cy="1128381"/>
          </a:xfr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defRPr sz="2500" b="1">
                <a:solidFill>
                  <a:srgbClr val="1B365D"/>
                </a:solidFill>
                <a:latin typeface="Calibri"/>
              </a:defRPr>
              <a:buNone/>
            </a:pPr>
            <a:r>
              <a:t>INTERPRETABLE CROSS-COUNTRY HOUSEHOLD WELL-BEING ESTIMATION FROM SURVEY DATA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algn="ctr">
              <a:spcBef>
                <a:spcPts val="400"/>
              </a:spcBef>
              <a:defRPr sz="1600" b="1">
                <a:solidFill>
                  <a:srgbClr val="990000"/>
                </a:solidFill>
                <a:latin typeface="Calibri"/>
              </a:defRPr>
              <a:buNone/>
            </a:pPr>
            <a:r>
              <a:t>Capstone Review-II | Project ID: DSCI-28 | Course Code: 23IE4053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011680"/>
            <a:ext cx="5120640" cy="2560320"/>
          </a:xfrm>
        </p:spPr>
        <p:txBody>
          <a:bodyPr wrap="square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1B365D"/>
                </a:solidFill>
                <a:latin typeface="Calibri"/>
              </a:rPr>
              <a:t>Project Team Members: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Mahesh Sai Bhima (2300030811)</a:t>
            </a:r>
            <a:r>
              <a:rPr sz="1300" b="0">
                <a:solidFill>
                  <a:srgbClr val="555555"/>
                </a:solidFill>
                <a:latin typeface="Calibri"/>
              </a:rPr>
              <a:t>
   Role: Data &amp; Validation Lead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Kuni Likitha (2300032195)</a:t>
            </a:r>
            <a:r>
              <a:rPr sz="1300" b="0">
                <a:solidFill>
                  <a:srgbClr val="555555"/>
                </a:solidFill>
                <a:latin typeface="Calibri"/>
              </a:rPr>
              <a:t>
   Role: Preprocessing &amp; Pipeline Lead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Madala Phanindra (2300032338)</a:t>
            </a:r>
            <a:r>
              <a:rPr sz="1300" b="0">
                <a:solidFill>
                  <a:srgbClr val="555555"/>
                </a:solidFill>
                <a:latin typeface="Calibri"/>
              </a:rPr>
              <a:t>
   Role: Modeling &amp; Spatial LOCO Lead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222222"/>
                </a:solidFill>
                <a:latin typeface="Calibri"/>
              </a:rPr>
              <a:t>Punyala Rama Krishna Reddy (2300031696)</a:t>
            </a:r>
            <a:r>
              <a:rPr sz="1300" b="0">
                <a:solidFill>
                  <a:srgbClr val="555555"/>
                </a:solidFill>
                <a:latin typeface="Calibri"/>
              </a:rPr>
              <a:t>
   Role: Interpretability &amp; UI Lead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6675120" y="2011680"/>
            <a:ext cx="4572000" cy="256032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1B365D"/>
                </a:solidFill>
                <a:latin typeface="Calibri"/>
              </a:rPr>
              <a:t>Under the Guidance of:</a:t>
            </a:r>
          </a:p>
          <a:p>
            <a:pPr>
              <a:spcAft>
                <a:spcPts val="400"/>
              </a:spcAft>
              <a:buNone/>
            </a:pPr>
            <a:r>
              <a:rPr sz="2000" b="1">
                <a:solidFill>
                  <a:srgbClr val="990000"/>
                </a:solidFill>
                <a:latin typeface="Calibri"/>
              </a:rPr>
              <a:t>Dr. P. V. R. D. Prasada Rao</a:t>
            </a:r>
          </a:p>
          <a:p>
            <a:pPr>
              <a:spcAft>
                <a:spcPts val="200"/>
              </a:spcAft>
              <a:buNone/>
            </a:pPr>
            <a:r>
              <a:rPr sz="1400">
                <a:solidFill>
                  <a:srgbClr val="222222"/>
                </a:solidFill>
                <a:latin typeface="Calibri"/>
              </a:rPr>
              <a:t>Professor
Department of Computer Science &amp; Engineering
Koneru Lakshmaiah Education Foundation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KL University Guntur: Courses, Fees, Admission 2026 ...">
            <a:extLst>
              <a:ext uri="{FF2B5EF4-FFF2-40B4-BE49-F238E27FC236}">
                <a16:creationId xmlns:a16="http://schemas.microsoft.com/office/drawing/2014/main" id="{C33389CB-B4DE-D8DB-E9CD-7A933880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61" y="4946650"/>
            <a:ext cx="1725712" cy="10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 wrap="square">
            <a:normAutofit fontScale="70000" lnSpcReduction="20000"/>
          </a:bodyPr>
          <a:lstStyle/>
          <a:p>
            <a:pPr marL="514350" indent="-514350">
              <a:spcBef>
                <a:spcPts val="0"/>
              </a:spcBef>
              <a:spcAft>
                <a:spcPts val="400"/>
              </a:spcAft>
              <a:buFont typeface="+mj-lt"/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01. Introduction: </a:t>
            </a:r>
            <a:r>
              <a:rPr sz="1600" b="0">
                <a:solidFill>
                  <a:srgbClr val="222222"/>
                </a:solidFill>
                <a:latin typeface="Calibri"/>
              </a:rPr>
              <a:t>Socio-economic context, PMT challenges, spatial defect, and UN SDG alignment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02. Problem Statement &amp; Objectives: </a:t>
            </a:r>
            <a:r>
              <a:rPr sz="1600" b="0">
                <a:solidFill>
                  <a:srgbClr val="222222"/>
                </a:solidFill>
                <a:latin typeface="Calibri"/>
              </a:rPr>
              <a:t>Poverty targeting barriers and 4 SMART research milestones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03. Functional &amp; Non-Functional Requirements: </a:t>
            </a:r>
            <a:r>
              <a:rPr sz="1600" b="0">
                <a:solidFill>
                  <a:srgbClr val="222222"/>
                </a:solidFill>
                <a:latin typeface="Calibri"/>
              </a:rPr>
              <a:t>Traceability matrix, data contracts, and operational quality constraints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04. Alternative Solutions &amp; Trade-off Analysis: </a:t>
            </a:r>
            <a:r>
              <a:rPr sz="1600" b="0">
                <a:solidFill>
                  <a:srgbClr val="222222"/>
                </a:solidFill>
                <a:latin typeface="Calibri"/>
              </a:rPr>
              <a:t>EHCVM survey scope, algorithmic benchmarks, and welfare loss formulation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05. Complete System Architecture: </a:t>
            </a:r>
            <a:r>
              <a:rPr sz="1600" b="0">
                <a:solidFill>
                  <a:srgbClr val="222222"/>
                </a:solidFill>
                <a:latin typeface="Calibri"/>
              </a:rPr>
              <a:t>6-tier reproducible pipeline, analytical toolchain, and design rationale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06. Detailed Design &amp; Data Flow: </a:t>
            </a:r>
            <a:r>
              <a:rPr sz="1600" b="0">
                <a:solidFill>
                  <a:srgbClr val="222222"/>
                </a:solidFill>
                <a:latin typeface="Calibri"/>
              </a:rPr>
              <a:t>Hierarchical 3-roster ER schema and decoupled UML class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07. Implementation &amp; Unit-Level Progress: </a:t>
            </a:r>
            <a:r>
              <a:rPr sz="1600" b="0">
                <a:solidFill>
                  <a:srgbClr val="222222"/>
                </a:solidFill>
                <a:latin typeface="Calibri"/>
              </a:rPr>
              <a:t>Pandera validation (100%), Agile Sprints 1–3, and code module status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08. Testing &amp; Empirical Results: </a:t>
            </a:r>
            <a:r>
              <a:rPr sz="1600" b="0">
                <a:solidFill>
                  <a:srgbClr val="222222"/>
                </a:solidFill>
                <a:latin typeface="Calibri"/>
              </a:rPr>
              <a:t>Spatial LOCO benchmark, EBM glass-box accuracy, and negative test suite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09. Conclusion &amp; Future Scope: </a:t>
            </a:r>
            <a:r>
              <a:rPr sz="1600" b="0">
                <a:solidFill>
                  <a:srgbClr val="222222"/>
                </a:solidFill>
                <a:latin typeface="Calibri"/>
              </a:rPr>
              <a:t>Key technical findings, policy impact, and multimodal research roadmap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040E3191-07C5-EAE5-E856-8F5C7110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90675" cy="8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Global Social Safety Net Context: </a:t>
            </a:r>
            <a:r>
              <a:rPr sz="1600" b="0">
                <a:solidFill>
                  <a:srgbClr val="222222"/>
                </a:solidFill>
                <a:latin typeface="Calibri"/>
              </a:rPr>
              <a:t>Over $800 Billion is disbursed annually worldwide via Proxy Means Tests (PMT) to allocate cash transfers, subsidies, and humanitarian relief to impoverished households.</a:t>
            </a:r>
          </a:p>
          <a:p>
            <a:pPr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The Spatial Transfer Defect: </a:t>
            </a:r>
            <a:r>
              <a:rPr sz="1600" b="0">
                <a:solidFill>
                  <a:srgbClr val="222222"/>
                </a:solidFill>
                <a:latin typeface="Calibri"/>
              </a:rPr>
              <a:t>Conventional poverty models trained on single-country censuses degrade severely when transferred across borders due to structural economic divergence, unobserved wealth shifts, and regional asset disparities.</a:t>
            </a:r>
          </a:p>
          <a:p>
            <a:pPr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The Black-Box Dilemma in Public Policy: </a:t>
            </a:r>
            <a:r>
              <a:rPr sz="1600" b="0">
                <a:solidFill>
                  <a:srgbClr val="222222"/>
                </a:solidFill>
                <a:latin typeface="Calibri"/>
              </a:rPr>
              <a:t>Modern machine learning models (Deep Neural Nets, GBDTs) offer predictive power but obscure decision logic, violating fundamental constitutional rights to explanation and welfare auditability.</a:t>
            </a:r>
          </a:p>
          <a:p>
            <a:pPr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UN Sustainable Development Goals (SDG) Alignment: </a:t>
            </a:r>
            <a:r>
              <a:rPr sz="1600" b="0">
                <a:solidFill>
                  <a:srgbClr val="222222"/>
                </a:solidFill>
                <a:latin typeface="Calibri"/>
              </a:rPr>
              <a:t>Directly advances UN SDG 1 (No Poverty) and UN SDG 10 (Reduced Inequalities) by enabling transparent, evidence-based, cross-country social welfare targeting.</a:t>
            </a:r>
          </a:p>
          <a:p>
            <a:pPr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1">
                <a:solidFill>
                  <a:srgbClr val="1B365D"/>
                </a:solidFill>
                <a:latin typeface="Calibri"/>
              </a:rPr>
              <a:t>Proposed Engineering Solution: </a:t>
            </a:r>
            <a:r>
              <a:rPr sz="1600" b="0">
                <a:solidFill>
                  <a:srgbClr val="222222"/>
                </a:solidFill>
                <a:latin typeface="Calibri"/>
              </a:rPr>
              <a:t>An end-to-end, reproducible machine learning framework harmonizing 55,922 households across 8 West African nations with zero leakage, strict Pandera contracts, and glass-box auditability.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1DE6236E-E9E2-30FD-D2E4-138C8254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PROBLEM STATEMENT &amp;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14350" indent="-514350">
              <a:spcBef>
                <a:spcPts val="0"/>
              </a:spcBef>
              <a:spcAft>
                <a:spcPts val="800"/>
              </a:spcAft>
              <a:buFont typeface="+mj-lt"/>
              <a:buChar char="•"/>
            </a:pPr>
            <a:r>
              <a:rPr sz="1700" b="1">
                <a:solidFill>
                  <a:srgbClr val="990000"/>
                </a:solidFill>
                <a:latin typeface="Calibri"/>
              </a:rPr>
              <a:t>Problem Statement: </a:t>
            </a:r>
            <a:r>
              <a:rPr sz="1500" b="0">
                <a:solidFill>
                  <a:srgbClr val="222222"/>
                </a:solidFill>
                <a:latin typeface="Calibri"/>
              </a:rPr>
              <a:t>Existing household poverty models suffer from cross-border transfer degradation, lack glass-box interpretability for social audits, and ignore asymmetric welfare loss where excluding starving families carries catastrophic humanitarian penalties.</a:t>
            </a:r>
          </a:p>
          <a:p>
            <a:pPr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600" b="1">
                <a:solidFill>
                  <a:srgbClr val="1B365D"/>
                </a:solidFill>
                <a:latin typeface="Calibri"/>
              </a:rPr>
              <a:t>Objective 1 (Cross-Country Data Harmonization &amp; Integrity): </a:t>
            </a:r>
            <a:r>
              <a:rPr sz="1500" b="0">
                <a:solidFill>
                  <a:srgbClr val="222222"/>
                </a:solidFill>
                <a:latin typeface="Calibri"/>
              </a:rPr>
              <a:t>Ingest, standardize, and validate 55,922 household records across 8 West African nations with 24/24 Pandera schema contracts, composite key verification, and 0.0% missingness.</a:t>
            </a:r>
          </a:p>
          <a:p>
            <a:pPr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600" b="1">
                <a:solidFill>
                  <a:srgbClr val="1B365D"/>
                </a:solidFill>
                <a:latin typeface="Calibri"/>
              </a:rPr>
              <a:t>Objective 2 (LOCO Spatial Generalization Benchmarking): </a:t>
            </a:r>
            <a:r>
              <a:rPr sz="1500" b="0">
                <a:solidFill>
                  <a:srgbClr val="222222"/>
                </a:solidFill>
                <a:latin typeface="Calibri"/>
              </a:rPr>
              <a:t>Rigorously evaluate and quantify cross-border spatial transfer penalties across all 8 nations using strict Leave-One-Country-Out (LOCO) cross-validation to prevent geographic overfitting.</a:t>
            </a:r>
          </a:p>
          <a:p>
            <a:pPr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600" b="1">
                <a:solidFill>
                  <a:srgbClr val="1B365D"/>
                </a:solidFill>
                <a:latin typeface="Calibri"/>
              </a:rPr>
              <a:t>Objective 3 (Interpretable Glass-Box Modeling): </a:t>
            </a:r>
            <a:r>
              <a:rPr sz="1500" b="0">
                <a:solidFill>
                  <a:srgbClr val="222222"/>
                </a:solidFill>
                <a:latin typeface="Calibri"/>
              </a:rPr>
              <a:t>Deploy Explainable Boosting Machines (EBM / GA²M) to achieve gradient boosting-level accuracy while guaranteeing exact, additive feature attribution curves for social auditability.</a:t>
            </a:r>
          </a:p>
          <a:p>
            <a:pPr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600" b="1">
                <a:solidFill>
                  <a:srgbClr val="1B365D"/>
                </a:solidFill>
                <a:latin typeface="Calibri"/>
              </a:rPr>
              <a:t>Objective 4 (Asymmetric Welfare-Optimal Policy Targeting): </a:t>
            </a:r>
            <a:r>
              <a:rPr sz="1500" b="0">
                <a:solidFill>
                  <a:srgbClr val="222222"/>
                </a:solidFill>
                <a:latin typeface="Calibri"/>
              </a:rPr>
              <a:t>Formulate and optimize cost-sensitive decision thresholds (optimal τ* = 0.35 at C_ex:C_inc = 5:1), reducing catastrophic exclusion of vulnerable households by 14.5 percentage points.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3522" cy="365125"/>
          </a:xfrm>
        </p:spPr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 descr="KL University Guntur: Courses, Fees, Admission 2026 ...">
            <a:extLst>
              <a:ext uri="{FF2B5EF4-FFF2-40B4-BE49-F238E27FC236}">
                <a16:creationId xmlns:a16="http://schemas.microsoft.com/office/drawing/2014/main" id="{FCB93B5A-9A72-9C33-CA9A-573546DE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1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FUNCTIONAL &amp; NON-FUNCTIONAL REQUIREMENTS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5120640" cy="4389120"/>
          </a:xfrm>
        </p:spPr>
        <p:txBody>
          <a:bodyPr wrap="square">
            <a:normAutofit/>
          </a:bodyPr>
          <a:lstStyle/>
          <a:p>
            <a:pPr marL="457200" lvl="1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990000"/>
                </a:solidFill>
                <a:latin typeface="Calibri"/>
              </a:rPr>
              <a:t>Functional Requirements (System):</a:t>
            </a:r>
            <a:endParaRPr lang="en-IN" b="1" dirty="0"/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FR-1 (Ingestion &amp; Lineage): </a:t>
            </a:r>
            <a:r>
              <a:rPr sz="1300" b="0">
                <a:solidFill>
                  <a:srgbClr val="222222"/>
                </a:solidFill>
                <a:latin typeface="Calibri"/>
              </a:rPr>
              <a:t>Automated ingestion of 24 raw survey CSVs with SHA-256 integrity hashing and timestamped schema validation.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FR-2 (Relational Pipeline): </a:t>
            </a:r>
            <a:r>
              <a:rPr sz="1300" b="0">
                <a:solidFill>
                  <a:srgbClr val="222222"/>
                </a:solidFill>
                <a:latin typeface="Calibri"/>
              </a:rPr>
              <a:t>3-tier hierarchical merge across Individual, Household, and Community rosters via composite key (country_code, household_id).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FR-3 (Target Formulation &amp; Zero Leakage): </a:t>
            </a:r>
            <a:r>
              <a:rPr sz="1300" b="0">
                <a:solidFill>
                  <a:srgbClr val="222222"/>
                </a:solidFill>
                <a:latin typeface="Calibri"/>
              </a:rPr>
              <a:t>Derive per-capita consumption, threshold against national poverty lines, and immediately purge financial columns.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FR-4 (Spatial LOCO Engine): </a:t>
            </a:r>
            <a:r>
              <a:rPr sz="1300" b="0">
                <a:solidFill>
                  <a:srgbClr val="222222"/>
                </a:solidFill>
                <a:latin typeface="Calibri"/>
              </a:rPr>
              <a:t>Multi-model evaluation suite executing standard K-Fold and 8-fold cross-border spatial LOCO benchmarks.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FR-5 (Interactive Glass-Box Dashboard): </a:t>
            </a:r>
            <a:r>
              <a:rPr sz="1300" b="0">
                <a:solidFill>
                  <a:srgbClr val="222222"/>
                </a:solidFill>
                <a:latin typeface="Calibri"/>
              </a:rPr>
              <a:t>Real-time Streamlit web interface exposing global feature shapes, local household waterfall attributions, and policy thresholds.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5F77845A-18D6-2A92-CBE1-0BA5A5CF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990000"/>
                </a:solidFill>
                <a:latin typeface="Calibri"/>
              </a:rPr>
              <a:t>Non-Functional Requirements (Quality):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NFR-1 (Zero Target Leakage): </a:t>
            </a:r>
            <a:r>
              <a:rPr sz="1300" b="0">
                <a:solidFill>
                  <a:srgbClr val="222222"/>
                </a:solidFill>
                <a:latin typeface="Calibri"/>
              </a:rPr>
              <a:t>Strict mathematical isolation; target variables excluded prior to feature engineering; zero test-fold contamination.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NFR-2 (Deterministic Reproducibility): </a:t>
            </a:r>
            <a:r>
              <a:rPr sz="1300" b="0">
                <a:solidFill>
                  <a:srgbClr val="222222"/>
                </a:solidFill>
                <a:latin typeface="Calibri"/>
              </a:rPr>
              <a:t>Fixed global random seed (42); 100% reproducible data transformations and model states across any environment.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NFR-3 (Low-Latency Inference): </a:t>
            </a:r>
            <a:r>
              <a:rPr sz="1300" b="0">
                <a:solidFill>
                  <a:srgbClr val="222222"/>
                </a:solidFill>
                <a:latin typeface="Calibri"/>
              </a:rPr>
              <a:t>Sub-45 millisecond single-household prediction and local EBM explanation generation on edge hardware.</a:t>
            </a:r>
          </a:p>
          <a:p>
            <a:pPr>
              <a:spcBef>
                <a:spcPts val="0"/>
              </a:spcBef>
              <a:spcAft>
                <a:spcPts val="3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NFR-4 (Data Quality Assurance): </a:t>
            </a:r>
            <a:r>
              <a:rPr sz="1300" b="0">
                <a:solidFill>
                  <a:srgbClr val="222222"/>
                </a:solidFill>
                <a:latin typeface="Calibri"/>
              </a:rPr>
              <a:t>Zero unhandled null values (0.0% missingness in modeling matrix) verified via strict Pandera type contracts.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sz="1700" b="1">
                <a:solidFill>
                  <a:srgbClr val="1B365D"/>
                </a:solidFill>
                <a:latin typeface="Calibri"/>
              </a:rPr>
              <a:t>Traceability &amp; Acceptance Gates: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300" b="1">
                <a:solidFill>
                  <a:srgbClr val="222222"/>
                </a:solidFill>
                <a:latin typeface="Calibri"/>
              </a:rPr>
              <a:t>Full Lifecycle Verification: </a:t>
            </a:r>
            <a:r>
              <a:rPr sz="1300" b="0">
                <a:solidFill>
                  <a:srgbClr val="222222"/>
                </a:solidFill>
                <a:latin typeface="Calibri"/>
              </a:rPr>
              <a:t>All 5 FRs and 4 NFRs map directly to automated pytest suites (AC-1 to AC-4) and formal negative test suites (NT-1 to NT-5).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ALTERNATIVE SOLUTIONS &amp; TRADE-OFF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00200"/>
            <a:ext cx="10515600" cy="4389120"/>
          </a:xfrm>
        </p:spPr>
        <p:txBody>
          <a:bodyPr wrap="square">
            <a:normAutofit/>
          </a:bodyPr>
          <a:lstStyle/>
          <a:p>
            <a:pPr marL="457200" lvl="1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Data Required &amp; Survey Scope: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500" b="1">
                <a:solidFill>
                  <a:srgbClr val="1B365D"/>
                </a:solidFill>
                <a:latin typeface="Calibri"/>
              </a:rPr>
              <a:t>World Bank / WAEMU EHCVM Survey (2021/2022): </a:t>
            </a:r>
            <a:r>
              <a:rPr sz="1400" b="0">
                <a:solidFill>
                  <a:srgbClr val="222222"/>
                </a:solidFill>
                <a:latin typeface="Calibri"/>
              </a:rPr>
              <a:t>8 West African nations (Benin, Burkina Faso, Ivory Coast, Guinea-Bissau, Mali, Niger, Senegal, Togo); 55,922 surveyed households across 24 raw tabular files; 74 multi-dimensional candidate features.</a:t>
            </a: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Algorithmic Architecture Trade-Off Analysis: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OLS / Logistic Regression: </a:t>
            </a:r>
            <a:r>
              <a:rPr sz="1350" b="0">
                <a:solidFill>
                  <a:srgbClr val="222222"/>
                </a:solidFill>
                <a:latin typeface="Calibri"/>
              </a:rPr>
              <a:t>Transparent linear baseline, but severely underfits nonlinear asset accumulation dynamics and interactions (LOCO ROC-AUC: ~0.71).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Deep Neural Networks (MLP): </a:t>
            </a:r>
            <a:r>
              <a:rPr sz="1350" b="0">
                <a:solidFill>
                  <a:srgbClr val="222222"/>
                </a:solidFill>
                <a:latin typeface="Calibri"/>
              </a:rPr>
              <a:t>Captures high-order interactions, but completely opaque black-box; high compute overhead and uninterpretable in welfare audits.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Black-Box Ensembles (XGBoost / RF): </a:t>
            </a:r>
            <a:r>
              <a:rPr sz="1350" b="0">
                <a:solidFill>
                  <a:srgbClr val="222222"/>
                </a:solidFill>
                <a:latin typeface="Calibri"/>
              </a:rPr>
              <a:t>High predictive accuracy (LOCO: 74.0–74.5%), but feature attributions are post-hoc approximations (SHAP/permutation) prone to instability.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Explainable Boosting Machines (EBM / GA²M) [SELECTED]: </a:t>
            </a:r>
            <a:r>
              <a:rPr sz="1350" b="0">
                <a:solidFill>
                  <a:srgbClr val="222222"/>
                </a:solidFill>
                <a:latin typeface="Calibri"/>
              </a:rPr>
              <a:t>Exact glass-box formula g(E[y]) = β₀ + ∑fᵢ(xᵢ) + ∑fᵢⱼ(xᵢ, xⱼ); matches ensemble accuracy (74.8%) with exact, additive, auditable feature curves and zero heuristic approximation.</a:t>
            </a: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Decision Policy Trade-Off (Symmetric vs Asymmetric Welfare Loss):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Symmetric (0.50 Threshold) vs Asymmetric Loss [SELECTED]: </a:t>
            </a:r>
            <a:r>
              <a:rPr sz="1350" b="0">
                <a:solidFill>
                  <a:srgbClr val="222222"/>
                </a:solidFill>
                <a:latin typeface="Calibri"/>
              </a:rPr>
              <a:t>Standard 0.50 cutoffs treat excluding a starving family identically to enrolling an ineligible household. Our asymmetric loss formulation (C_ex:C_inc = 5:1, τ* = 0.35) reduces catastrophic exclusion error from 38.6% to 24.1%.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6DD692A6-15A5-BC54-1007-2069AC50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0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marL="514350" indent="-514350" algn="ctr"/>
            <a:r>
              <a:rPr lang="en-US" b="1" dirty="0"/>
              <a:t>COMPLETE 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4846320" cy="4389120"/>
          </a:xfrm>
        </p:spPr>
        <p:txBody>
          <a:bodyPr wrap="square">
            <a:normAutofit/>
          </a:bodyPr>
          <a:lstStyle/>
          <a:p>
            <a:pPr marL="457200" lvl="1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990000"/>
                </a:solidFill>
                <a:latin typeface="Calibri"/>
              </a:rPr>
              <a:t>Analytical Tools Required: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Core &amp; Data: </a:t>
            </a:r>
            <a:r>
              <a:rPr sz="1350" b="0">
                <a:solidFill>
                  <a:srgbClr val="222222"/>
                </a:solidFill>
                <a:latin typeface="Calibri"/>
              </a:rPr>
              <a:t>Python 3.11, Pandas, NumPy, Pandera (Data Contracts)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ML &amp; Modeling: </a:t>
            </a:r>
            <a:r>
              <a:rPr sz="1350" b="0">
                <a:solidFill>
                  <a:srgbClr val="222222"/>
                </a:solidFill>
                <a:latin typeface="Calibri"/>
              </a:rPr>
              <a:t>Scikit-Learn, XGBoost, LightGBM, InterpretML (EBM)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Explainability &amp; UI: </a:t>
            </a:r>
            <a:r>
              <a:rPr sz="1350" b="0">
                <a:solidFill>
                  <a:srgbClr val="222222"/>
                </a:solidFill>
                <a:latin typeface="Calibri"/>
              </a:rPr>
              <a:t>SHAP, Streamlit, Matplotlib, Seaborn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990000"/>
                </a:solidFill>
                <a:latin typeface="Calibri"/>
              </a:rPr>
              <a:t>End-to-End Pipeline Tiers: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Tiers 1–2 (Ingestion &amp; Gate): </a:t>
            </a:r>
            <a:r>
              <a:rPr sz="1350" b="0">
                <a:solidFill>
                  <a:srgbClr val="222222"/>
                </a:solidFill>
                <a:latin typeface="Calibri"/>
              </a:rPr>
              <a:t>SHA-256 hash validation across 24 CSVs; 3-tier relational join across 8 nations with 0.0% missingness.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Tier 3 (Feature Engineering): </a:t>
            </a:r>
            <a:r>
              <a:rPr sz="1350" b="0">
                <a:solidFill>
                  <a:srgbClr val="222222"/>
                </a:solidFill>
                <a:latin typeface="Calibri"/>
              </a:rPr>
              <a:t>74 indicators computed; financial columns purged immediately to enforce zero target leakage.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Tiers 4–5 (Validation &amp; Training): </a:t>
            </a:r>
            <a:r>
              <a:rPr sz="1350" b="0">
                <a:solidFill>
                  <a:srgbClr val="222222"/>
                </a:solidFill>
                <a:latin typeface="Calibri"/>
              </a:rPr>
              <a:t>8-fold cross-border spatial LOCO evaluation; EBM (GA²M) trained alongside RF &amp; XGBoost baselines.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Tier 6 (Deployment &amp; Policy): </a:t>
            </a:r>
            <a:r>
              <a:rPr sz="1350" b="0">
                <a:solidFill>
                  <a:srgbClr val="222222"/>
                </a:solidFill>
                <a:latin typeface="Calibri"/>
              </a:rPr>
              <a:t>Interactive Streamlit portal with asymmetric loss tuning (optimal τ* = 0.35) and local waterfall attribution.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41089752-4838-5B66-D127-9306AD90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  <p:pic>
        <p:nvPicPr>
          <p:cNvPr id="10" name="Picture 9" descr="diagram_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48640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1" i="1">
                <a:solidFill>
                  <a:srgbClr val="555555"/>
                </a:solidFill>
                <a:latin typeface="Calibri"/>
              </a:defRPr>
            </a:pPr>
            <a:r>
              <a:t>Figure 1: End-to-End 8-Tier Interpretable ML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708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en-IN" b="1" dirty="0"/>
              <a:t> </a:t>
            </a:r>
            <a:r>
              <a:rPr lang="en-US" b="1" dirty="0"/>
              <a:t>DETAILED DESIGN &amp; DATA FLOW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508760"/>
            <a:ext cx="10515600" cy="777240"/>
          </a:xfrm>
        </p:spPr>
        <p:txBody>
          <a:bodyPr wrap="square">
            <a:norm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Relational Data Model (ER): </a:t>
            </a:r>
            <a:r>
              <a:rPr sz="1350" b="0">
                <a:solidFill>
                  <a:srgbClr val="222222"/>
                </a:solidFill>
                <a:latin typeface="Calibri"/>
              </a:rPr>
              <a:t>Hierarchical 3-roster schema connecting Individuals (1:N), Households (1:1), and Community Facilities (N:1) via composite key (country_code, household_id) with 24/24 Pandera schema contracts.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Object-Oriented Architecture (UML): </a:t>
            </a:r>
            <a:r>
              <a:rPr sz="1350" b="0">
                <a:solidFill>
                  <a:srgbClr val="222222"/>
                </a:solidFill>
                <a:latin typeface="Calibri"/>
              </a:rPr>
              <a:t>Decoupled pipeline components (DataLoader, DataHarmonizer, FeatureEngineer, ModelTrainer, PolicyOptimizer, InferenceEngine) ensuring zero leakage, modular testability, and clean abstraction boundaries.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A3A50F5C-9036-CBE1-3EA6-F797D45E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  <p:pic>
        <p:nvPicPr>
          <p:cNvPr id="10" name="Picture 9" descr="diagram_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4754880" cy="3169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1" i="1">
                <a:solidFill>
                  <a:srgbClr val="555555"/>
                </a:solidFill>
                <a:latin typeface="Calibri"/>
              </a:defRPr>
            </a:pPr>
            <a:r>
              <a:t>Figure 2: 3-Tier Entity-Relationship (ER) Schema</a:t>
            </a:r>
          </a:p>
        </p:txBody>
      </p:sp>
      <p:pic>
        <p:nvPicPr>
          <p:cNvPr id="12" name="Picture 11" descr="diagram_uml_cla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31720"/>
            <a:ext cx="4754880" cy="3169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00" b="1" i="1">
                <a:solidFill>
                  <a:srgbClr val="555555"/>
                </a:solidFill>
                <a:latin typeface="Calibri"/>
              </a:defRPr>
            </a:pPr>
            <a:r>
              <a:t>Figure 3: Modular UML Class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5523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ctr"/>
            <a:r>
              <a:rPr lang="en-US" b="1" dirty="0"/>
              <a:t>IMPLEMENTATION &amp; UNIT-LEVEL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600200"/>
            <a:ext cx="10515600" cy="438912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Milestone &amp; Objective Progress Status:</a:t>
            </a:r>
            <a:endParaRPr lang="en-US" dirty="0"/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Objective 1 (Data Pipeline &amp; Harmonization): </a:t>
            </a:r>
            <a:r>
              <a:rPr sz="1350" b="0">
                <a:solidFill>
                  <a:srgbClr val="222222"/>
                </a:solidFill>
                <a:latin typeface="Calibri"/>
              </a:rPr>
              <a:t>100% COMPLETE — 24/24 Pandera schemas passed, 55,922 records unified across 8 nations, 74 features, 0.0% missingness.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Objective 2 (LOCO Spatial Validation): </a:t>
            </a:r>
            <a:r>
              <a:rPr sz="1350" b="0">
                <a:solidFill>
                  <a:srgbClr val="222222"/>
                </a:solidFill>
                <a:latin typeface="Calibri"/>
              </a:rPr>
              <a:t>100% COMPLETE — 8-fold cross-border LOCO benchmark implemented and executed; spatial transfer penalties quantified.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Objective 3 (EBM Glass-Box Modeling): </a:t>
            </a:r>
            <a:r>
              <a:rPr sz="1350" b="0">
                <a:solidFill>
                  <a:srgbClr val="222222"/>
                </a:solidFill>
                <a:latin typeface="Calibri"/>
              </a:rPr>
              <a:t>100% COMPLETE — EBM trained; achieves 74.8% accuracy (zero cost of interpretability vs RF at 74.0%).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Objective 4 (Asymmetric Loss Optimization): </a:t>
            </a:r>
            <a:r>
              <a:rPr sz="1350" b="0">
                <a:solidFill>
                  <a:srgbClr val="222222"/>
                </a:solidFill>
                <a:latin typeface="Calibri"/>
              </a:rPr>
              <a:t>100% COMPLETE — Cost-sensitive grid search implemented; optimal τ* = 0.35 established.</a:t>
            </a: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Agile Sprint Execution &amp; Timeline Breakdown: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Sprint 1 (Weeks 1–3) [COMPLETED]: </a:t>
            </a:r>
            <a:r>
              <a:rPr sz="1350" b="0">
                <a:solidFill>
                  <a:srgbClr val="222222"/>
                </a:solidFill>
                <a:latin typeface="Calibri"/>
              </a:rPr>
              <a:t>Data repository ingestion, SHA-256 hash lineage tracking, Pandera contract enforcement across 24 files.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Sprint 2 (Weeks 4–6) [COMPLETED]: </a:t>
            </a:r>
            <a:r>
              <a:rPr sz="1350" b="0">
                <a:solidFill>
                  <a:srgbClr val="222222"/>
                </a:solidFill>
                <a:latin typeface="Calibri"/>
              </a:rPr>
              <a:t>Hierarchical 3-roster relational merge, feature engineering (74 indicators), consumption target formulation, leakage purge.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Sprint 3 (Weeks 7–8) [COMPLETED]: </a:t>
            </a:r>
            <a:r>
              <a:rPr sz="1350" b="0">
                <a:solidFill>
                  <a:srgbClr val="222222"/>
                </a:solidFill>
                <a:latin typeface="Calibri"/>
              </a:rPr>
              <a:t>Leave-One-Country-Out (LOCO) spatial engine, EBM training, asymmetric welfare loss optimization, Streamlit defense app.</a:t>
            </a: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Unit-Level Deliverables Verified in Production: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Verified Source Modules: </a:t>
            </a:r>
            <a:r>
              <a:rPr sz="1350" b="0">
                <a:solidFill>
                  <a:srgbClr val="222222"/>
                </a:solidFill>
                <a:latin typeface="Calibri"/>
              </a:rPr>
              <a:t>src/ingest.py, src/harmonize.py, src/features.py, src/models.py, src/evaluate.py, app.py (100% passing automated checks).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38373F6D-CA48-0850-F181-AE9264F5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TESTING&amp; RESULTS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3520440"/>
            <a:ext cx="10515600" cy="24688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Asymmetric Policy Targeting Optimization Results:</a:t>
            </a:r>
            <a:endParaRPr lang="en-US" dirty="0"/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Symmetric Benchmark (τ = 0.50): </a:t>
            </a:r>
            <a:r>
              <a:rPr sz="1350" b="0">
                <a:solidFill>
                  <a:srgbClr val="222222"/>
                </a:solidFill>
                <a:latin typeface="Calibri"/>
              </a:rPr>
              <a:t>Exclusion Error = 38.6%  |  Inclusion Error = 14.2%  |  Severe humanitarian penalty (destitute families denied aid).</a:t>
            </a:r>
          </a:p>
          <a:p>
            <a:pPr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Welfare-Optimal Decision Rule (τ* = 0.35): </a:t>
            </a:r>
            <a:r>
              <a:rPr sz="1350" b="0">
                <a:solidFill>
                  <a:srgbClr val="222222"/>
                </a:solidFill>
                <a:latin typeface="Calibri"/>
              </a:rPr>
              <a:t>Exclusion Error = 24.1%  (14.5 percentage point drop in excluded poor!)  |  Total Welfare Loss reduced by 22.8%.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Software Verification &amp; Robustness Quality Gates:</a:t>
            </a:r>
          </a:p>
          <a:p>
            <a:pPr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Acceptance Testing (AC-1 to AC-4): </a:t>
            </a:r>
            <a:r>
              <a:rPr sz="1350" b="0">
                <a:solidFill>
                  <a:srgbClr val="222222"/>
                </a:solidFill>
                <a:latin typeface="Calibri"/>
              </a:rPr>
              <a:t>100% Pass Rate (Pandera schema validation, zero-leakage purge, 8-fold LOCO execution, sub-45ms inference).</a:t>
            </a:r>
          </a:p>
          <a:p>
            <a:pPr>
              <a:spcBef>
                <a:spcPts val="0"/>
              </a:spcBef>
              <a:spcAft>
                <a:spcPts val="0"/>
              </a:spcAft>
              <a:buChar char="•"/>
            </a:pPr>
            <a:r>
              <a:rPr sz="1400" b="1">
                <a:solidFill>
                  <a:srgbClr val="1B365D"/>
                </a:solidFill>
                <a:latin typeface="Calibri"/>
              </a:rPr>
              <a:t>Negative Testing Suite (NT-1 to NT-5): </a:t>
            </a:r>
            <a:r>
              <a:rPr sz="1350" b="0">
                <a:solidFill>
                  <a:srgbClr val="222222"/>
                </a:solidFill>
                <a:latin typeface="Calibri"/>
              </a:rPr>
              <a:t>100% Pass Rate (Tampered schemas rejected, corrupted CSVs caught, leaked targets blocked).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F08C08E9-966B-351C-0038-F1D489B6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1600200"/>
          <a:ext cx="10515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737360"/>
                <a:gridCol w="1737360"/>
                <a:gridCol w="1737360"/>
                <a:gridCol w="2468880"/>
              </a:tblGrid>
              <a:tr h="356616"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 marL="73152" marR="73152" marT="36576" marB="36576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In-Country Acc</a:t>
                      </a:r>
                    </a:p>
                  </a:txBody>
                  <a:tcPr marL="73152" marR="73152" marT="36576" marB="36576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LOCO Spatial Acc</a:t>
                      </a:r>
                    </a:p>
                  </a:txBody>
                  <a:tcPr marL="73152" marR="73152" marT="36576" marB="36576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Transfer Penalty</a:t>
                      </a:r>
                    </a:p>
                  </a:txBody>
                  <a:tcPr marL="73152" marR="73152" marT="36576" marB="36576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Glass-Box Auditability</a:t>
                      </a:r>
                    </a:p>
                  </a:txBody>
                  <a:tcPr marL="73152" marR="73152" marT="36576" marB="36576">
                    <a:solidFill>
                      <a:srgbClr val="1B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Logistic Regression (Baseline)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72.1%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70.3%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-1.8 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 (Linear Only)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Random Forest Classifier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76.9%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74.0%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-2.9 pp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Opaque (Post-hoc SHAP)</a:t>
                      </a:r>
                    </a:p>
                  </a:txBody>
                  <a:tcPr marL="73152" marR="73152" marT="36576" marB="36576">
                    <a:solidFill>
                      <a:srgbClr val="F4F6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XGBoost Gradient Boosting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78.4%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-3.9 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Opaque (Post-hoc SHAP)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90000"/>
                          </a:solidFill>
                          <a:latin typeface="Calibri"/>
                        </a:defRPr>
                      </a:pPr>
                      <a:r>
                        <a:t>Explainable Boosting Machine (EBM)</a:t>
                      </a:r>
                    </a:p>
                  </a:txBody>
                  <a:tcPr marL="73152" marR="73152" marT="36576" marB="36576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90000"/>
                          </a:solidFill>
                          <a:latin typeface="Calibri"/>
                        </a:defRPr>
                      </a:pPr>
                      <a:r>
                        <a:t>77.2%</a:t>
                      </a:r>
                    </a:p>
                  </a:txBody>
                  <a:tcPr marL="73152" marR="73152" marT="36576" marB="36576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90000"/>
                          </a:solidFill>
                          <a:latin typeface="Calibri"/>
                        </a:defRPr>
                      </a:pPr>
                      <a:r>
                        <a:t>74.8%</a:t>
                      </a:r>
                    </a:p>
                  </a:txBody>
                  <a:tcPr marL="73152" marR="73152" marT="36576" marB="36576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90000"/>
                          </a:solidFill>
                          <a:latin typeface="Calibri"/>
                        </a:defRPr>
                      </a:pPr>
                      <a:r>
                        <a:t>-2.4 pp</a:t>
                      </a:r>
                    </a:p>
                  </a:txBody>
                  <a:tcPr marL="73152" marR="73152" marT="36576" marB="36576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90000"/>
                          </a:solidFill>
                          <a:latin typeface="Calibri"/>
                        </a:defRPr>
                      </a:pPr>
                      <a:r>
                        <a:t>100% Exact Glass-Box (GA²M)</a:t>
                      </a:r>
                    </a:p>
                  </a:txBody>
                  <a:tcPr marL="73152" marR="73152" marT="36576" marB="36576"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CONCLUSION&amp; FUTURE SCOPE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600200"/>
            <a:ext cx="10515600" cy="438912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Key Conclusions &amp; Research Findings:</a:t>
            </a:r>
            <a:endParaRPr lang="en-US" dirty="0"/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Zero Interpretability Penalty: </a:t>
            </a:r>
            <a:r>
              <a:rPr sz="1350" b="0">
                <a:solidFill>
                  <a:srgbClr val="222222"/>
                </a:solidFill>
                <a:latin typeface="Calibri"/>
              </a:rPr>
              <a:t>Proved that glass-box Explainable Boosting Machines (EBM) match black-box ensemble accuracy (74.8% vs 74.0% RF) while delivering 100% exact, additive, auditable feature contribution curves.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Quantified Cross-Border Penalty: </a:t>
            </a:r>
            <a:r>
              <a:rPr sz="1350" b="0">
                <a:solidFill>
                  <a:srgbClr val="222222"/>
                </a:solidFill>
                <a:latin typeface="Calibri"/>
              </a:rPr>
              <a:t>Household survey models transferred across national borders incur a measurable 2.9–3.9 pp accuracy penalty, empirically validating the necessity of spatial cross-validation over standard K-Fold.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Humanitarian Policy Impact: </a:t>
            </a:r>
            <a:r>
              <a:rPr sz="1350" b="0">
                <a:solidFill>
                  <a:srgbClr val="222222"/>
                </a:solidFill>
                <a:latin typeface="Calibri"/>
              </a:rPr>
              <a:t>Asymmetric welfare loss calibration (τ* = 0.35) slashes severe poverty exclusion from 38.6% to 24.1%, directly protecting the most destitute households from starvation error.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Production-Grade Pipeline: </a:t>
            </a:r>
            <a:r>
              <a:rPr sz="1350" b="0">
                <a:solidFill>
                  <a:srgbClr val="222222"/>
                </a:solidFill>
                <a:latin typeface="Calibri"/>
              </a:rPr>
              <a:t>Built a fully modular, reproducible codebase with 24/24 Pandera contracts, zero missingness, and live interactive Streamlit deployment.</a:t>
            </a:r>
          </a:p>
          <a:p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990000"/>
                </a:solidFill>
                <a:latin typeface="Calibri"/>
              </a:rPr>
              <a:t>Future Scope &amp; Research Roadmap: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Multimodal Satellite Feature Fusion: </a:t>
            </a:r>
            <a:r>
              <a:rPr sz="1350" b="0">
                <a:solidFill>
                  <a:srgbClr val="222222"/>
                </a:solidFill>
                <a:latin typeface="Calibri"/>
              </a:rPr>
              <a:t>Integrate high-resolution daytime/nighttime satellite imagery and settlement footprints for dynamic spatial poverty tracking.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Temporal Panel &amp; Shock Analysis: </a:t>
            </a:r>
            <a:r>
              <a:rPr sz="1350" b="0">
                <a:solidFill>
                  <a:srgbClr val="222222"/>
                </a:solidFill>
                <a:latin typeface="Calibri"/>
              </a:rPr>
              <a:t>Incorporate multi-year longitudinal survey waves to evaluate household economic shock recovery and climate resilience.</a:t>
            </a:r>
          </a:p>
          <a:p>
            <a:pPr>
              <a:spcBef>
                <a:spcPts val="0"/>
              </a:spcBef>
              <a:spcAft>
                <a:spcPts val="250"/>
              </a:spcAft>
              <a:buChar char="•"/>
            </a:pPr>
            <a:r>
              <a:rPr sz="1450" b="1">
                <a:solidFill>
                  <a:srgbClr val="1B365D"/>
                </a:solidFill>
                <a:latin typeface="Calibri"/>
              </a:rPr>
              <a:t>Actionable Algorithmic Recourse Engine: </a:t>
            </a:r>
            <a:r>
              <a:rPr sz="1350" b="0">
                <a:solidFill>
                  <a:srgbClr val="222222"/>
                </a:solidFill>
                <a:latin typeface="Calibri"/>
              </a:rPr>
              <a:t>Implement automated counterfactual explanations guiding citizens and social workers on policy qualification pathways.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EDB97B66-C50D-CD5C-271D-11BBA7E8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 wrap="square">
            <a:normAutofit/>
          </a:bodyPr>
          <a:lstStyle/>
          <a:p>
            <a:pPr marL="0" indent="0" algn="ctr">
              <a:spcAft>
                <a:spcPts val="1400"/>
              </a:spcAft>
              <a:buNone/>
              <a:defRPr sz="4600" b="1">
                <a:solidFill>
                  <a:srgbClr val="1B365D"/>
                </a:solidFill>
                <a:latin typeface="Calibri"/>
              </a:defRPr>
            </a:pPr>
            <a:r>
              <a:t>THANK YOU</a:t>
            </a:r>
            <a:endParaRPr lang="en-IN" dirty="0"/>
          </a:p>
          <a:p>
            <a:pPr algn="ctr">
              <a:spcAft>
                <a:spcPts val="800"/>
              </a:spcAft>
              <a:buNone/>
              <a:defRPr sz="2100" b="1">
                <a:solidFill>
                  <a:srgbClr val="990000"/>
                </a:solidFill>
                <a:latin typeface="Calibri"/>
              </a:defRPr>
            </a:pPr>
            <a:r>
              <a:t>Interpretable Cross-Country Household Well-Being Estimation from Survey Data</a:t>
            </a:r>
          </a:p>
          <a:p>
            <a:pPr algn="ctr">
              <a:spcAft>
                <a:spcPts val="1400"/>
              </a:spcAft>
              <a:buNone/>
              <a:defRPr sz="1600">
                <a:solidFill>
                  <a:srgbClr val="555555"/>
                </a:solidFill>
                <a:latin typeface="Calibri"/>
              </a:defRPr>
            </a:pPr>
            <a:r>
              <a:t>Capstone Review-II  |  Project ID: DSCI-28  |  Course: 23IE4053</a:t>
            </a:r>
            <a:br/>
            <a:r>
              <a:t>Department of Computer Science &amp; Engineering</a:t>
            </a:r>
            <a:br/>
            <a:r>
              <a:t>Koneru Lakshmaiah Education Foundation</a:t>
            </a:r>
          </a:p>
          <a:p>
            <a:pPr algn="ctr">
              <a:spcAft>
                <a:spcPts val="1800"/>
              </a:spcAft>
              <a:buNone/>
              <a:defRPr sz="1500" b="1">
                <a:solidFill>
                  <a:srgbClr val="1B365D"/>
                </a:solidFill>
                <a:latin typeface="Calibri"/>
              </a:defRPr>
            </a:pPr>
            <a:r>
              <a:t>Team: Mahesh Sai Bhima (2300030811) | Kuni Likitha (2300032195)</a:t>
            </a:r>
            <a:br/>
            <a:r>
              <a:t>Madala Phanindra (2300032338) | Punyala Rama Krishna Reddy (2300031696)</a:t>
            </a:r>
            <a:br/>
            <a:r>
              <a:t>Guide: Dr. P. V. R. D. Prasada Rao, Professor, Dept. of CSE</a:t>
            </a:r>
          </a:p>
          <a:p>
            <a:pPr algn="ctr">
              <a:buNone/>
              <a:defRPr sz="1800" b="1">
                <a:solidFill>
                  <a:srgbClr val="990000"/>
                </a:solidFill>
                <a:latin typeface="Calibri"/>
              </a:defRPr>
            </a:pPr>
            <a:r>
              <a:t>—  Open for Technical Questions and Viva Defense  —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25735C75-4487-5B7D-EC2D-7F09444A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</TotalTime>
  <Words>566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Custom Design</vt:lpstr>
      <vt:lpstr>INSTRUCTIONS</vt:lpstr>
      <vt:lpstr>REVIEW-II  Title of the Project</vt:lpstr>
      <vt:lpstr>OUTLINE</vt:lpstr>
      <vt:lpstr>INTRODUCTION</vt:lpstr>
      <vt:lpstr>PROBLEM STATEMENT &amp; OBJECTIVES</vt:lpstr>
      <vt:lpstr>FUNCTIONAL &amp; NON-FUNCTIONAL REQUIREMENTS </vt:lpstr>
      <vt:lpstr>ALTERNATIVE SOLUTIONS &amp; TRADE-OFF ANALYSIS</vt:lpstr>
      <vt:lpstr>COMPLETE SYSTEM ARCHITECTURE</vt:lpstr>
      <vt:lpstr> DETAILED DESIGN &amp; DATA FLOW</vt:lpstr>
      <vt:lpstr>IMPLEMENTATION &amp; UNIT-LEVEL PROGRESS</vt:lpstr>
      <vt:lpstr>TESTING&amp; RESULTS  </vt:lpstr>
      <vt:lpstr>CONCLUSION&amp; FUTURE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Shiyam V</cp:lastModifiedBy>
  <cp:revision>48</cp:revision>
  <dcterms:created xsi:type="dcterms:W3CDTF">2022-05-20T10:20:31Z</dcterms:created>
  <dcterms:modified xsi:type="dcterms:W3CDTF">2026-09-21T08:34:25Z</dcterms:modified>
</cp:coreProperties>
</file>