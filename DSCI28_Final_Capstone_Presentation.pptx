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COMPUTER SCIENCE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Cross-Country Household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Well-Being Estimation from Survey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 Defense · Project Code: DSCI-28 · Academic Year 2026–27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41A45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V. R. D. Prasada Rao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Computer Science &amp; Engineering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 University)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41A45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TEAM (DSCI-28)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4206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Kuni Likitha (2300032195) — Lead O1 (Data Lineage &amp; Contracts)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Madala Phanindra (2300032338) — Lead O2 (Black-Box Baselines)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Mahesh Sai Bhima (2300030811) — Lead O3 (Interpretable AI &amp; Trade-Off)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Punyala Rama Krishna Reddy (2300031696) — Lead O4/O5 (Targeting &amp; QA)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2A35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 Accuracy vs. Interpretability Dilemma in Poverty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PERFORMANCE PENALTY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with Tree-SHAP matches XGBoost (76.3%) while Explainable Boosting Machines (74.8%) beat Random Forest (74.0%). The 'Cost of Interpretability' is zero.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37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ERROR TUNING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103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38.6% → 24.1%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from naive symmetric loss to welfare-weighted policy loss (3:1 exclusion penalty) reduces excluded poor households by over 37%.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37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ACCEPTANCE &amp; SAFETY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21031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ACs · 5 NTs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formal acceptance conditions (AC-1..4) and all 5 mandatory negative tests (NT-1..5) passed under independent entity-separated LOCO verification.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Completion Across All 5 Capstone SMART Objectives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5852160"/>
                <a:gridCol w="185897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Deliverables &amp;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Charter &amp; Data Harmonisation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8 EHCVM 2021 nations; 24 Pandera schema contracts; 55,922 clean households with 74 standardized features.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Cross-Country Baseline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Random Forest and XGBoost under Leave-One-Country-Out (LOCO) and pooled settings. Measure spatial degradation.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Model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EBM (GAM) &amp; LightGBM+SHAP on identical LOCO folds; quantify exact accuracy cost; construct empirical Pareto frontier.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Error Targeting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Formulate policy welfare loss weighting Exclusion Error (FN) vs Inclusion Error (FP) across cost ratios 1:1 to 10:1.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Assurance &amp; Safety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against AC-1 to AC-4 and execute 5 mandatory negative tests (NT-1 to NT-5) to certify real-world policy readiness.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ML &amp; The Spatial Generalisation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PRECEDENT &amp; BENCHMARKS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Mehta, Srivastava &amp; Dhote (2025):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 poverty in India using survey + geospatial data (nightlights, NDVI). Random Forest performed best, but single-country setup limits transferability.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Scandurra et al. (2026):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Classifying Italian energy poverty; XGBoost achieved top F1 (0.34–0.40). Class imbalance heavily impacted recall until reweighting.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Mariyah &amp; Wobcke (2025) &amp; Abbas et al. (2026):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XGBoost applied to PMT poverty targeting; CatBoost on farmer dispossession. Highlight targeting error costs beyond accuracy.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Literature Finding: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universally superior algorithm exists. Performance is sensitive to class balance and outcome definitions, justifying systematic empirical comparison (LR, RF, XGB, LGBM, CatBoost, EBM).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SPATIAL DISTINCTION (Sec 2.1 &amp; 2.3)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57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WITHIN-DISTRIBUTION (Random Train-Test Split)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Yitageasu et al. (2025) · 34 African Countries · 500,845 HH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Achieved 80.61% accuracy (F1 = 0.8377) predicting sanitation.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Caveat: Households from the same 34 countries appear in BOTH train and test sets. Measures memorized local correlation, NOT transfer!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BEBCC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749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TRANSFER (True External Validity)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Garbero &amp; Letta (2022) · 10 Countries · Household Resilience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Achieved 72%+ accuracy &amp; ~80% sensitivity across 10 distinct borders.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Excluded country identifiers; greater complexity did NOT help.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Takeaway: 80.61% vs 72%+ describe DIFFERENT properties! Multi-country data ≠ cross-country generalization.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5349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DSCI-28 explicitly enforces LOCO to test whether models learn universal living-standard relationships or country-specific artifacts.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Interpretability, Recourse &amp; The Unified Research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COUNTERFACTUAL RECOURSE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Post-Hoc SHAP Caution (Dejkam &amp; Madlener 2025; Watson 2022):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SHAP values reflect feature contribution to predictions, NOT causal effect. High attribution can reflect correlation with unmeasured proxies rather than an actionable lever.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Intrinsic Interpretability (Zschech, Weinzierl &amp; Kraus 2026):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Explainable Boosting Machines (EBM / GA²M) provide exact additive shape functions g(y) = ∑f_i(x_i), eliminating post-hoc approximation fidelity errors.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Counterfactuals (Guidotti 2024; Warren et al. 2024):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Counterfactuals explain how changes in characteristics alter prediction. Crucial distinction in survey data: housing/WASH/power are actionable, whereas demographics (household size, head age) are immutable.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41A45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00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RESEARCH GAP (Sec 2.6)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literature addresses socioeconomic ML dimensions in isolation, never in combination: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4688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5420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Multi-Model Benchmarking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400" y="27980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XGBoost, LightGBM, CatBoost, EBM evaluated under identical protocols.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0" y="33375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410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 Cross-Country Generalisation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36667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LOCO testing across 8 distinct national borders, separating in-distribution from transfer.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42062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Dual Interpretability Spectrum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29400" y="45354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intrinsic glass-box EBM shape functions with global/local Tree-SHAP attributions.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92240" y="50749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51480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Asymmetric Social Welfare Targeting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54041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optimizing Exclusion vs Inclusion errors across real policy cost ratios (1:1..10:1).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2A3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DATA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Bank EHCVM 2021: 8 West African Nations Harmonised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(ISO-3)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Households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HH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Benin (BEN)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Burkina Faso (BFA)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Côte d'Ivoire (CIV)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Guinea-Bissau (GNB)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 (MLI)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 (NER)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Senegal (SEN)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Togo (TGO)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WAEMU 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55,922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3716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645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STANDARDIZED OBSERVABLE FEATURES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201168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3-Tier Relational Merge: Unified household characteristics (menage), individual roster (individu), and living conditions (welfare).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Demographics: Household size, dependency ratio, gender/age of head, marital structure, polygamy.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Housing Quality: Wall materials (cement/stone vs mud/straw), roof materials (tin vs thatch), floor type (tile vs dirt).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(WASH): Piped drinking water vs surface water, modern flush sanitation vs open defecation, electric grid access.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Durable Assets: Ownership counts of mobile phones, TVs, refrigerators, motorcycles, vehicles, computers.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Violations: Validated via 24 Pandera DataFrameSchema rules.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BASELINE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Cross-Country Spatial Degradation Penalty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82296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5-Fold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 (Cross-Country)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8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5-Fold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 (Cross-Country)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A8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371600"/>
            <a:ext cx="4754880" cy="4389120"/>
          </a:xfrm>
          <a:prstGeom prst="roundRect">
            <a:avLst>
              <a:gd name="adj" fmla="val 2083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TRANSFER PENALTY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0" y="201168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Degradation Verified: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Forest drops -2.9pp (76.9% → 74.0%).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XGBoost drops -3.9pp (80.2% → 76.3%).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In-Distribution Splits Fail: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cross-validation gives a false sense of security by leaking national living standard profiles into test folds.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LOCO is Mandatory: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Leave-One-Country-Out simulates real-world deployment where a country has no recent survey data and must rely on models trained in neighboring nations.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Reference Established: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 (74.0%) and XGBoost (76.3%) serve as the official O2 reference baselines for all O3 comparisons.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INTERPRETABLE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Proof: Interpretable Models Match Black-Box Accuracy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097280"/>
                <a:gridCol w="1005840"/>
                <a:gridCol w="1005840"/>
                <a:gridCol w="1005840"/>
                <a:gridCol w="30476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Interp.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vs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(O2)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(O2)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Black-Box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(O3)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 vs 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EBM (Explainable Boosting)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 + Interactions (O3)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+0.8pp vs RF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+ Tree-SHAP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+ XAI (O3)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+0.1pp vs 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:\Users\bhima\OneDrive\Desktop\CAPSTONE\EHCVM_Project\EHCVM_Project\outputs\results\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49040"/>
            <a:ext cx="11094415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THE TRADE-OFF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Frontier &amp; Global Feature Importance</a:t>
            </a:r>
            <a:endParaRPr lang="en-US" sz="2400" dirty="0"/>
          </a:p>
        </p:txBody>
      </p:sp>
      <p:pic>
        <p:nvPicPr>
          <p:cNvPr id="4" name="Image 0" descr="C:\Users\bhima\OneDrive\Desktop\CAPSTONE\EHCVM_Project\EHCVM_Project\outputs\results\tradeoff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03520" cy="4754880"/>
          </a:xfrm>
          <a:prstGeom prst="rect">
            <a:avLst/>
          </a:prstGeom>
        </p:spPr>
      </p:pic>
      <p:pic>
        <p:nvPicPr>
          <p:cNvPr id="5" name="Image 1" descr="C:\Users\bhima\OneDrive\Desktop\CAPSTONE\EHCVM_Project\EHCVM_Project\outputs\results\shap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94960" cy="4754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TRANSFERABILITY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Per-Country Accuracy Heatmap Across 8 Nations</a:t>
            </a:r>
            <a:endParaRPr lang="en-US" sz="2400" dirty="0"/>
          </a:p>
        </p:txBody>
      </p:sp>
      <p:pic>
        <p:nvPicPr>
          <p:cNvPr id="4" name="Image 0" descr="C:\Users\bhima\OneDrive\Desktop\CAPSTONE\EHCVM_Project\EHCVM_Project\outputs\results\country_accurac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371600"/>
            <a:ext cx="3291840" cy="4754880"/>
          </a:xfrm>
          <a:prstGeom prst="roundRect">
            <a:avLst>
              <a:gd name="adj" fmla="val 2778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FINDINGS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03920" y="201168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Generalisation: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Burkina Faso (77.9%) and Niger (78.3%) achieve highest cross-country transfer accuracy.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Outlier: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Côte d'Ivoire (73.7%) has lower accuracy due to a much larger middle-income urban economy compared to neighboring Sahelian nations.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Consistency: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LightGBM and XGBoost maintain consistent rank ordering across all 8 individual evaluations.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TARGETING POLICY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Exclusion Error (Deprivation) vs Inclusion Error (Leakage)</a:t>
            </a:r>
            <a:endParaRPr lang="en-US" sz="2400" dirty="0"/>
          </a:p>
        </p:txBody>
      </p:sp>
      <p:pic>
        <p:nvPicPr>
          <p:cNvPr id="4" name="Image 0" descr="C:\Users\bhima\OneDrive\Desktop\CAPSTONE\EHCVM_Project\EHCVM_Project\outputs\results\target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836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37160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POLICY LOSS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201168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c · FN + 1 · FP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 = Cost(Exclusion) / Cost(Inclusion)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Social Reality: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Exclusion (FN) means starving families are denied cash transfers.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Inclusion (FP) is fiscal budget leakage.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Threshold (τ = 0.50):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Results in 38.6% Exclusion Error (unacceptable in real welfare policy).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Calibrated Policy (c = 3:1):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Optimal threshold shifts to τ* ≈ 0.35.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Exclusion error drops to 24.1%.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Response (c = 5:1):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Optimal threshold τ* ≈ 0.25.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Protects 84.2% of all impoverished households.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 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Decision Threshold as a Function of Social Cost Ratios</a:t>
            </a:r>
            <a:endParaRPr lang="en-US" sz="2400" dirty="0"/>
          </a:p>
        </p:txBody>
      </p:sp>
      <p:pic>
        <p:nvPicPr>
          <p:cNvPr id="4" name="Image 0" descr="C:\Users\bhima\OneDrive\Desktop\CAPSTONE\EHCVM_Project\EHCVM_Project\outputs\results\targeting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5: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Acceptance Conditions: 100% Verified Pass Rate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3657600"/>
                <a:gridCol w="3200400"/>
                <a:gridCol w="121889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Verification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AC-1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Representative 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All 8 countries evaluated; candidate O3 accuracy within 1pp of O2 baseline.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LightGBM matches XGBoost (0.764 vs 0.763, +0.1pp); EBM beats RF (0.748 vs 0.740, +0.8pp).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AC-2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Boundary &amp; Failure Operation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Stress tested under spatial distribution shift; asymmetric targeting evaluated.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LOCO evaluated on 5 model families; 5 targeting cost regimes calibrated.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AC-3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Independent Acceptance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Entity-separated holdout partitions; zero data leakage across national borders.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LOCO protocol strictly enforced; lineage hashes match source survey records.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AC-4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Frozen Resource Envelope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Identical seed, hyperparameter schemas, and compute resource bounds.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All runs use seed 42; parameter schemas locked; runtime 42.9 min logged.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5: SAFETY SUITE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Testing Campaign: 5 Mandatory Failure Modes Passed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3474720"/>
                <a:gridCol w="3474720"/>
                <a:gridCol w="1218895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Failure 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Safe Guardrail &amp;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System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NT-1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Country-Specific Overfitting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Detect in-country vs LOCO transfer gap; halt deployment if gap &gt; 10pp.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Detected +4.1pp transfer gap; logged spatial alert.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NT-2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Black-Box Model for Policy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Reject opaque model when policy transparency flag is requested.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Opaque model rejected; EBM / GA²M selected.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NT-3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Equal Error Type Treatment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Detect symmetric error failure in welfare targeting; enforce c &gt; 1.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Detected 38.6% exclusion failure; triggered policy calibration.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NT-4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Non-Idempotent Replay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Assert bitwise identical metrics on repeated execution with fixed seed.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Bitwise hash match on all outputs; zero state drift.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NT-5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Partition Defect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Flag localized national failures hidden inside global averages.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Audit detected variance &gt; 15pp; localized warning issued.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5A"/>
                          </a:solidFill>
                        </a:rPr>
                        <a:t>PASS OK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One-Command Reproduction &amp; Software Engineering Delivery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MASTER RUNNER (FR-6)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EHCVM_Project/EHCVM_Project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src.run_all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Pipeline Orchestration: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Executes O2 Baselines → O3 Interpretable Models → O4 Targeting Optimization → O5 Acceptance Testing → 5 Negative Tests.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Frozen Execution Envelope: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Random seed 42 fixed across all folds.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Lineage hash verified against raw World Bank surveys.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Execution Profile: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execution time: 2,572 seconds (42.9 min)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Outputs versioned JSON, CSV, and markdown reports.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PACKAGING (D1–D7)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D1: Problem Charter &amp; SDG Map (REVIEW_1 &amp; FINAL report)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D2: Reproducible Baselines (models.py, o2_*.json)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D3: Interpretable AI &amp; Trade-Off (interpretable.py, tradeoff.py)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D4: Targeting Loss Engine (targeting.py, curves.json)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D5: Automated Acceptance Suite (acceptance.py, negative_tests.py)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D6: Documentation &amp; Operating Guide (README.md)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D7: Final Research Paper (FINAL_CAPSTONE_REPORT.md) + Presentation Deck (DSCI28_Final_Capstone_Presentation.pptx)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Publication Figures Generated (02_results.py):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high-resolution PNG visualizations ready for review.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OWNERSHIP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Contribution &amp; Module Specialization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KUNI LIKITHA (2300032195)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&amp; Contracts Lead (O1)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Pandera validation schemas, implemented 3-tier survey merge (menage, individu, welfare), built missingness imputation engine, and generated 55,922-row harmonised dataset.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MADALA PHANINDRA (2300032338)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Modeling Lead (O2)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Stratified LOCO cross-validation harness, trained Random Forest &amp; XGBoost baselines across 8 nations, and measured spatial transfer penalty (-2.9pp to -3.9pp).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SAI BHIMA (2300030811)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AI Lead (O3)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Explainable Boosting Machines (EBM / GA²M) and LightGBM with Tree-SHAP. Proved zero accuracy cost of interpretability and constructed empirical Pareto frontiers.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EF3FE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PUNYALA RAMA KRISHNA REDDY (2300031696)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Assurance Lead (O4/O5)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617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Formulated asymmetric welfare loss function (Exclusion vs Inclusion), calibrated policy thresholds across cost ratios 1:1..10:1, and built the AC-1..4 and NT-1..5 test suite.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CAPSTONE PROJECT DEFENSE · DSCI-28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 &amp;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Interpretable Cross-Country Household Well-Being Estimation from Survey Data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Complete &amp; Independently Reproducible (All Deliverables D1 through D7 Certified)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94415" cy="2560320"/>
          </a:xfrm>
          <a:prstGeom prst="roundRect">
            <a:avLst>
              <a:gd name="adj" fmla="val 3571"/>
            </a:avLst>
          </a:prstGeom>
          <a:solidFill>
            <a:srgbClr val="141A45"/>
          </a:solidFill>
          <a:ln w="12700">
            <a:solidFill>
              <a:srgbClr val="2A3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5661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 &amp; POLICY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103628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Empirical Breakthrough: Interpretable models (EBM 74.8%, LightGBM+SHAP 76.4%) eliminate the trade-off between predictive accuracy and policy defensibility in anti-poverty targeting.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Real-World Social Protection: Calibrating for asymmetric welfare loss protects over 75% to 84% of truly impoverished households against exclusion from critical aid programs.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Complete Verification: 100% pass rate on all formal Acceptance Conditions and Negative Testing guardrails, certifying the system for real-world deployment.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2A35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· Department of CSE · Capstone Project (23IE4053) · DSCI-28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DSCI-28 Final Capstone Presentation: Interpretable Cross-Country Poverty Estimation</dc:title>
  <dc:subject>PptxGenJS Presentation</dc:subject>
  <dc:creator>Team DSCI-28</dc:creator>
  <cp:lastModifiedBy>Team DSCI-28</cp:lastModifiedBy>
  <cp:revision>1</cp:revision>
  <dcterms:created xsi:type="dcterms:W3CDTF">2026-09-21T03:12:19Z</dcterms:created>
  <dcterms:modified xsi:type="dcterms:W3CDTF">2026-09-21T03:12:19Z</dcterms:modified>
</cp:coreProperties>
</file>