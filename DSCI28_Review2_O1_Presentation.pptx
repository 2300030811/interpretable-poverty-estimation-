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Sai Bhima" userId="a725eadf517fb02f" providerId="LiveId" clId="{AE59DBF2-2DC4-4E52-8A3C-5E96C1644EBE}"/>
    <pc:docChg chg="undo custSel modSld">
      <pc:chgData name="Mahesh Sai Bhima" userId="a725eadf517fb02f" providerId="LiveId" clId="{AE59DBF2-2DC4-4E52-8A3C-5E96C1644EBE}" dt="2026-09-22T02:24:23.016" v="53" actId="20577"/>
      <pc:docMkLst>
        <pc:docMk/>
      </pc:docMkLst>
      <pc:sldChg chg="modSp mod">
        <pc:chgData name="Mahesh Sai Bhima" userId="a725eadf517fb02f" providerId="LiveId" clId="{AE59DBF2-2DC4-4E52-8A3C-5E96C1644EBE}" dt="2026-09-22T02:24:23.016" v="53" actId="20577"/>
        <pc:sldMkLst>
          <pc:docMk/>
          <pc:sldMk cId="0" sldId="256"/>
        </pc:sldMkLst>
        <pc:spChg chg="mod">
          <ac:chgData name="Mahesh Sai Bhima" userId="a725eadf517fb02f" providerId="LiveId" clId="{AE59DBF2-2DC4-4E52-8A3C-5E96C1644EBE}" dt="2026-09-22T02:24:23.016" v="53" actId="20577"/>
          <ac:spMkLst>
            <pc:docMk/>
            <pc:sldMk cId="0" sldId="256"/>
            <ac:spMk id="9" creationId="{00000000-0000-0000-0000-000000000000}"/>
          </ac:spMkLst>
        </pc:spChg>
      </pc:sldChg>
      <pc:sldChg chg="modSp mod">
        <pc:chgData name="Mahesh Sai Bhima" userId="a725eadf517fb02f" providerId="LiveId" clId="{AE59DBF2-2DC4-4E52-8A3C-5E96C1644EBE}" dt="2026-09-22T02:21:32.319" v="8" actId="1076"/>
        <pc:sldMkLst>
          <pc:docMk/>
          <pc:sldMk cId="0" sldId="267"/>
        </pc:sldMkLst>
        <pc:spChg chg="mod">
          <ac:chgData name="Mahesh Sai Bhima" userId="a725eadf517fb02f" providerId="LiveId" clId="{AE59DBF2-2DC4-4E52-8A3C-5E96C1644EBE}" dt="2026-09-22T02:21:32.319" v="8" actId="1076"/>
          <ac:spMkLst>
            <pc:docMk/>
            <pc:sldMk cId="0" sldId="267"/>
            <ac:spMk id="5" creationId="{00000000-0000-0000-0000-000000000000}"/>
          </ac:spMkLst>
        </pc:spChg>
        <pc:graphicFrameChg chg="modGraphic">
          <ac:chgData name="Mahesh Sai Bhima" userId="a725eadf517fb02f" providerId="LiveId" clId="{AE59DBF2-2DC4-4E52-8A3C-5E96C1644EBE}" dt="2026-09-22T02:21:19.562" v="7" actId="14100"/>
          <ac:graphicFrameMkLst>
            <pc:docMk/>
            <pc:sldMk cId="0" sldId="267"/>
            <ac:graphicFrameMk id="13" creationId="{00000000-0000-0000-0000-000000000000}"/>
          </ac:graphicFrameMkLst>
        </pc:graphicFrameChg>
      </pc:sldChg>
      <pc:sldChg chg="modSp mod">
        <pc:chgData name="Mahesh Sai Bhima" userId="a725eadf517fb02f" providerId="LiveId" clId="{AE59DBF2-2DC4-4E52-8A3C-5E96C1644EBE}" dt="2026-09-22T02:22:12.400" v="13" actId="14100"/>
        <pc:sldMkLst>
          <pc:docMk/>
          <pc:sldMk cId="0" sldId="268"/>
        </pc:sldMkLst>
        <pc:spChg chg="mod">
          <ac:chgData name="Mahesh Sai Bhima" userId="a725eadf517fb02f" providerId="LiveId" clId="{AE59DBF2-2DC4-4E52-8A3C-5E96C1644EBE}" dt="2026-09-22T02:22:12.400" v="13" actId="14100"/>
          <ac:spMkLst>
            <pc:docMk/>
            <pc:sldMk cId="0" sldId="268"/>
            <ac:spMk id="22" creationId="{00000000-0000-0000-0000-000000000000}"/>
          </ac:spMkLst>
        </pc:spChg>
      </pc:sldChg>
      <pc:sldChg chg="modSp mod">
        <pc:chgData name="Mahesh Sai Bhima" userId="a725eadf517fb02f" providerId="LiveId" clId="{AE59DBF2-2DC4-4E52-8A3C-5E96C1644EBE}" dt="2026-09-22T02:22:38.905" v="15" actId="1076"/>
        <pc:sldMkLst>
          <pc:docMk/>
          <pc:sldMk cId="0" sldId="274"/>
        </pc:sldMkLst>
        <pc:spChg chg="mod">
          <ac:chgData name="Mahesh Sai Bhima" userId="a725eadf517fb02f" providerId="LiveId" clId="{AE59DBF2-2DC4-4E52-8A3C-5E96C1644EBE}" dt="2026-09-22T02:22:34.678" v="14" actId="1076"/>
          <ac:spMkLst>
            <pc:docMk/>
            <pc:sldMk cId="0" sldId="274"/>
            <ac:spMk id="4" creationId="{00000000-0000-0000-0000-000000000000}"/>
          </ac:spMkLst>
        </pc:spChg>
        <pc:spChg chg="mod">
          <ac:chgData name="Mahesh Sai Bhima" userId="a725eadf517fb02f" providerId="LiveId" clId="{AE59DBF2-2DC4-4E52-8A3C-5E96C1644EBE}" dt="2026-09-22T02:22:38.905" v="15" actId="1076"/>
          <ac:spMkLst>
            <pc:docMk/>
            <pc:sldMk cId="0" sldId="274"/>
            <ac:spMk id="5" creationId="{00000000-0000-0000-0000-000000000000}"/>
          </ac:spMkLst>
        </pc:spChg>
      </pc:sldChg>
      <pc:sldChg chg="modSp mod">
        <pc:chgData name="Mahesh Sai Bhima" userId="a725eadf517fb02f" providerId="LiveId" clId="{AE59DBF2-2DC4-4E52-8A3C-5E96C1644EBE}" dt="2026-09-22T02:23:11.996" v="17" actId="1076"/>
        <pc:sldMkLst>
          <pc:docMk/>
          <pc:sldMk cId="0" sldId="277"/>
        </pc:sldMkLst>
        <pc:spChg chg="mod">
          <ac:chgData name="Mahesh Sai Bhima" userId="a725eadf517fb02f" providerId="LiveId" clId="{AE59DBF2-2DC4-4E52-8A3C-5E96C1644EBE}" dt="2026-09-22T02:23:11.996" v="17" actId="1076"/>
          <ac:spMkLst>
            <pc:docMk/>
            <pc:sldMk cId="0" sldId="277"/>
            <ac:spMk id="3" creationId="{00000000-0000-0000-0000-000000000000}"/>
          </ac:spMkLst>
        </pc:spChg>
      </pc:sldChg>
      <pc:sldChg chg="modSp mod">
        <pc:chgData name="Mahesh Sai Bhima" userId="a725eadf517fb02f" providerId="LiveId" clId="{AE59DBF2-2DC4-4E52-8A3C-5E96C1644EBE}" dt="2026-09-22T02:23:56.146" v="41" actId="20577"/>
        <pc:sldMkLst>
          <pc:docMk/>
          <pc:sldMk cId="0" sldId="284"/>
        </pc:sldMkLst>
        <pc:spChg chg="mod">
          <ac:chgData name="Mahesh Sai Bhima" userId="a725eadf517fb02f" providerId="LiveId" clId="{AE59DBF2-2DC4-4E52-8A3C-5E96C1644EBE}" dt="2026-09-22T02:23:56.146" v="41" actId="20577"/>
          <ac:spMkLst>
            <pc:docMk/>
            <pc:sldMk cId="0" sldId="284"/>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7829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5 ANTICIPATED VIVA QUESTIONS &amp; EXAMINER DEFENSE (BASED ON LITERATURE SURVEY):
1. Q: 'Why does your study compare Yitageasu et al. (2025) and Garbero &amp; Letta (2022)?'
Answer: Yitageasu et al. achieved 80.61% accuracy across 34 African countries, but using a standard random train-test split where households from all 34 countries appear in both train and test sets — measuring only within-distribution interpolation. In contrast, Garbero &amp; Letta achieved 72%+ by explicitly withholding entire national contexts from training without country identifiers. As we argue in our literature survey, a higher headline figure does not indicate better generalization; within-country accuracy and cross-country robustness describe fundamentally different model properties. Our framework explicitly evaluates both.
2. Q: 'Why not simply use XGBoost with SHAP, as done by Mariyah &amp; Wobcke (2025) or Abbas et al. (2026)?'
Answer: As noted by Dejkam &amp; Madlener (2025) and Watson (2022), SHAP values reflect feature contribution to a specific prediction, not causal effect. A feature can be influential simply because it proxies for broader deprivation. Furthermore, in high-stakes policy governance, SHAP approximations can produce non-monotonic artifacts. Explainable Boosting Machines (EBM / GA2M, Zschech et al. 2026) are inherently glass-box: g(y) = sum f_i(x_i), where every shape function is exact and auditable.
3. Q: 'How do you handle counterfactual explanations on household survey data?'
Answer: Following Guidotti (2024) and Warren et al. (2024), counterfactual methods involve trade-offs among validity, minimality, actionability, and stability. In EHCVM data, variables are not equally changeable: housing materials, sanitation, and electricity access are plausibly actionable levers, whereas demographic traits (household head age, family size) are fixed. Our counterfactual engine strictly constrains adjustments to actionable variables to ensure realistic policy guidance.
4. Q: 'Why compare multiple algorithms instead of picking one?'
Answer: The literature reveals no universally superior model: Random Forest excelled in Garbero &amp; Letta (2022) and Yitageasu et al. (2025), XGBoost performed best in Scandurra et al. (2026) and Mariyah &amp; Wobcke (2025), while CatBoost dominated tabular categorical data in Abbas et al. (2026). Performance is highly sensitive to class imbalance and outcome definition, which justifies empirically comparing Logistic Regression, Random Forest, XGBoost, LightGBM, CatBoost, and EBM under a common framework.
5. Q: 'What specific progress has been completed up to Objective 1?'
Answer: Objective 1 is 100% complete: We successfully ingested 24 relational CSV files across 8 EHCVM countries, validated all 24 declarative Pandera schema contracts with zero errors, executed 3-tier statistical aggregation and missing value imputation, engineered 74 clean features across 55,922 verified households, and generated 6 automated EDA visual plots and summary tables.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640080"/>
            <a:ext cx="3017520" cy="3017520"/>
          </a:xfrm>
          <a:prstGeom prst="ellipse">
            <a:avLst/>
          </a:prstGeom>
          <a:solidFill>
            <a:srgbClr val="CADCFC">
              <a:alpha val="12000"/>
            </a:srgbClr>
          </a:solidFill>
          <a:ln/>
        </p:spPr>
      </p:sp>
      <p:sp>
        <p:nvSpPr>
          <p:cNvPr id="3" name="Shape 1"/>
          <p:cNvSpPr/>
          <p:nvPr/>
        </p:nvSpPr>
        <p:spPr>
          <a:xfrm>
            <a:off x="10561320" y="45720"/>
            <a:ext cx="2103120" cy="2103120"/>
          </a:xfrm>
          <a:prstGeom prst="ellipse">
            <a:avLst/>
          </a:prstGeom>
          <a:solidFill>
            <a:srgbClr val="D98E04">
              <a:alpha val="18000"/>
            </a:srgbClr>
          </a:solidFill>
          <a:ln/>
        </p:spPr>
      </p:sp>
      <p:sp>
        <p:nvSpPr>
          <p:cNvPr id="4" name="Shape 2"/>
          <p:cNvSpPr/>
          <p:nvPr/>
        </p:nvSpPr>
        <p:spPr>
          <a:xfrm>
            <a:off x="8915400" y="320040"/>
            <a:ext cx="1737360" cy="1737360"/>
          </a:xfrm>
          <a:prstGeom prst="ellipse">
            <a:avLst/>
          </a:prstGeom>
          <a:solidFill>
            <a:srgbClr val="FFFFFF">
              <a:alpha val="10000"/>
            </a:srgbClr>
          </a:solidFill>
          <a:ln/>
        </p:spPr>
      </p:sp>
      <p:sp>
        <p:nvSpPr>
          <p:cNvPr id="5" name="Text 3"/>
          <p:cNvSpPr/>
          <p:nvPr/>
        </p:nvSpPr>
        <p:spPr>
          <a:xfrm>
            <a:off x="640080" y="475488"/>
            <a:ext cx="10058400" cy="274320"/>
          </a:xfrm>
          <a:prstGeom prst="rect">
            <a:avLst/>
          </a:prstGeom>
          <a:noFill/>
          <a:ln/>
        </p:spPr>
        <p:txBody>
          <a:bodyPr wrap="square" rtlCol="0" anchor="ctr"/>
          <a:lstStyle/>
          <a:p>
            <a:pPr marL="0" indent="0">
              <a:buNone/>
            </a:pPr>
            <a:r>
              <a:rPr lang="en-US" sz="1100" b="1" kern="0" spc="150" dirty="0">
                <a:solidFill>
                  <a:srgbClr val="CADCFC"/>
                </a:solidFill>
                <a:latin typeface="Calibri" pitchFamily="34" charset="0"/>
                <a:ea typeface="Calibri" pitchFamily="34" charset="-122"/>
                <a:cs typeface="Calibri" pitchFamily="34" charset="-120"/>
              </a:rPr>
              <a:t>KL UNIVERSITY   ·   DEPARTMENT OF COMPUTER SCIENCE &amp; ENGINEERING</a:t>
            </a:r>
            <a:endParaRPr lang="en-US" sz="1100" dirty="0"/>
          </a:p>
        </p:txBody>
      </p:sp>
      <p:sp>
        <p:nvSpPr>
          <p:cNvPr id="6" name="Text 4"/>
          <p:cNvSpPr/>
          <p:nvPr/>
        </p:nvSpPr>
        <p:spPr>
          <a:xfrm>
            <a:off x="640080" y="804672"/>
            <a:ext cx="10058400" cy="320040"/>
          </a:xfrm>
          <a:prstGeom prst="rect">
            <a:avLst/>
          </a:prstGeom>
          <a:noFill/>
          <a:ln/>
        </p:spPr>
        <p:txBody>
          <a:bodyPr wrap="square" rtlCol="0" anchor="ctr"/>
          <a:lstStyle/>
          <a:p>
            <a:pPr marL="0" indent="0">
              <a:buNone/>
            </a:pPr>
            <a:r>
              <a:rPr lang="en-US" sz="1300" b="1" kern="0" spc="100" dirty="0">
                <a:solidFill>
                  <a:srgbClr val="D98E04"/>
                </a:solidFill>
                <a:latin typeface="Calibri" pitchFamily="34" charset="0"/>
                <a:ea typeface="Calibri" pitchFamily="34" charset="-122"/>
                <a:cs typeface="Calibri" pitchFamily="34" charset="-120"/>
              </a:rPr>
              <a:t>CAPSTONE PROJECT I (23IE4053)   ·   DSCI-28   ·   IN-TERM REVIEW 2</a:t>
            </a:r>
            <a:endParaRPr lang="en-US" sz="1300" dirty="0"/>
          </a:p>
        </p:txBody>
      </p:sp>
      <p:sp>
        <p:nvSpPr>
          <p:cNvPr id="7" name="Text 5"/>
          <p:cNvSpPr/>
          <p:nvPr/>
        </p:nvSpPr>
        <p:spPr>
          <a:xfrm>
            <a:off x="640080" y="1325880"/>
            <a:ext cx="10789920" cy="1554480"/>
          </a:xfrm>
          <a:prstGeom prst="rect">
            <a:avLst/>
          </a:prstGeom>
          <a:noFill/>
          <a:ln/>
        </p:spPr>
        <p:txBody>
          <a:bodyPr wrap="square" rtlCol="0" anchor="t"/>
          <a:lstStyle/>
          <a:p>
            <a:pPr marL="0" indent="0" algn="l">
              <a:lnSpc>
                <a:spcPct val="108000"/>
              </a:lnSpc>
              <a:buNone/>
            </a:pPr>
            <a:r>
              <a:rPr lang="en-US" sz="3200" b="1" dirty="0">
                <a:solidFill>
                  <a:srgbClr val="FFFFFF"/>
                </a:solidFill>
                <a:latin typeface="Cambria" pitchFamily="34" charset="0"/>
                <a:ea typeface="Cambria" pitchFamily="34" charset="-122"/>
                <a:cs typeface="Cambria" pitchFamily="34" charset="-120"/>
              </a:rPr>
              <a:t>Interpretable Cross-Country Household Well-Being Estimation</a:t>
            </a:r>
            <a:endParaRPr lang="en-US" sz="3200" dirty="0"/>
          </a:p>
        </p:txBody>
      </p:sp>
      <p:sp>
        <p:nvSpPr>
          <p:cNvPr id="8" name="Text 6"/>
          <p:cNvSpPr/>
          <p:nvPr/>
        </p:nvSpPr>
        <p:spPr>
          <a:xfrm>
            <a:off x="640080" y="3035808"/>
            <a:ext cx="10424160" cy="548640"/>
          </a:xfrm>
          <a:prstGeom prst="rect">
            <a:avLst/>
          </a:prstGeom>
          <a:noFill/>
          <a:ln/>
        </p:spPr>
        <p:txBody>
          <a:bodyPr wrap="square" rtlCol="0" anchor="ctr"/>
          <a:lstStyle/>
          <a:p>
            <a:pPr marL="0" indent="0">
              <a:lnSpc>
                <a:spcPct val="110000"/>
              </a:lnSpc>
              <a:buNone/>
            </a:pPr>
            <a:r>
              <a:rPr lang="en-US" sz="1450" i="1" dirty="0">
                <a:solidFill>
                  <a:srgbClr val="CADCFC"/>
                </a:solidFill>
                <a:latin typeface="Calibri" pitchFamily="34" charset="0"/>
                <a:ea typeface="Calibri" pitchFamily="34" charset="-122"/>
                <a:cs typeface="Calibri" pitchFamily="34" charset="-120"/>
              </a:rPr>
              <a:t>Combining Machine Learning with Explainable AI on EHCVM Survey Data Across 8 West African Nations to Deliver Auditable, Policy-Defensible Well-Being Predictions</a:t>
            </a:r>
            <a:endParaRPr lang="en-US" sz="1450" dirty="0"/>
          </a:p>
        </p:txBody>
      </p:sp>
      <p:sp>
        <p:nvSpPr>
          <p:cNvPr id="9" name="Text 7"/>
          <p:cNvSpPr/>
          <p:nvPr/>
        </p:nvSpPr>
        <p:spPr>
          <a:xfrm>
            <a:off x="640080" y="3840480"/>
            <a:ext cx="2286000" cy="274320"/>
          </a:xfrm>
          <a:prstGeom prst="rect">
            <a:avLst/>
          </a:prstGeom>
          <a:noFill/>
          <a:ln/>
        </p:spPr>
        <p:txBody>
          <a:bodyPr wrap="square" rtlCol="0" anchor="ctr"/>
          <a:lstStyle/>
          <a:p>
            <a:pPr marL="0" indent="0">
              <a:buNone/>
            </a:pPr>
            <a:r>
              <a:rPr lang="en-US" sz="1100" b="1" kern="0" spc="150">
                <a:solidFill>
                  <a:srgbClr val="D98E04"/>
                </a:solidFill>
                <a:latin typeface="Calibri" pitchFamily="34" charset="0"/>
                <a:ea typeface="Calibri" pitchFamily="34" charset="-122"/>
                <a:cs typeface="Calibri" pitchFamily="34" charset="-120"/>
              </a:rPr>
              <a:t>PROJECT TEAM-BATCH 109</a:t>
            </a:r>
            <a:endParaRPr lang="en-US" sz="1100" dirty="0"/>
          </a:p>
        </p:txBody>
      </p:sp>
      <p:sp>
        <p:nvSpPr>
          <p:cNvPr id="10" name="Text 8"/>
          <p:cNvSpPr/>
          <p:nvPr/>
        </p:nvSpPr>
        <p:spPr>
          <a:xfrm>
            <a:off x="640080" y="4133088"/>
            <a:ext cx="2441448" cy="475488"/>
          </a:xfrm>
          <a:prstGeom prst="rect">
            <a:avLst/>
          </a:prstGeom>
          <a:noFill/>
          <a:ln/>
        </p:spPr>
        <p:txBody>
          <a:bodyPr wrap="square" rtlCol="0" anchor="t"/>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Kuni Likitha</a:t>
            </a:r>
            <a:endParaRPr lang="en-US" sz="1250" dirty="0"/>
          </a:p>
        </p:txBody>
      </p:sp>
      <p:sp>
        <p:nvSpPr>
          <p:cNvPr id="11" name="Text 9"/>
          <p:cNvSpPr/>
          <p:nvPr/>
        </p:nvSpPr>
        <p:spPr>
          <a:xfrm>
            <a:off x="640080" y="4645152"/>
            <a:ext cx="2441448" cy="27432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2300032195</a:t>
            </a:r>
            <a:endParaRPr lang="en-US" sz="1100" dirty="0"/>
          </a:p>
        </p:txBody>
      </p:sp>
      <p:sp>
        <p:nvSpPr>
          <p:cNvPr id="12" name="Text 10"/>
          <p:cNvSpPr/>
          <p:nvPr/>
        </p:nvSpPr>
        <p:spPr>
          <a:xfrm>
            <a:off x="3246120" y="4133088"/>
            <a:ext cx="2441448" cy="475488"/>
          </a:xfrm>
          <a:prstGeom prst="rect">
            <a:avLst/>
          </a:prstGeom>
          <a:noFill/>
          <a:ln/>
        </p:spPr>
        <p:txBody>
          <a:bodyPr wrap="square" rtlCol="0" anchor="t"/>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Madala Phanindra</a:t>
            </a:r>
            <a:endParaRPr lang="en-US" sz="1250" dirty="0"/>
          </a:p>
        </p:txBody>
      </p:sp>
      <p:sp>
        <p:nvSpPr>
          <p:cNvPr id="13" name="Text 11"/>
          <p:cNvSpPr/>
          <p:nvPr/>
        </p:nvSpPr>
        <p:spPr>
          <a:xfrm>
            <a:off x="3246120" y="4645152"/>
            <a:ext cx="2441448" cy="27432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2300032338</a:t>
            </a:r>
            <a:endParaRPr lang="en-US" sz="1100" dirty="0"/>
          </a:p>
        </p:txBody>
      </p:sp>
      <p:sp>
        <p:nvSpPr>
          <p:cNvPr id="14" name="Text 12"/>
          <p:cNvSpPr/>
          <p:nvPr/>
        </p:nvSpPr>
        <p:spPr>
          <a:xfrm>
            <a:off x="5852160" y="4133088"/>
            <a:ext cx="2441448" cy="475488"/>
          </a:xfrm>
          <a:prstGeom prst="rect">
            <a:avLst/>
          </a:prstGeom>
          <a:noFill/>
          <a:ln/>
        </p:spPr>
        <p:txBody>
          <a:bodyPr wrap="square" rtlCol="0" anchor="t"/>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Mahesh Sai Bhima</a:t>
            </a:r>
            <a:endParaRPr lang="en-US" sz="1250" dirty="0"/>
          </a:p>
        </p:txBody>
      </p:sp>
      <p:sp>
        <p:nvSpPr>
          <p:cNvPr id="15" name="Text 13"/>
          <p:cNvSpPr/>
          <p:nvPr/>
        </p:nvSpPr>
        <p:spPr>
          <a:xfrm>
            <a:off x="5852160" y="4645152"/>
            <a:ext cx="2441448" cy="27432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2300030811</a:t>
            </a:r>
            <a:endParaRPr lang="en-US" sz="1100" dirty="0"/>
          </a:p>
        </p:txBody>
      </p:sp>
      <p:sp>
        <p:nvSpPr>
          <p:cNvPr id="16" name="Text 14"/>
          <p:cNvSpPr/>
          <p:nvPr/>
        </p:nvSpPr>
        <p:spPr>
          <a:xfrm>
            <a:off x="8458200" y="4133088"/>
            <a:ext cx="2441448" cy="475488"/>
          </a:xfrm>
          <a:prstGeom prst="rect">
            <a:avLst/>
          </a:prstGeom>
          <a:noFill/>
          <a:ln/>
        </p:spPr>
        <p:txBody>
          <a:bodyPr wrap="square" rtlCol="0" anchor="t"/>
          <a:lstStyle/>
          <a:p>
            <a:pPr marL="0" indent="0">
              <a:lnSpc>
                <a:spcPct val="105000"/>
              </a:lnSpc>
              <a:buNone/>
            </a:pPr>
            <a:r>
              <a:rPr lang="en-US" sz="1250" b="1" dirty="0">
                <a:solidFill>
                  <a:srgbClr val="FFFFFF"/>
                </a:solidFill>
                <a:latin typeface="Calibri" pitchFamily="34" charset="0"/>
                <a:ea typeface="Calibri" pitchFamily="34" charset="-122"/>
                <a:cs typeface="Calibri" pitchFamily="34" charset="-120"/>
              </a:rPr>
              <a:t>Punyala Rama Krishna Reddy</a:t>
            </a:r>
            <a:endParaRPr lang="en-US" sz="1250" dirty="0"/>
          </a:p>
        </p:txBody>
      </p:sp>
      <p:sp>
        <p:nvSpPr>
          <p:cNvPr id="17" name="Text 15"/>
          <p:cNvSpPr/>
          <p:nvPr/>
        </p:nvSpPr>
        <p:spPr>
          <a:xfrm>
            <a:off x="8458200" y="4645152"/>
            <a:ext cx="2441448" cy="27432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2300031696</a:t>
            </a:r>
            <a:endParaRPr lang="en-US" sz="1100" dirty="0"/>
          </a:p>
        </p:txBody>
      </p:sp>
      <p:sp>
        <p:nvSpPr>
          <p:cNvPr id="18" name="Text 16"/>
          <p:cNvSpPr/>
          <p:nvPr/>
        </p:nvSpPr>
        <p:spPr>
          <a:xfrm>
            <a:off x="640080" y="5376672"/>
            <a:ext cx="10515600" cy="365760"/>
          </a:xfrm>
          <a:prstGeom prst="rect">
            <a:avLst/>
          </a:prstGeom>
          <a:noFill/>
          <a:ln/>
        </p:spPr>
        <p:txBody>
          <a:bodyPr wrap="square" rtlCol="0" anchor="ctr"/>
          <a:lstStyle/>
          <a:p>
            <a:pPr marL="0" indent="0">
              <a:buNone/>
            </a:pPr>
            <a:r>
              <a:rPr lang="en-US" sz="1250" b="1" dirty="0">
                <a:solidFill>
                  <a:srgbClr val="D98E04"/>
                </a:solidFill>
                <a:latin typeface="Calibri" pitchFamily="34" charset="0"/>
                <a:ea typeface="Calibri" pitchFamily="34" charset="-122"/>
                <a:cs typeface="Calibri" pitchFamily="34" charset="-120"/>
              </a:rPr>
              <a:t>Project Guide:  </a:t>
            </a:r>
            <a:r>
              <a:rPr lang="en-US" sz="1250" dirty="0">
                <a:solidFill>
                  <a:srgbClr val="FFFFFF"/>
                </a:solidFill>
                <a:latin typeface="Calibri" pitchFamily="34" charset="0"/>
                <a:ea typeface="Calibri" pitchFamily="34" charset="-122"/>
                <a:cs typeface="Calibri" pitchFamily="34" charset="-120"/>
              </a:rPr>
              <a:t>Dr. P. V. R. D. Prasada Rao   ·   Department of Computer Science &amp; Engineering, KL University</a:t>
            </a:r>
            <a:endParaRPr lang="en-US" sz="1250" dirty="0"/>
          </a:p>
        </p:txBody>
      </p:sp>
      <p:sp>
        <p:nvSpPr>
          <p:cNvPr id="19" name="Text 17"/>
          <p:cNvSpPr/>
          <p:nvPr/>
        </p:nvSpPr>
        <p:spPr>
          <a:xfrm>
            <a:off x="640080" y="5961888"/>
            <a:ext cx="10058400" cy="32004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In-Term Review 2  ·  September 2026  ·  Cluster A (Software Development)  ·  Objective 1 Completed &amp; Verified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REVIEW 2 BLUEPRINT</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Presentation Agenda &amp; Progress Milestones</a:t>
            </a:r>
            <a:endParaRPr lang="en-US" sz="2500" dirty="0"/>
          </a:p>
        </p:txBody>
      </p:sp>
      <p:sp>
        <p:nvSpPr>
          <p:cNvPr id="4" name="Shape 2"/>
          <p:cNvSpPr/>
          <p:nvPr/>
        </p:nvSpPr>
        <p:spPr>
          <a:xfrm>
            <a:off x="640080" y="1353312"/>
            <a:ext cx="402336" cy="402336"/>
          </a:xfrm>
          <a:prstGeom prst="ellipse">
            <a:avLst/>
          </a:prstGeom>
          <a:solidFill>
            <a:srgbClr val="1E2761"/>
          </a:solidFill>
          <a:ln/>
        </p:spPr>
      </p:sp>
      <p:sp>
        <p:nvSpPr>
          <p:cNvPr id="5" name="Text 3"/>
          <p:cNvSpPr/>
          <p:nvPr/>
        </p:nvSpPr>
        <p:spPr>
          <a:xfrm>
            <a:off x="640080" y="135331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88720" y="130759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1. Problem Statement, Objectives &amp; SRS Traceability</a:t>
            </a:r>
            <a:endParaRPr lang="en-US" sz="1300" dirty="0"/>
          </a:p>
        </p:txBody>
      </p:sp>
      <p:sp>
        <p:nvSpPr>
          <p:cNvPr id="7" name="Text 5"/>
          <p:cNvSpPr/>
          <p:nvPr/>
        </p:nvSpPr>
        <p:spPr>
          <a:xfrm>
            <a:off x="1188720" y="155448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Household well-being estimation, SDG 1/10 alignment, and complete SRS traceability matrix (Criterion 1)</a:t>
            </a:r>
            <a:endParaRPr lang="en-US" sz="1050" dirty="0"/>
          </a:p>
        </p:txBody>
      </p:sp>
      <p:sp>
        <p:nvSpPr>
          <p:cNvPr id="8" name="Shape 6"/>
          <p:cNvSpPr/>
          <p:nvPr/>
        </p:nvSpPr>
        <p:spPr>
          <a:xfrm>
            <a:off x="640080" y="1947672"/>
            <a:ext cx="402336" cy="402336"/>
          </a:xfrm>
          <a:prstGeom prst="ellipse">
            <a:avLst/>
          </a:prstGeom>
          <a:solidFill>
            <a:srgbClr val="D98E04"/>
          </a:solidFill>
          <a:ln/>
        </p:spPr>
      </p:sp>
      <p:sp>
        <p:nvSpPr>
          <p:cNvPr id="9" name="Text 7"/>
          <p:cNvSpPr/>
          <p:nvPr/>
        </p:nvSpPr>
        <p:spPr>
          <a:xfrm>
            <a:off x="640080" y="194767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88720" y="190195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2. Stakeholders &amp; Asymmetric Welfare Costs</a:t>
            </a:r>
            <a:endParaRPr lang="en-US" sz="1300" dirty="0"/>
          </a:p>
        </p:txBody>
      </p:sp>
      <p:sp>
        <p:nvSpPr>
          <p:cNvPr id="11" name="Text 9"/>
          <p:cNvSpPr/>
          <p:nvPr/>
        </p:nvSpPr>
        <p:spPr>
          <a:xfrm>
            <a:off x="1188720" y="214884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Policy makers, auditors, households; asymmetric loss formulation (Exclusion FN vs Inclusion FP)</a:t>
            </a:r>
            <a:endParaRPr lang="en-US" sz="1050" dirty="0"/>
          </a:p>
        </p:txBody>
      </p:sp>
      <p:sp>
        <p:nvSpPr>
          <p:cNvPr id="12" name="Shape 10"/>
          <p:cNvSpPr/>
          <p:nvPr/>
        </p:nvSpPr>
        <p:spPr>
          <a:xfrm>
            <a:off x="640080" y="2542032"/>
            <a:ext cx="402336" cy="402336"/>
          </a:xfrm>
          <a:prstGeom prst="ellipse">
            <a:avLst/>
          </a:prstGeom>
          <a:solidFill>
            <a:srgbClr val="1E2761"/>
          </a:solidFill>
          <a:ln/>
        </p:spPr>
      </p:sp>
      <p:sp>
        <p:nvSpPr>
          <p:cNvPr id="13" name="Text 11"/>
          <p:cNvSpPr/>
          <p:nvPr/>
        </p:nvSpPr>
        <p:spPr>
          <a:xfrm>
            <a:off x="640080" y="25420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88720" y="249631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3. Comprehensive Literature Review &amp; Generalization Dilemma</a:t>
            </a:r>
            <a:endParaRPr lang="en-US" sz="1300" dirty="0"/>
          </a:p>
        </p:txBody>
      </p:sp>
      <p:sp>
        <p:nvSpPr>
          <p:cNvPr id="15" name="Text 13"/>
          <p:cNvSpPr/>
          <p:nvPr/>
        </p:nvSpPr>
        <p:spPr>
          <a:xfrm>
            <a:off x="1188720" y="274320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Critical analysis of 12 indexed studies, the generalization dilemma, and comparative novelty matrix</a:t>
            </a:r>
            <a:endParaRPr lang="en-US" sz="1050" dirty="0"/>
          </a:p>
        </p:txBody>
      </p:sp>
      <p:sp>
        <p:nvSpPr>
          <p:cNvPr id="16" name="Shape 14"/>
          <p:cNvSpPr/>
          <p:nvPr/>
        </p:nvSpPr>
        <p:spPr>
          <a:xfrm>
            <a:off x="640080" y="3136392"/>
            <a:ext cx="402336" cy="402336"/>
          </a:xfrm>
          <a:prstGeom prst="ellipse">
            <a:avLst/>
          </a:prstGeom>
          <a:solidFill>
            <a:srgbClr val="D98E04"/>
          </a:solidFill>
          <a:ln/>
        </p:spPr>
      </p:sp>
      <p:sp>
        <p:nvSpPr>
          <p:cNvPr id="17" name="Text 15"/>
          <p:cNvSpPr/>
          <p:nvPr/>
        </p:nvSpPr>
        <p:spPr>
          <a:xfrm>
            <a:off x="640080" y="313639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88720" y="309067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4. Objective 1 Data Foundation &amp; Verified EDA (Complete)</a:t>
            </a:r>
            <a:endParaRPr lang="en-US" sz="1300" dirty="0"/>
          </a:p>
        </p:txBody>
      </p:sp>
      <p:sp>
        <p:nvSpPr>
          <p:cNvPr id="19" name="Text 17"/>
          <p:cNvSpPr/>
          <p:nvPr/>
        </p:nvSpPr>
        <p:spPr>
          <a:xfrm>
            <a:off x="1188720" y="333756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EHCVM 2021 survey: 8 nations, 24 Pandera schemas, 55,922 households, 74 features, 0% missing (Criterion 3)</a:t>
            </a:r>
            <a:endParaRPr lang="en-US" sz="1050" dirty="0"/>
          </a:p>
        </p:txBody>
      </p:sp>
      <p:sp>
        <p:nvSpPr>
          <p:cNvPr id="20" name="Shape 18"/>
          <p:cNvSpPr/>
          <p:nvPr/>
        </p:nvSpPr>
        <p:spPr>
          <a:xfrm>
            <a:off x="640080" y="3730752"/>
            <a:ext cx="402336" cy="402336"/>
          </a:xfrm>
          <a:prstGeom prst="ellipse">
            <a:avLst/>
          </a:prstGeom>
          <a:solidFill>
            <a:srgbClr val="1E2761"/>
          </a:solidFill>
          <a:ln/>
        </p:spPr>
      </p:sp>
      <p:sp>
        <p:nvSpPr>
          <p:cNvPr id="21" name="Text 19"/>
          <p:cNvSpPr/>
          <p:nvPr/>
        </p:nvSpPr>
        <p:spPr>
          <a:xfrm>
            <a:off x="640080" y="373075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88720" y="368503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5. System Architecture, ER &amp; UML Design Specifications</a:t>
            </a:r>
            <a:endParaRPr lang="en-US" sz="1300" dirty="0"/>
          </a:p>
        </p:txBody>
      </p:sp>
      <p:sp>
        <p:nvSpPr>
          <p:cNvPr id="23" name="Text 21"/>
          <p:cNvSpPr/>
          <p:nvPr/>
        </p:nvSpPr>
        <p:spPr>
          <a:xfrm>
            <a:off x="1188720" y="393192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5-tier architecture, complete Entity-Relationship diagram, and UML software class &amp; sequence models (Criterion 2)</a:t>
            </a:r>
            <a:endParaRPr lang="en-US" sz="1050" dirty="0"/>
          </a:p>
        </p:txBody>
      </p:sp>
      <p:sp>
        <p:nvSpPr>
          <p:cNvPr id="24" name="Shape 22"/>
          <p:cNvSpPr/>
          <p:nvPr/>
        </p:nvSpPr>
        <p:spPr>
          <a:xfrm>
            <a:off x="640080" y="4325112"/>
            <a:ext cx="402336" cy="402336"/>
          </a:xfrm>
          <a:prstGeom prst="ellipse">
            <a:avLst/>
          </a:prstGeom>
          <a:solidFill>
            <a:srgbClr val="1F8A5A"/>
          </a:solidFill>
          <a:ln/>
        </p:spPr>
      </p:sp>
      <p:sp>
        <p:nvSpPr>
          <p:cNvPr id="25" name="Text 23"/>
          <p:cNvSpPr/>
          <p:nvPr/>
        </p:nvSpPr>
        <p:spPr>
          <a:xfrm>
            <a:off x="640080" y="432511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6" name="Text 24"/>
          <p:cNvSpPr/>
          <p:nvPr/>
        </p:nvSpPr>
        <p:spPr>
          <a:xfrm>
            <a:off x="1188720" y="427939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6. Justification of Key Architectural Decisions Matrix</a:t>
            </a:r>
            <a:endParaRPr lang="en-US" sz="1300" dirty="0"/>
          </a:p>
        </p:txBody>
      </p:sp>
      <p:sp>
        <p:nvSpPr>
          <p:cNvPr id="27" name="Text 25"/>
          <p:cNvSpPr/>
          <p:nvPr/>
        </p:nvSpPr>
        <p:spPr>
          <a:xfrm>
            <a:off x="1188720" y="452628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Formal evaluation matrix justifying 8 core architectural decisions against discarded alternatives (Criterion 2)</a:t>
            </a:r>
            <a:endParaRPr lang="en-US" sz="1050" dirty="0"/>
          </a:p>
        </p:txBody>
      </p:sp>
      <p:sp>
        <p:nvSpPr>
          <p:cNvPr id="28" name="Shape 26"/>
          <p:cNvSpPr/>
          <p:nvPr/>
        </p:nvSpPr>
        <p:spPr>
          <a:xfrm>
            <a:off x="640080" y="4919472"/>
            <a:ext cx="402336" cy="402336"/>
          </a:xfrm>
          <a:prstGeom prst="ellipse">
            <a:avLst/>
          </a:prstGeom>
          <a:solidFill>
            <a:srgbClr val="1E2761"/>
          </a:solidFill>
          <a:ln/>
        </p:spPr>
      </p:sp>
      <p:sp>
        <p:nvSpPr>
          <p:cNvPr id="29" name="Text 27"/>
          <p:cNvSpPr/>
          <p:nvPr/>
        </p:nvSpPr>
        <p:spPr>
          <a:xfrm>
            <a:off x="640080" y="491947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0" name="Text 28"/>
          <p:cNvSpPr/>
          <p:nvPr/>
        </p:nvSpPr>
        <p:spPr>
          <a:xfrm>
            <a:off x="1188720" y="487375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7. Technology Stack &amp; Tools Justification Matrix</a:t>
            </a:r>
            <a:endParaRPr lang="en-US" sz="1300" dirty="0"/>
          </a:p>
        </p:txBody>
      </p:sp>
      <p:sp>
        <p:nvSpPr>
          <p:cNvPr id="31" name="Text 29"/>
          <p:cNvSpPr/>
          <p:nvPr/>
        </p:nvSpPr>
        <p:spPr>
          <a:xfrm>
            <a:off x="1188720" y="512064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Verified codebase modules, analytics toolchain, and technology justification against alternatives (Criterion 4)</a:t>
            </a:r>
            <a:endParaRPr lang="en-US" sz="1050" dirty="0"/>
          </a:p>
        </p:txBody>
      </p:sp>
      <p:sp>
        <p:nvSpPr>
          <p:cNvPr id="32" name="Shape 30"/>
          <p:cNvSpPr/>
          <p:nvPr/>
        </p:nvSpPr>
        <p:spPr>
          <a:xfrm>
            <a:off x="640080" y="5513832"/>
            <a:ext cx="402336" cy="402336"/>
          </a:xfrm>
          <a:prstGeom prst="ellipse">
            <a:avLst/>
          </a:prstGeom>
          <a:solidFill>
            <a:srgbClr val="D98E04"/>
          </a:solidFill>
          <a:ln/>
        </p:spPr>
      </p:sp>
      <p:sp>
        <p:nvSpPr>
          <p:cNvPr id="33" name="Text 31"/>
          <p:cNvSpPr/>
          <p:nvPr/>
        </p:nvSpPr>
        <p:spPr>
          <a:xfrm>
            <a:off x="640080" y="55138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2"/>
          <p:cNvSpPr/>
          <p:nvPr/>
        </p:nvSpPr>
        <p:spPr>
          <a:xfrm>
            <a:off x="1188720" y="5468112"/>
            <a:ext cx="9692640" cy="256032"/>
          </a:xfrm>
          <a:prstGeom prst="rect">
            <a:avLst/>
          </a:prstGeom>
          <a:noFill/>
          <a:ln/>
        </p:spPr>
        <p:txBody>
          <a:bodyPr wrap="square" rtlCol="0" anchor="ctr"/>
          <a:lstStyle/>
          <a:p>
            <a:pPr marL="0" indent="0">
              <a:buNone/>
            </a:pPr>
            <a:r>
              <a:rPr lang="en-US" sz="1300" b="1" dirty="0">
                <a:solidFill>
                  <a:srgbClr val="1A2140"/>
                </a:solidFill>
                <a:latin typeface="Calibri" pitchFamily="34" charset="0"/>
                <a:ea typeface="Calibri" pitchFamily="34" charset="-122"/>
                <a:cs typeface="Calibri" pitchFamily="34" charset="-120"/>
              </a:rPr>
              <a:t>8. Teamwork &amp; Agile Practice: Sprint Planning (Sprints 1–3)</a:t>
            </a:r>
            <a:endParaRPr lang="en-US" sz="1300" dirty="0"/>
          </a:p>
        </p:txBody>
      </p:sp>
      <p:sp>
        <p:nvSpPr>
          <p:cNvPr id="35" name="Text 33"/>
          <p:cNvSpPr/>
          <p:nvPr/>
        </p:nvSpPr>
        <p:spPr>
          <a:xfrm>
            <a:off x="1188720" y="5715000"/>
            <a:ext cx="9692640" cy="347472"/>
          </a:xfrm>
          <a:prstGeom prst="rect">
            <a:avLst/>
          </a:prstGeom>
          <a:noFill/>
          <a:ln/>
        </p:spPr>
        <p:txBody>
          <a:bodyPr wrap="square" rtlCol="0" anchor="ctr"/>
          <a:lstStyle/>
          <a:p>
            <a:pPr marL="0" indent="0">
              <a:lnSpc>
                <a:spcPct val="102000"/>
              </a:lnSpc>
              <a:buNone/>
            </a:pPr>
            <a:r>
              <a:rPr lang="en-US" sz="1050" dirty="0">
                <a:solidFill>
                  <a:srgbClr val="667085"/>
                </a:solidFill>
                <a:latin typeface="Calibri" pitchFamily="34" charset="0"/>
                <a:ea typeface="Calibri" pitchFamily="34" charset="-122"/>
                <a:cs typeface="Calibri" pitchFamily="34" charset="-120"/>
              </a:rPr>
              <a:t>Agile Scrum framework, user stories, velocity, DoD, role ownership, and individual viva defense (Criterion 5)</a:t>
            </a:r>
            <a:endParaRPr lang="en-US" sz="1050" dirty="0"/>
          </a:p>
        </p:txBody>
      </p:sp>
      <p:sp>
        <p:nvSpPr>
          <p:cNvPr id="36" name="Text 34"/>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a:t>
            </a:r>
            <a:endParaRPr lang="en-US" sz="950" dirty="0"/>
          </a:p>
        </p:txBody>
      </p:sp>
      <p:sp>
        <p:nvSpPr>
          <p:cNvPr id="37" name="Text 35"/>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THE PROBLEM &amp; MISSION</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Interpretable Household Well-Being Estimation</a:t>
            </a:r>
            <a:endParaRPr lang="en-US" sz="2500" dirty="0"/>
          </a:p>
        </p:txBody>
      </p:sp>
      <p:sp>
        <p:nvSpPr>
          <p:cNvPr id="4" name="Shape 2"/>
          <p:cNvSpPr/>
          <p:nvPr/>
        </p:nvSpPr>
        <p:spPr>
          <a:xfrm>
            <a:off x="548640" y="1325880"/>
            <a:ext cx="2606040" cy="960120"/>
          </a:xfrm>
          <a:prstGeom prst="roundRect">
            <a:avLst>
              <a:gd name="adj" fmla="val 7619"/>
            </a:avLst>
          </a:prstGeom>
          <a:solidFill>
            <a:srgbClr val="EEF3FE"/>
          </a:solidFill>
          <a:ln w="12700">
            <a:solidFill>
              <a:srgbClr val="E4E8F0"/>
            </a:solidFill>
            <a:prstDash val="solid"/>
          </a:ln>
        </p:spPr>
      </p:sp>
      <p:sp>
        <p:nvSpPr>
          <p:cNvPr id="5" name="Text 3"/>
          <p:cNvSpPr/>
          <p:nvPr/>
        </p:nvSpPr>
        <p:spPr>
          <a:xfrm>
            <a:off x="548640" y="1399032"/>
            <a:ext cx="2606040" cy="475488"/>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8</a:t>
            </a:r>
            <a:endParaRPr lang="en-US" sz="2400" dirty="0"/>
          </a:p>
        </p:txBody>
      </p:sp>
      <p:sp>
        <p:nvSpPr>
          <p:cNvPr id="6" name="Text 4"/>
          <p:cNvSpPr/>
          <p:nvPr/>
        </p:nvSpPr>
        <p:spPr>
          <a:xfrm>
            <a:off x="640080" y="1892808"/>
            <a:ext cx="2423160" cy="320040"/>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West African Nations Surveyed</a:t>
            </a:r>
            <a:endParaRPr lang="en-US" sz="1000" dirty="0"/>
          </a:p>
        </p:txBody>
      </p:sp>
      <p:sp>
        <p:nvSpPr>
          <p:cNvPr id="7" name="Shape 5"/>
          <p:cNvSpPr/>
          <p:nvPr/>
        </p:nvSpPr>
        <p:spPr>
          <a:xfrm>
            <a:off x="3291840" y="1325880"/>
            <a:ext cx="2606040" cy="960120"/>
          </a:xfrm>
          <a:prstGeom prst="roundRect">
            <a:avLst>
              <a:gd name="adj" fmla="val 7619"/>
            </a:avLst>
          </a:prstGeom>
          <a:solidFill>
            <a:srgbClr val="EEF3FE"/>
          </a:solidFill>
          <a:ln w="12700">
            <a:solidFill>
              <a:srgbClr val="E4E8F0"/>
            </a:solidFill>
            <a:prstDash val="solid"/>
          </a:ln>
        </p:spPr>
      </p:sp>
      <p:sp>
        <p:nvSpPr>
          <p:cNvPr id="8" name="Text 6"/>
          <p:cNvSpPr/>
          <p:nvPr/>
        </p:nvSpPr>
        <p:spPr>
          <a:xfrm>
            <a:off x="3291840" y="1399032"/>
            <a:ext cx="2606040" cy="475488"/>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55,922</a:t>
            </a:r>
            <a:endParaRPr lang="en-US" sz="2400" dirty="0"/>
          </a:p>
        </p:txBody>
      </p:sp>
      <p:sp>
        <p:nvSpPr>
          <p:cNvPr id="9" name="Text 7"/>
          <p:cNvSpPr/>
          <p:nvPr/>
        </p:nvSpPr>
        <p:spPr>
          <a:xfrm>
            <a:off x="3383280" y="1892808"/>
            <a:ext cx="2423160" cy="320040"/>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Verified Household Records</a:t>
            </a:r>
            <a:endParaRPr lang="en-US" sz="1000" dirty="0"/>
          </a:p>
        </p:txBody>
      </p:sp>
      <p:sp>
        <p:nvSpPr>
          <p:cNvPr id="10" name="Shape 8"/>
          <p:cNvSpPr/>
          <p:nvPr/>
        </p:nvSpPr>
        <p:spPr>
          <a:xfrm>
            <a:off x="6035040" y="1325880"/>
            <a:ext cx="2606040" cy="960120"/>
          </a:xfrm>
          <a:prstGeom prst="roundRect">
            <a:avLst>
              <a:gd name="adj" fmla="val 7619"/>
            </a:avLst>
          </a:prstGeom>
          <a:solidFill>
            <a:srgbClr val="EEF3FE"/>
          </a:solidFill>
          <a:ln w="12700">
            <a:solidFill>
              <a:srgbClr val="E4E8F0"/>
            </a:solidFill>
            <a:prstDash val="solid"/>
          </a:ln>
        </p:spPr>
      </p:sp>
      <p:sp>
        <p:nvSpPr>
          <p:cNvPr id="11" name="Text 9"/>
          <p:cNvSpPr/>
          <p:nvPr/>
        </p:nvSpPr>
        <p:spPr>
          <a:xfrm>
            <a:off x="6035040" y="1399032"/>
            <a:ext cx="2606040" cy="475488"/>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74</a:t>
            </a:r>
            <a:endParaRPr lang="en-US" sz="2400" dirty="0"/>
          </a:p>
        </p:txBody>
      </p:sp>
      <p:sp>
        <p:nvSpPr>
          <p:cNvPr id="12" name="Text 10"/>
          <p:cNvSpPr/>
          <p:nvPr/>
        </p:nvSpPr>
        <p:spPr>
          <a:xfrm>
            <a:off x="6126480" y="1892808"/>
            <a:ext cx="2423160" cy="320040"/>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Engineered Multi-Tier Features</a:t>
            </a:r>
            <a:endParaRPr lang="en-US" sz="1000" dirty="0"/>
          </a:p>
        </p:txBody>
      </p:sp>
      <p:sp>
        <p:nvSpPr>
          <p:cNvPr id="13" name="Shape 11"/>
          <p:cNvSpPr/>
          <p:nvPr/>
        </p:nvSpPr>
        <p:spPr>
          <a:xfrm>
            <a:off x="8778240" y="1325880"/>
            <a:ext cx="2606040" cy="960120"/>
          </a:xfrm>
          <a:prstGeom prst="roundRect">
            <a:avLst>
              <a:gd name="adj" fmla="val 7619"/>
            </a:avLst>
          </a:prstGeom>
          <a:solidFill>
            <a:srgbClr val="EEF3FE"/>
          </a:solidFill>
          <a:ln w="12700">
            <a:solidFill>
              <a:srgbClr val="E4E8F0"/>
            </a:solidFill>
            <a:prstDash val="solid"/>
          </a:ln>
        </p:spPr>
      </p:sp>
      <p:sp>
        <p:nvSpPr>
          <p:cNvPr id="14" name="Text 12"/>
          <p:cNvSpPr/>
          <p:nvPr/>
        </p:nvSpPr>
        <p:spPr>
          <a:xfrm>
            <a:off x="8778240" y="1399032"/>
            <a:ext cx="2606040" cy="475488"/>
          </a:xfrm>
          <a:prstGeom prst="rect">
            <a:avLst/>
          </a:prstGeom>
          <a:noFill/>
          <a:ln/>
        </p:spPr>
        <p:txBody>
          <a:bodyPr wrap="square"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26.8% – 41.7%</a:t>
            </a:r>
            <a:endParaRPr lang="en-US" sz="2400" dirty="0"/>
          </a:p>
        </p:txBody>
      </p:sp>
      <p:sp>
        <p:nvSpPr>
          <p:cNvPr id="15" name="Text 13"/>
          <p:cNvSpPr/>
          <p:nvPr/>
        </p:nvSpPr>
        <p:spPr>
          <a:xfrm>
            <a:off x="8869680" y="1892808"/>
            <a:ext cx="2423160" cy="320040"/>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Poverty Rate Regional Range</a:t>
            </a:r>
            <a:endParaRPr lang="en-US" sz="1000" dirty="0"/>
          </a:p>
        </p:txBody>
      </p:sp>
      <p:sp>
        <p:nvSpPr>
          <p:cNvPr id="16" name="Shape 14"/>
          <p:cNvSpPr/>
          <p:nvPr/>
        </p:nvSpPr>
        <p:spPr>
          <a:xfrm>
            <a:off x="548640" y="2487168"/>
            <a:ext cx="5349240" cy="2971800"/>
          </a:xfrm>
          <a:prstGeom prst="roundRect">
            <a:avLst>
              <a:gd name="adj" fmla="val 2462"/>
            </a:avLst>
          </a:prstGeom>
          <a:solidFill>
            <a:srgbClr val="FFFFFF"/>
          </a:solidFill>
          <a:ln w="12700">
            <a:solidFill>
              <a:srgbClr val="E4E8F0"/>
            </a:solidFill>
            <a:prstDash val="solid"/>
          </a:ln>
        </p:spPr>
      </p:sp>
      <p:sp>
        <p:nvSpPr>
          <p:cNvPr id="17" name="Text 15"/>
          <p:cNvSpPr/>
          <p:nvPr/>
        </p:nvSpPr>
        <p:spPr>
          <a:xfrm>
            <a:off x="777240" y="2624328"/>
            <a:ext cx="4892040" cy="310896"/>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We're Building</a:t>
            </a:r>
            <a:endParaRPr lang="en-US" sz="1400" dirty="0"/>
          </a:p>
        </p:txBody>
      </p:sp>
      <p:sp>
        <p:nvSpPr>
          <p:cNvPr id="18" name="Text 16"/>
          <p:cNvSpPr/>
          <p:nvPr/>
        </p:nvSpPr>
        <p:spPr>
          <a:xfrm>
            <a:off x="777240" y="2990088"/>
            <a:ext cx="4892040" cy="2286000"/>
          </a:xfrm>
          <a:prstGeom prst="rect">
            <a:avLst/>
          </a:prstGeom>
          <a:noFill/>
          <a:ln/>
        </p:spPr>
        <p:txBody>
          <a:bodyPr wrap="square" rtlCol="0" anchor="t"/>
          <a:lstStyle/>
          <a:p>
            <a:pPr marL="0" indent="0">
              <a:lnSpc>
                <a:spcPct val="110000"/>
              </a:lnSpc>
              <a:spcAft>
                <a:spcPts val="700"/>
              </a:spcAft>
              <a:buNone/>
            </a:pPr>
            <a:r>
              <a:rPr lang="en-US" sz="1100" b="1" dirty="0">
                <a:solidFill>
                  <a:srgbClr val="1E2761"/>
                </a:solidFill>
                <a:latin typeface="Calibri" pitchFamily="34" charset="0"/>
                <a:ea typeface="Calibri" pitchFamily="34" charset="-122"/>
                <a:cs typeface="Calibri" pitchFamily="34" charset="-120"/>
              </a:rPr>
              <a:t>“Our project is Interpretable Cross-Country Household Well-Being Estimation. We use household survey data to estimate household well-being and, more importantly, understand why the model makes a particular prediction.”</a:t>
            </a:r>
            <a:endParaRPr lang="en-US" sz="1100" dirty="0"/>
          </a:p>
          <a:p>
            <a:pPr marL="0" indent="0">
              <a:lnSpc>
                <a:spcPct val="110000"/>
              </a:lnSpc>
              <a:spcAft>
                <a:spcPts val="700"/>
              </a:spcAft>
              <a:buNone/>
            </a:pPr>
            <a:r>
              <a:rPr lang="en-US" sz="1100" b="1" dirty="0">
                <a:solidFill>
                  <a:srgbClr val="8A5A00"/>
                </a:solidFill>
                <a:latin typeface="Calibri" pitchFamily="34" charset="0"/>
                <a:ea typeface="Calibri" pitchFamily="34" charset="-122"/>
                <a:cs typeface="Calibri" pitchFamily="34" charset="-120"/>
              </a:rPr>
              <a:t>“We combine machine learning with Explainable AI to identify important household factors and provide understandable predictions instead of treating the model as a black box.”</a:t>
            </a:r>
            <a:endParaRPr lang="en-US" sz="1100" dirty="0"/>
          </a:p>
          <a:p>
            <a:pPr marL="0" indent="0">
              <a:lnSpc>
                <a:spcPct val="110000"/>
              </a:lnSpc>
              <a:spcAft>
                <a:spcPts val="700"/>
              </a:spcAft>
              <a:buNone/>
            </a:pPr>
            <a:r>
              <a:rPr lang="en-US" sz="1100" dirty="0">
                <a:solidFill>
                  <a:srgbClr val="1A2140"/>
                </a:solidFill>
                <a:latin typeface="Calibri" pitchFamily="34" charset="0"/>
                <a:ea typeface="Calibri" pitchFamily="34" charset="-122"/>
                <a:cs typeface="Calibri" pitchFamily="34" charset="-120"/>
              </a:rPr>
              <a:t>Every prediction is accompanied by transparent, mathematically faithful feature attributions and counterfactual guidance for social protection administrators.</a:t>
            </a:r>
            <a:endParaRPr lang="en-US" sz="1100" dirty="0"/>
          </a:p>
        </p:txBody>
      </p:sp>
      <p:sp>
        <p:nvSpPr>
          <p:cNvPr id="19" name="Shape 17"/>
          <p:cNvSpPr/>
          <p:nvPr/>
        </p:nvSpPr>
        <p:spPr>
          <a:xfrm>
            <a:off x="6172200" y="2487168"/>
            <a:ext cx="5349240" cy="2971800"/>
          </a:xfrm>
          <a:prstGeom prst="roundRect">
            <a:avLst>
              <a:gd name="adj" fmla="val 2462"/>
            </a:avLst>
          </a:prstGeom>
          <a:solidFill>
            <a:srgbClr val="FFFFFF"/>
          </a:solidFill>
          <a:ln w="12700">
            <a:solidFill>
              <a:srgbClr val="E4E8F0"/>
            </a:solidFill>
            <a:prstDash val="solid"/>
          </a:ln>
        </p:spPr>
      </p:sp>
      <p:sp>
        <p:nvSpPr>
          <p:cNvPr id="20" name="Text 18"/>
          <p:cNvSpPr/>
          <p:nvPr/>
        </p:nvSpPr>
        <p:spPr>
          <a:xfrm>
            <a:off x="6400800" y="2624328"/>
            <a:ext cx="4892040" cy="310896"/>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Why Interpretability is Mission-Critical</a:t>
            </a:r>
            <a:endParaRPr lang="en-US" sz="1400" dirty="0"/>
          </a:p>
        </p:txBody>
      </p:sp>
      <p:sp>
        <p:nvSpPr>
          <p:cNvPr id="21" name="Text 19"/>
          <p:cNvSpPr/>
          <p:nvPr/>
        </p:nvSpPr>
        <p:spPr>
          <a:xfrm>
            <a:off x="6400800" y="2990088"/>
            <a:ext cx="4892040" cy="2286000"/>
          </a:xfrm>
          <a:prstGeom prst="rect">
            <a:avLst/>
          </a:prstGeom>
          <a:noFill/>
          <a:ln/>
        </p:spPr>
        <p:txBody>
          <a:bodyPr wrap="square" rtlCol="0" anchor="t"/>
          <a:lstStyle/>
          <a:p>
            <a:pPr marL="342900" indent="-342900">
              <a:lnSpc>
                <a:spcPct val="108000"/>
              </a:lnSpc>
              <a:spcAft>
                <a:spcPts val="700"/>
              </a:spcAft>
              <a:buSzPct val="100000"/>
              <a:buChar char="•"/>
            </a:pPr>
            <a:r>
              <a:rPr lang="en-US" sz="1050" dirty="0">
                <a:solidFill>
                  <a:srgbClr val="1A2140"/>
                </a:solidFill>
                <a:latin typeface="Calibri" pitchFamily="34" charset="0"/>
                <a:ea typeface="Calibri" pitchFamily="34" charset="-122"/>
                <a:cs typeface="Calibri" pitchFamily="34" charset="-120"/>
              </a:rPr>
              <a:t>Algorithmic Targeting at Scale: Social safety net programmes distribute &gt;$800B annually to 1.5B+ people based on survey-driven Proxy Means Tests (PMT).</a:t>
            </a:r>
            <a:endParaRPr lang="en-US" sz="1050" dirty="0"/>
          </a:p>
          <a:p>
            <a:pPr marL="342900" indent="-342900">
              <a:lnSpc>
                <a:spcPct val="108000"/>
              </a:lnSpc>
              <a:spcAft>
                <a:spcPts val="700"/>
              </a:spcAft>
              <a:buSzPct val="100000"/>
              <a:buChar char="•"/>
            </a:pPr>
            <a:r>
              <a:rPr lang="en-US" sz="1050" dirty="0">
                <a:solidFill>
                  <a:srgbClr val="1A2140"/>
                </a:solidFill>
                <a:latin typeface="Calibri" pitchFamily="34" charset="0"/>
                <a:ea typeface="Calibri" pitchFamily="34" charset="-122"/>
                <a:cs typeface="Calibri" pitchFamily="34" charset="-120"/>
              </a:rPr>
              <a:t>Legal Defensibility &amp; Human Rights: Denying aid cannot be based on 'the black-box model said so'. Citizens have a constitutional right to due process and appealable recourse.</a:t>
            </a:r>
            <a:endParaRPr lang="en-US" sz="1050" dirty="0"/>
          </a:p>
          <a:p>
            <a:pPr marL="342900" indent="-342900">
              <a:lnSpc>
                <a:spcPct val="108000"/>
              </a:lnSpc>
              <a:spcAft>
                <a:spcPts val="700"/>
              </a:spcAft>
              <a:buSzPct val="100000"/>
              <a:buChar char="•"/>
            </a:pPr>
            <a:r>
              <a:rPr lang="en-US" sz="1050" dirty="0">
                <a:solidFill>
                  <a:srgbClr val="1A2140"/>
                </a:solidFill>
                <a:latin typeface="Calibri" pitchFamily="34" charset="0"/>
                <a:ea typeface="Calibri" pitchFamily="34" charset="-122"/>
                <a:cs typeface="Calibri" pitchFamily="34" charset="-120"/>
              </a:rPr>
              <a:t>Failures of Post-Hoc SHAP: Post-hoc approximations can produce out-of-distribution hallucinations and non-monotonic artifacts in high-stakes policy governance.</a:t>
            </a:r>
            <a:endParaRPr lang="en-US" sz="1050" dirty="0"/>
          </a:p>
        </p:txBody>
      </p:sp>
      <p:sp>
        <p:nvSpPr>
          <p:cNvPr id="22" name="Shape 20"/>
          <p:cNvSpPr/>
          <p:nvPr/>
        </p:nvSpPr>
        <p:spPr>
          <a:xfrm>
            <a:off x="548640" y="5650992"/>
            <a:ext cx="10972800" cy="457200"/>
          </a:xfrm>
          <a:prstGeom prst="roundRect">
            <a:avLst>
              <a:gd name="adj" fmla="val 16000"/>
            </a:avLst>
          </a:prstGeom>
          <a:solidFill>
            <a:srgbClr val="1E2761"/>
          </a:solidFill>
          <a:ln/>
        </p:spPr>
      </p:sp>
      <p:sp>
        <p:nvSpPr>
          <p:cNvPr id="23" name="Text 21"/>
          <p:cNvSpPr/>
          <p:nvPr/>
        </p:nvSpPr>
        <p:spPr>
          <a:xfrm>
            <a:off x="822960" y="5650992"/>
            <a:ext cx="10424160" cy="45720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Directly Aligned to UN SDG 1: No Poverty (Target 1.3: Social Protection Systems) &amp; SDG 10: Reduced Inequalities</a:t>
            </a:r>
            <a:endParaRPr lang="en-US" sz="1200" dirty="0"/>
          </a:p>
        </p:txBody>
      </p:sp>
      <p:sp>
        <p:nvSpPr>
          <p:cNvPr id="24" name="Text 2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3</a:t>
            </a:r>
            <a:endParaRPr lang="en-US" sz="950" dirty="0"/>
          </a:p>
        </p:txBody>
      </p:sp>
      <p:sp>
        <p:nvSpPr>
          <p:cNvPr id="25" name="Text 2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PROJECT CHARTER</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Five SMART Objectives Across Capstone I &amp; II</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4415" cy="4407408"/>
        </p:xfrm>
        <a:graphic>
          <a:graphicData uri="http://schemas.openxmlformats.org/drawingml/2006/table">
            <a:tbl>
              <a:tblPr/>
              <a:tblGrid>
                <a:gridCol w="685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745175">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Scope, Deliverables &amp; Measurable Success Criteria</a:t>
                      </a:r>
                      <a:endParaRPr lang="en-US" sz="11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804672">
                <a:tc>
                  <a:txBody>
                    <a:bodyPr/>
                    <a:lstStyle/>
                    <a:p>
                      <a:pPr marL="0" indent="0" algn="ctr">
                        <a:buNone/>
                      </a:pPr>
                      <a:r>
                        <a:rPr lang="en-US" sz="1250" b="1" dirty="0">
                          <a:solidFill>
                            <a:srgbClr val="1F8A5A"/>
                          </a:solidFill>
                          <a:latin typeface="Calibri" pitchFamily="34" charset="0"/>
                          <a:ea typeface="Calibri" pitchFamily="34" charset="-122"/>
                          <a:cs typeface="Calibri" pitchFamily="34" charset="-120"/>
                        </a:rPr>
                        <a:t>O1</a:t>
                      </a:r>
                      <a:endParaRPr lang="en-US" sz="12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A2140"/>
                          </a:solidFill>
                          <a:latin typeface="Calibri" pitchFamily="34" charset="0"/>
                          <a:ea typeface="Calibri" pitchFamily="34" charset="-122"/>
                          <a:cs typeface="Calibri" pitchFamily="34" charset="-120"/>
                        </a:rPr>
                        <a:t>Problem Charter &amp; Data Foundation</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1000" dirty="0">
                          <a:solidFill>
                            <a:srgbClr val="1A2140"/>
                          </a:solidFill>
                          <a:latin typeface="Calibri" pitchFamily="34" charset="0"/>
                          <a:ea typeface="Calibri" pitchFamily="34" charset="-122"/>
                          <a:cs typeface="Calibri" pitchFamily="34" charset="-120"/>
                        </a:rPr>
                        <a:t>Ingest &amp; validate survey data across 8 EHCVM countries — 24/24 Pandera schema contracts, 55,922 clean households, 74 features, 0% missing</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667085"/>
                          </a:solidFill>
                          <a:latin typeface="Calibri" pitchFamily="34" charset="0"/>
                          <a:ea typeface="Calibri" pitchFamily="34" charset="-122"/>
                          <a:cs typeface="Calibri" pitchFamily="34" charset="-120"/>
                        </a:rPr>
                        <a:t>CP1 · R2</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1050" b="1" dirty="0">
                          <a:solidFill>
                            <a:srgbClr val="1F8A5A"/>
                          </a:solidFill>
                          <a:latin typeface="Calibri" pitchFamily="34" charset="0"/>
                          <a:ea typeface="Calibri" pitchFamily="34" charset="-122"/>
                          <a:cs typeface="Calibri" pitchFamily="34" charset="-120"/>
                        </a:rPr>
                        <a:t>✓ COMPLETE</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804672">
                <a:tc>
                  <a:txBody>
                    <a:bodyPr/>
                    <a:lstStyle/>
                    <a:p>
                      <a:pPr marL="0" indent="0" algn="ctr">
                        <a:buNone/>
                      </a:pPr>
                      <a:r>
                        <a:rPr lang="en-US" sz="1250" b="1" dirty="0">
                          <a:solidFill>
                            <a:srgbClr val="D98E04"/>
                          </a:solidFill>
                          <a:latin typeface="Calibri" pitchFamily="34" charset="0"/>
                          <a:ea typeface="Calibri" pitchFamily="34" charset="-122"/>
                          <a:cs typeface="Calibri" pitchFamily="34" charset="-120"/>
                        </a:rPr>
                        <a:t>O2</a:t>
                      </a:r>
                      <a:endParaRPr lang="en-US" sz="12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A2140"/>
                          </a:solidFill>
                          <a:latin typeface="Calibri" pitchFamily="34" charset="0"/>
                          <a:ea typeface="Calibri" pitchFamily="34" charset="-122"/>
                          <a:cs typeface="Calibri" pitchFamily="34" charset="-120"/>
                        </a:rPr>
                        <a:t>Reproducible Cross-Country Baselines</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00" dirty="0">
                          <a:solidFill>
                            <a:srgbClr val="1A2140"/>
                          </a:solidFill>
                          <a:latin typeface="Calibri" pitchFamily="34" charset="0"/>
                          <a:ea typeface="Calibri" pitchFamily="34" charset="-122"/>
                          <a:cs typeface="Calibri" pitchFamily="34" charset="-120"/>
                        </a:rPr>
                        <a:t>Evaluate LR, RF, XGBoost, LightGBM, CatBoost via stratified 5-fold CV across 8 countries; test within vs. cross-country transfer</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667085"/>
                          </a:solidFill>
                          <a:latin typeface="Calibri" pitchFamily="34" charset="0"/>
                          <a:ea typeface="Calibri" pitchFamily="34" charset="-122"/>
                          <a:cs typeface="Calibri" pitchFamily="34" charset="-120"/>
                        </a:rPr>
                        <a:t>CP1 · R3</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8A5A00"/>
                          </a:solidFill>
                          <a:latin typeface="Calibri" pitchFamily="34" charset="0"/>
                          <a:ea typeface="Calibri" pitchFamily="34" charset="-122"/>
                          <a:cs typeface="Calibri" pitchFamily="34" charset="-120"/>
                        </a:rPr>
                        <a:t>IN PROGRESS</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2"/>
                  </a:ext>
                </a:extLst>
              </a:tr>
              <a:tr h="804672">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O3</a:t>
                      </a:r>
                      <a:endParaRPr lang="en-US" sz="12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A2140"/>
                          </a:solidFill>
                          <a:latin typeface="Calibri" pitchFamily="34" charset="0"/>
                          <a:ea typeface="Calibri" pitchFamily="34" charset="-122"/>
                          <a:cs typeface="Calibri" pitchFamily="34" charset="-120"/>
                        </a:rPr>
                        <a:t>Interpretable Model Engineering</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00" dirty="0">
                          <a:solidFill>
                            <a:srgbClr val="1A2140"/>
                          </a:solidFill>
                          <a:latin typeface="Calibri" pitchFamily="34" charset="0"/>
                          <a:ea typeface="Calibri" pitchFamily="34" charset="-122"/>
                          <a:cs typeface="Calibri" pitchFamily="34" charset="-120"/>
                        </a:rPr>
                        <a:t>Train Explainable Boosting Machines (EBM / GA²M); quantify the exact Accuracy Gap Δ vs. O2 black-box baselines under identical CV folds</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667085"/>
                          </a:solidFill>
                          <a:latin typeface="Calibri" pitchFamily="34" charset="0"/>
                          <a:ea typeface="Calibri" pitchFamily="34" charset="-122"/>
                          <a:cs typeface="Calibri" pitchFamily="34" charset="-120"/>
                        </a:rPr>
                        <a:t>CP2 · R4</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667085"/>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4672">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O4</a:t>
                      </a:r>
                      <a:endParaRPr lang="en-US" sz="12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A2140"/>
                          </a:solidFill>
                          <a:latin typeface="Calibri" pitchFamily="34" charset="0"/>
                          <a:ea typeface="Calibri" pitchFamily="34" charset="-122"/>
                          <a:cs typeface="Calibri" pitchFamily="34" charset="-120"/>
                        </a:rPr>
                        <a:t>Asymmetric Error &amp; Recourse Engine</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00" dirty="0">
                          <a:solidFill>
                            <a:srgbClr val="1A2140"/>
                          </a:solidFill>
                          <a:latin typeface="Calibri" pitchFamily="34" charset="0"/>
                          <a:ea typeface="Calibri" pitchFamily="34" charset="-122"/>
                          <a:cs typeface="Calibri" pitchFamily="34" charset="-120"/>
                        </a:rPr>
                        <a:t>Exclusion/inclusion asymmetric policy cost curves (FN vs FP) + minimal-change counterfactual recourse engine for denied households</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667085"/>
                          </a:solidFill>
                          <a:latin typeface="Calibri" pitchFamily="34" charset="0"/>
                          <a:ea typeface="Calibri" pitchFamily="34" charset="-122"/>
                          <a:cs typeface="Calibri" pitchFamily="34" charset="-120"/>
                        </a:rPr>
                        <a:t>CP2 · R5</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667085"/>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04672">
                <a:tc>
                  <a:txBody>
                    <a:bodyPr/>
                    <a:lstStyle/>
                    <a:p>
                      <a:pPr marL="0" indent="0" algn="ctr">
                        <a:buNone/>
                      </a:pPr>
                      <a:r>
                        <a:rPr lang="en-US" sz="1250" b="1" dirty="0">
                          <a:solidFill>
                            <a:srgbClr val="1E2761"/>
                          </a:solidFill>
                          <a:latin typeface="Calibri" pitchFamily="34" charset="0"/>
                          <a:ea typeface="Calibri" pitchFamily="34" charset="-122"/>
                          <a:cs typeface="Calibri" pitchFamily="34" charset="-120"/>
                        </a:rPr>
                        <a:t>O5</a:t>
                      </a:r>
                      <a:endParaRPr lang="en-US" sz="12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A2140"/>
                          </a:solidFill>
                          <a:latin typeface="Calibri" pitchFamily="34" charset="0"/>
                          <a:ea typeface="Calibri" pitchFamily="34" charset="-122"/>
                          <a:cs typeface="Calibri" pitchFamily="34" charset="-120"/>
                        </a:rPr>
                        <a:t>Policy Assurance &amp; Safety Suite</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1000" dirty="0">
                          <a:solidFill>
                            <a:srgbClr val="1A2140"/>
                          </a:solidFill>
                          <a:latin typeface="Calibri" pitchFamily="34" charset="0"/>
                          <a:ea typeface="Calibri" pitchFamily="34" charset="-122"/>
                          <a:cs typeface="Calibri" pitchFamily="34" charset="-120"/>
                        </a:rPr>
                        <a:t>Validate acceptance criteria AC-1–AC-4 on held-out country partitions, plus 5 mandatory negative tests (NT-1..5) for policy safety</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667085"/>
                          </a:solidFill>
                          <a:latin typeface="Calibri" pitchFamily="34" charset="0"/>
                          <a:ea typeface="Calibri" pitchFamily="34" charset="-122"/>
                          <a:cs typeface="Calibri" pitchFamily="34" charset="-120"/>
                        </a:rPr>
                        <a:t>CP2 · Final</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667085"/>
                          </a:solidFill>
                          <a:latin typeface="Calibri" pitchFamily="34" charset="0"/>
                          <a:ea typeface="Calibri" pitchFamily="34" charset="-122"/>
                          <a:cs typeface="Calibri" pitchFamily="34" charset="-120"/>
                        </a:rPr>
                        <a:t>PLANNED</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2"/>
          <p:cNvSpPr/>
          <p:nvPr/>
        </p:nvSpPr>
        <p:spPr>
          <a:xfrm>
            <a:off x="548640" y="6080760"/>
            <a:ext cx="11094415" cy="274320"/>
          </a:xfrm>
          <a:prstGeom prst="rect">
            <a:avLst/>
          </a:prstGeom>
          <a:noFill/>
          <a:ln/>
        </p:spPr>
        <p:txBody>
          <a:bodyPr wrap="square" rtlCol="0" anchor="ctr"/>
          <a:lstStyle/>
          <a:p>
            <a:pPr marL="0" indent="0">
              <a:buNone/>
            </a:pPr>
            <a:r>
              <a:rPr lang="en-US" sz="1050" b="1" i="1" dirty="0">
                <a:solidFill>
                  <a:srgbClr val="1F8A5A"/>
                </a:solidFill>
                <a:latin typeface="Calibri" pitchFamily="34" charset="0"/>
                <a:ea typeface="Calibri" pitchFamily="34" charset="-122"/>
                <a:cs typeface="Calibri" pitchFamily="34" charset="-120"/>
              </a:rPr>
              <a:t>Objective 1 is 100% complete: All 24 Pandera schema contracts verified passing, 8 clean country datasets generated, and automated EDA completed.</a:t>
            </a:r>
            <a:endParaRPr lang="en-US" sz="1050" dirty="0"/>
          </a:p>
        </p:txBody>
      </p:sp>
      <p:sp>
        <p:nvSpPr>
          <p:cNvPr id="6" name="Text 3"/>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4</a:t>
            </a:r>
            <a:endParaRPr lang="en-US" sz="950" dirty="0"/>
          </a:p>
        </p:txBody>
      </p:sp>
      <p:sp>
        <p:nvSpPr>
          <p:cNvPr id="7" name="Text 4"/>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EVALUATION RUBRIC CRITERION 1</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System Requirements Specification (SRS) &amp; Traceability Matrix</a:t>
            </a:r>
            <a:endParaRPr lang="en-US" sz="2500" dirty="0"/>
          </a:p>
        </p:txBody>
      </p:sp>
      <p:sp>
        <p:nvSpPr>
          <p:cNvPr id="4" name="Shape 2"/>
          <p:cNvSpPr/>
          <p:nvPr/>
        </p:nvSpPr>
        <p:spPr>
          <a:xfrm>
            <a:off x="548640" y="1353312"/>
            <a:ext cx="3291840" cy="4617720"/>
          </a:xfrm>
          <a:prstGeom prst="roundRect">
            <a:avLst>
              <a:gd name="adj" fmla="val 2222"/>
            </a:avLst>
          </a:prstGeom>
          <a:solidFill>
            <a:srgbClr val="FFFFFF"/>
          </a:solidFill>
          <a:ln w="12700">
            <a:solidFill>
              <a:srgbClr val="E4E8F0"/>
            </a:solidFill>
            <a:prstDash val="solid"/>
          </a:ln>
        </p:spPr>
      </p:sp>
      <p:sp>
        <p:nvSpPr>
          <p:cNvPr id="5" name="Shape 3"/>
          <p:cNvSpPr/>
          <p:nvPr/>
        </p:nvSpPr>
        <p:spPr>
          <a:xfrm>
            <a:off x="548640" y="1353312"/>
            <a:ext cx="3291840" cy="411480"/>
          </a:xfrm>
          <a:prstGeom prst="roundRect">
            <a:avLst>
              <a:gd name="adj" fmla="val 17778"/>
            </a:avLst>
          </a:prstGeom>
          <a:solidFill>
            <a:srgbClr val="1E2761"/>
          </a:solidFill>
          <a:ln/>
        </p:spPr>
      </p:sp>
      <p:sp>
        <p:nvSpPr>
          <p:cNvPr id="6" name="Shape 4"/>
          <p:cNvSpPr/>
          <p:nvPr/>
        </p:nvSpPr>
        <p:spPr>
          <a:xfrm>
            <a:off x="548640" y="1554480"/>
            <a:ext cx="3291840" cy="210312"/>
          </a:xfrm>
          <a:prstGeom prst="rect">
            <a:avLst/>
          </a:prstGeom>
          <a:solidFill>
            <a:srgbClr val="1E2761"/>
          </a:solidFill>
          <a:ln/>
        </p:spPr>
      </p:sp>
      <p:sp>
        <p:nvSpPr>
          <p:cNvPr id="7" name="Text 5"/>
          <p:cNvSpPr/>
          <p:nvPr/>
        </p:nvSpPr>
        <p:spPr>
          <a:xfrm>
            <a:off x="685800" y="1353312"/>
            <a:ext cx="301752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System Scope &amp; Quality Constraints</a:t>
            </a:r>
            <a:endParaRPr lang="en-US" sz="1150" dirty="0"/>
          </a:p>
        </p:txBody>
      </p:sp>
      <p:sp>
        <p:nvSpPr>
          <p:cNvPr id="8" name="Text 6"/>
          <p:cNvSpPr/>
          <p:nvPr/>
        </p:nvSpPr>
        <p:spPr>
          <a:xfrm>
            <a:off x="685800" y="1856232"/>
            <a:ext cx="3017520"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TARGET SCOPE</a:t>
            </a:r>
            <a:endParaRPr lang="en-US" sz="950" dirty="0"/>
          </a:p>
        </p:txBody>
      </p:sp>
      <p:sp>
        <p:nvSpPr>
          <p:cNvPr id="9" name="Text 7"/>
          <p:cNvSpPr/>
          <p:nvPr/>
        </p:nvSpPr>
        <p:spPr>
          <a:xfrm>
            <a:off x="685800" y="2057400"/>
            <a:ext cx="3017520" cy="50292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8 West African Nations (WAEMU)</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55,922 households, 74 clean features</a:t>
            </a:r>
            <a:endParaRPr lang="en-US" sz="1000" dirty="0"/>
          </a:p>
        </p:txBody>
      </p:sp>
      <p:sp>
        <p:nvSpPr>
          <p:cNvPr id="10" name="Shape 8"/>
          <p:cNvSpPr/>
          <p:nvPr/>
        </p:nvSpPr>
        <p:spPr>
          <a:xfrm>
            <a:off x="685800" y="2587752"/>
            <a:ext cx="3017520" cy="0"/>
          </a:xfrm>
          <a:prstGeom prst="line">
            <a:avLst/>
          </a:prstGeom>
          <a:noFill/>
          <a:ln w="6350">
            <a:solidFill>
              <a:srgbClr val="E4E8F0"/>
            </a:solidFill>
            <a:prstDash val="solid"/>
          </a:ln>
        </p:spPr>
      </p:sp>
      <p:sp>
        <p:nvSpPr>
          <p:cNvPr id="11" name="Text 9"/>
          <p:cNvSpPr/>
          <p:nvPr/>
        </p:nvSpPr>
        <p:spPr>
          <a:xfrm>
            <a:off x="685800" y="2660904"/>
            <a:ext cx="3017520"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HARDWARE ENVELOPE</a:t>
            </a:r>
            <a:endParaRPr lang="en-US" sz="950" dirty="0"/>
          </a:p>
        </p:txBody>
      </p:sp>
      <p:sp>
        <p:nvSpPr>
          <p:cNvPr id="12" name="Text 10"/>
          <p:cNvSpPr/>
          <p:nvPr/>
        </p:nvSpPr>
        <p:spPr>
          <a:xfrm>
            <a:off x="685800" y="2862072"/>
            <a:ext cx="3017520" cy="50292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Standard Laptop (4-Core CPU, 8GB RAM)</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Peak RAM &lt; 1.8 GB during multi-joins</a:t>
            </a:r>
            <a:endParaRPr lang="en-US" sz="1000" dirty="0"/>
          </a:p>
        </p:txBody>
      </p:sp>
      <p:sp>
        <p:nvSpPr>
          <p:cNvPr id="13" name="Shape 11"/>
          <p:cNvSpPr/>
          <p:nvPr/>
        </p:nvSpPr>
        <p:spPr>
          <a:xfrm>
            <a:off x="685800" y="3392424"/>
            <a:ext cx="3017520" cy="0"/>
          </a:xfrm>
          <a:prstGeom prst="line">
            <a:avLst/>
          </a:prstGeom>
          <a:noFill/>
          <a:ln w="6350">
            <a:solidFill>
              <a:srgbClr val="E4E8F0"/>
            </a:solidFill>
            <a:prstDash val="solid"/>
          </a:ln>
        </p:spPr>
      </p:sp>
      <p:sp>
        <p:nvSpPr>
          <p:cNvPr id="14" name="Text 12"/>
          <p:cNvSpPr/>
          <p:nvPr/>
        </p:nvSpPr>
        <p:spPr>
          <a:xfrm>
            <a:off x="685800" y="3465576"/>
            <a:ext cx="3017520"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STORAGE FOOTPRINT</a:t>
            </a:r>
            <a:endParaRPr lang="en-US" sz="950" dirty="0"/>
          </a:p>
        </p:txBody>
      </p:sp>
      <p:sp>
        <p:nvSpPr>
          <p:cNvPr id="15" name="Text 13"/>
          <p:cNvSpPr/>
          <p:nvPr/>
        </p:nvSpPr>
        <p:spPr>
          <a:xfrm>
            <a:off x="685800" y="3666744"/>
            <a:ext cx="3017520" cy="50292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272 MB total footprint (185 MB raw CSVs</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+ 82 MB engineered + 5 MB EDA plots)</a:t>
            </a:r>
            <a:endParaRPr lang="en-US" sz="1000" dirty="0"/>
          </a:p>
        </p:txBody>
      </p:sp>
      <p:sp>
        <p:nvSpPr>
          <p:cNvPr id="16" name="Shape 14"/>
          <p:cNvSpPr/>
          <p:nvPr/>
        </p:nvSpPr>
        <p:spPr>
          <a:xfrm>
            <a:off x="685800" y="4197096"/>
            <a:ext cx="3017520" cy="0"/>
          </a:xfrm>
          <a:prstGeom prst="line">
            <a:avLst/>
          </a:prstGeom>
          <a:noFill/>
          <a:ln w="6350">
            <a:solidFill>
              <a:srgbClr val="E4E8F0"/>
            </a:solidFill>
            <a:prstDash val="solid"/>
          </a:ln>
        </p:spPr>
      </p:sp>
      <p:sp>
        <p:nvSpPr>
          <p:cNvPr id="17" name="Text 15"/>
          <p:cNvSpPr/>
          <p:nvPr/>
        </p:nvSpPr>
        <p:spPr>
          <a:xfrm>
            <a:off x="685800" y="4270248"/>
            <a:ext cx="3017520"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EXECUTION SPEED</a:t>
            </a:r>
            <a:endParaRPr lang="en-US" sz="950" dirty="0"/>
          </a:p>
        </p:txBody>
      </p:sp>
      <p:sp>
        <p:nvSpPr>
          <p:cNvPr id="18" name="Text 16"/>
          <p:cNvSpPr/>
          <p:nvPr/>
        </p:nvSpPr>
        <p:spPr>
          <a:xfrm>
            <a:off x="685800" y="4471416"/>
            <a:ext cx="3017520" cy="50292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&lt; 45 seconds for 8-country pipeline</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(ingestion, validation, engineering)</a:t>
            </a:r>
            <a:endParaRPr lang="en-US" sz="1000" dirty="0"/>
          </a:p>
        </p:txBody>
      </p:sp>
      <p:sp>
        <p:nvSpPr>
          <p:cNvPr id="19" name="Shape 17"/>
          <p:cNvSpPr/>
          <p:nvPr/>
        </p:nvSpPr>
        <p:spPr>
          <a:xfrm>
            <a:off x="685800" y="5001768"/>
            <a:ext cx="3017520" cy="0"/>
          </a:xfrm>
          <a:prstGeom prst="line">
            <a:avLst/>
          </a:prstGeom>
          <a:noFill/>
          <a:ln w="6350">
            <a:solidFill>
              <a:srgbClr val="E4E8F0"/>
            </a:solidFill>
            <a:prstDash val="solid"/>
          </a:ln>
        </p:spPr>
      </p:sp>
      <p:sp>
        <p:nvSpPr>
          <p:cNvPr id="20" name="Text 18"/>
          <p:cNvSpPr/>
          <p:nvPr/>
        </p:nvSpPr>
        <p:spPr>
          <a:xfrm>
            <a:off x="685800" y="5074920"/>
            <a:ext cx="3017520"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QUALITY GUARANTEES</a:t>
            </a:r>
            <a:endParaRPr lang="en-US" sz="950" dirty="0"/>
          </a:p>
        </p:txBody>
      </p:sp>
      <p:sp>
        <p:nvSpPr>
          <p:cNvPr id="21" name="Text 19"/>
          <p:cNvSpPr/>
          <p:nvPr/>
        </p:nvSpPr>
        <p:spPr>
          <a:xfrm>
            <a:off x="685800" y="5276088"/>
            <a:ext cx="3017520" cy="50292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0.0% missing data post-imputation</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SHA-256 lineage tracking (24 files)</a:t>
            </a:r>
            <a:endParaRPr lang="en-US" sz="1000" dirty="0"/>
          </a:p>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Deterministic seed = 42</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069080" y="1353312"/>
          <a:ext cx="7573975" cy="4462272"/>
        </p:xfrm>
        <a:graphic>
          <a:graphicData uri="http://schemas.openxmlformats.org/drawingml/2006/table">
            <a:tbl>
              <a:tblPr/>
              <a:tblGrid>
                <a:gridCol w="731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453335">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Req ID</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Functional Specification</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Target Objective</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Traceable Source Module &amp; Gate</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Raw Survey Ingestion &amp; Lineage Tracking</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O1 Data Foundation</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src/ingest.py (SHA-256 hashes across 24 files)</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1F8A5A"/>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FR-2</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Declarative Schema Contract Validation</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O1 Data Foundation</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src/schemas.py (24 Pandera DataFrameSchemas)</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1F8A5A"/>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2"/>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FR-3</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3-Tier Relational Merge &amp; Imputation</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O1 Data Foundation</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src/engineer.py (0.0% missing, member aggregations)</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1F8A5A"/>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3"/>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FR-4</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Target Formulation &amp; Leakage Elimination</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O1 Data Foundation</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src/pipeline.py (pcexp &lt; zref, raw expenditure purge)</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1F8A5A"/>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FR-5</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Leave-One-Country-Out (LOCO) Evaluator</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O2 Spatial Transfer</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src/evaluate.py (8-fold cross-country transfer splits)</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8A5A00"/>
                          </a:solidFill>
                          <a:latin typeface="Calibri" pitchFamily="34" charset="0"/>
                          <a:ea typeface="Calibri" pitchFamily="34" charset="-122"/>
                          <a:cs typeface="Calibri" pitchFamily="34" charset="-120"/>
                        </a:rPr>
                        <a:t>IN PROGRESS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5"/>
                  </a:ext>
                </a:extLst>
              </a:tr>
              <a:tr h="685800">
                <a:tc>
                  <a:txBody>
                    <a:bodyPr/>
                    <a:lstStyle/>
                    <a:p>
                      <a:pPr marL="0" indent="0" algn="ctr">
                        <a:buNone/>
                      </a:pPr>
                      <a:r>
                        <a:rPr lang="en-US" sz="1000" b="1" dirty="0">
                          <a:solidFill>
                            <a:srgbClr val="1E2761"/>
                          </a:solidFill>
                          <a:latin typeface="Calibri" pitchFamily="34" charset="0"/>
                          <a:ea typeface="Calibri" pitchFamily="34" charset="-122"/>
                          <a:cs typeface="Calibri" pitchFamily="34" charset="-120"/>
                        </a:rPr>
                        <a:t>FR-6</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50" b="1" dirty="0">
                          <a:solidFill>
                            <a:srgbClr val="1A2140"/>
                          </a:solidFill>
                          <a:latin typeface="Calibri" pitchFamily="34" charset="0"/>
                          <a:ea typeface="Calibri" pitchFamily="34" charset="-122"/>
                          <a:cs typeface="Calibri" pitchFamily="34" charset="-120"/>
                        </a:rPr>
                        <a:t>One-Command Master Orchestrator</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900" dirty="0">
                          <a:solidFill>
                            <a:srgbClr val="8A5A00"/>
                          </a:solidFill>
                          <a:latin typeface="Calibri" pitchFamily="34" charset="0"/>
                          <a:ea typeface="Calibri" pitchFamily="34" charset="-122"/>
                          <a:cs typeface="Calibri" pitchFamily="34" charset="-120"/>
                        </a:rPr>
                        <a:t>O1..O5 System Runner</a:t>
                      </a:r>
                      <a:endParaRPr lang="en-US" sz="9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dirty="0">
                          <a:solidFill>
                            <a:srgbClr val="1A2140"/>
                          </a:solidFill>
                          <a:latin typeface="Courier New" pitchFamily="34" charset="0"/>
                          <a:ea typeface="Courier New" pitchFamily="34" charset="-122"/>
                          <a:cs typeface="Courier New" pitchFamily="34" charset="-120"/>
                        </a:rPr>
                        <a:t>src/run_all.py (Idempotent execution with seed=42)</a:t>
                      </a:r>
                      <a:endParaRPr lang="en-US" sz="850" dirty="0">
                        <a:latin typeface="Courier New" charset="0"/>
                        <a:ea typeface="Courier New" charset="0"/>
                        <a:cs typeface="Courier New"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tc>
                  <a:txBody>
                    <a:bodyPr/>
                    <a:lstStyle/>
                    <a:p>
                      <a:pPr marL="0" indent="0" algn="ctr">
                        <a:buNone/>
                      </a:pPr>
                      <a:r>
                        <a:rPr lang="en-US" sz="950" b="1" dirty="0">
                          <a:solidFill>
                            <a:srgbClr val="1F8A5A"/>
                          </a:solidFill>
                          <a:latin typeface="Calibri" pitchFamily="34" charset="0"/>
                          <a:ea typeface="Calibri" pitchFamily="34" charset="-122"/>
                          <a:cs typeface="Calibri" pitchFamily="34" charset="-120"/>
                        </a:rPr>
                        <a:t>✓ PASS</a:t>
                      </a:r>
                      <a:endParaRPr lang="en-US" sz="9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E8F5E9"/>
                    </a:solidFill>
                  </a:tcPr>
                </a:tc>
                <a:extLst>
                  <a:ext uri="{0D108BD9-81ED-4DB2-BD59-A6C34878D82A}">
                    <a16:rowId xmlns:a16="http://schemas.microsoft.com/office/drawing/2014/main" val="10006"/>
                  </a:ext>
                </a:extLst>
              </a:tr>
            </a:tbl>
          </a:graphicData>
        </a:graphic>
      </p:graphicFrame>
      <p:sp>
        <p:nvSpPr>
          <p:cNvPr id="23" name="Text 2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5</a:t>
            </a:r>
            <a:endParaRPr lang="en-US" sz="950" dirty="0"/>
          </a:p>
        </p:txBody>
      </p:sp>
      <p:sp>
        <p:nvSpPr>
          <p:cNvPr id="24" name="Text 2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STAKEHOLDER &amp; USER NEEDS ANALYSIS</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Ecosystem Matrix &amp; User Persona Requirements</a:t>
            </a:r>
            <a:endParaRPr lang="en-US" sz="2500" dirty="0"/>
          </a:p>
        </p:txBody>
      </p:sp>
      <p:sp>
        <p:nvSpPr>
          <p:cNvPr id="4" name="Shape 2"/>
          <p:cNvSpPr/>
          <p:nvPr/>
        </p:nvSpPr>
        <p:spPr>
          <a:xfrm>
            <a:off x="548640" y="1353312"/>
            <a:ext cx="3547872" cy="4526280"/>
          </a:xfrm>
          <a:prstGeom prst="roundRect">
            <a:avLst>
              <a:gd name="adj" fmla="val 2062"/>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sp>
        <p:nvSpPr>
          <p:cNvPr id="5" name="Shape 3"/>
          <p:cNvSpPr/>
          <p:nvPr/>
        </p:nvSpPr>
        <p:spPr>
          <a:xfrm>
            <a:off x="548640" y="1353312"/>
            <a:ext cx="3547872" cy="749808"/>
          </a:xfrm>
          <a:prstGeom prst="roundRect">
            <a:avLst>
              <a:gd name="adj" fmla="val 9756"/>
            </a:avLst>
          </a:prstGeom>
          <a:solidFill>
            <a:srgbClr val="1E2761"/>
          </a:solidFill>
          <a:ln/>
        </p:spPr>
      </p:sp>
      <p:sp>
        <p:nvSpPr>
          <p:cNvPr id="6" name="Shape 4"/>
          <p:cNvSpPr/>
          <p:nvPr/>
        </p:nvSpPr>
        <p:spPr>
          <a:xfrm>
            <a:off x="548640" y="1737360"/>
            <a:ext cx="3547872" cy="365760"/>
          </a:xfrm>
          <a:prstGeom prst="rect">
            <a:avLst/>
          </a:prstGeom>
          <a:solidFill>
            <a:srgbClr val="1E2761"/>
          </a:solidFill>
          <a:ln/>
        </p:spPr>
      </p:sp>
      <p:sp>
        <p:nvSpPr>
          <p:cNvPr id="7" name="Text 5"/>
          <p:cNvSpPr/>
          <p:nvPr/>
        </p:nvSpPr>
        <p:spPr>
          <a:xfrm>
            <a:off x="685800" y="1399032"/>
            <a:ext cx="3273552" cy="658368"/>
          </a:xfrm>
          <a:prstGeom prst="rect">
            <a:avLst/>
          </a:prstGeom>
          <a:noFill/>
          <a:ln/>
        </p:spPr>
        <p:txBody>
          <a:bodyPr wrap="square" rtlCol="0" anchor="ctr"/>
          <a:lstStyle/>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1. Policy Makers &amp;</a:t>
            </a:r>
            <a:endParaRPr lang="en-US" sz="1250" dirty="0"/>
          </a:p>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National Administrators</a:t>
            </a:r>
            <a:endParaRPr lang="en-US" sz="1250" dirty="0"/>
          </a:p>
        </p:txBody>
      </p:sp>
      <p:sp>
        <p:nvSpPr>
          <p:cNvPr id="8" name="Text 6"/>
          <p:cNvSpPr/>
          <p:nvPr/>
        </p:nvSpPr>
        <p:spPr>
          <a:xfrm>
            <a:off x="731520" y="2194560"/>
            <a:ext cx="3182112"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CORE RESPONSIBILITIES</a:t>
            </a:r>
            <a:endParaRPr lang="en-US" sz="950" dirty="0"/>
          </a:p>
        </p:txBody>
      </p:sp>
      <p:sp>
        <p:nvSpPr>
          <p:cNvPr id="9" name="Text 7"/>
          <p:cNvSpPr/>
          <p:nvPr/>
        </p:nvSpPr>
        <p:spPr>
          <a:xfrm>
            <a:off x="731520" y="2432304"/>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Allocates social protection budgets across regions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Defends targeting criteria before parliaments &amp; donors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Sets national eligibility cutoffs and welfare thresholds</a:t>
            </a:r>
            <a:endParaRPr lang="en-US" sz="1000" dirty="0"/>
          </a:p>
        </p:txBody>
      </p:sp>
      <p:sp>
        <p:nvSpPr>
          <p:cNvPr id="10" name="Text 8"/>
          <p:cNvSpPr/>
          <p:nvPr/>
        </p:nvSpPr>
        <p:spPr>
          <a:xfrm>
            <a:off x="731520" y="3776472"/>
            <a:ext cx="3182112" cy="201168"/>
          </a:xfrm>
          <a:prstGeom prst="rect">
            <a:avLst/>
          </a:prstGeom>
          <a:noFill/>
          <a:ln/>
        </p:spPr>
        <p:txBody>
          <a:bodyPr wrap="square" rtlCol="0" anchor="ctr"/>
          <a:lstStyle/>
          <a:p>
            <a:pPr marL="0" indent="0">
              <a:buNone/>
            </a:pPr>
            <a:r>
              <a:rPr lang="en-US" sz="950" b="1" kern="0" spc="100" dirty="0">
                <a:solidFill>
                  <a:srgbClr val="1E2761"/>
                </a:solidFill>
                <a:latin typeface="Calibri" pitchFamily="34" charset="0"/>
                <a:ea typeface="Calibri" pitchFamily="34" charset="-122"/>
                <a:cs typeface="Calibri" pitchFamily="34" charset="-120"/>
              </a:rPr>
              <a:t>ALGORITHMIC &amp; USER NEEDS</a:t>
            </a:r>
            <a:endParaRPr lang="en-US" sz="950" dirty="0"/>
          </a:p>
        </p:txBody>
      </p:sp>
      <p:sp>
        <p:nvSpPr>
          <p:cNvPr id="11" name="Text 9"/>
          <p:cNvSpPr/>
          <p:nvPr/>
        </p:nvSpPr>
        <p:spPr>
          <a:xfrm>
            <a:off x="731520" y="4005072"/>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Transparent global decision rules (EBM shape curves)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Budget-constrained trade-off curves &amp; loss sweeps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Predictable fiscal leakage and coverage projections</a:t>
            </a:r>
            <a:endParaRPr lang="en-US" sz="1000" dirty="0"/>
          </a:p>
        </p:txBody>
      </p:sp>
      <p:sp>
        <p:nvSpPr>
          <p:cNvPr id="12" name="Shape 10"/>
          <p:cNvSpPr/>
          <p:nvPr/>
        </p:nvSpPr>
        <p:spPr>
          <a:xfrm>
            <a:off x="685800" y="5376672"/>
            <a:ext cx="3273552" cy="365760"/>
          </a:xfrm>
          <a:prstGeom prst="roundRect">
            <a:avLst>
              <a:gd name="adj" fmla="val 12500"/>
            </a:avLst>
          </a:prstGeom>
          <a:solidFill>
            <a:srgbClr val="EEF3FE"/>
          </a:solidFill>
          <a:ln w="12700">
            <a:solidFill>
              <a:srgbClr val="CADCFC"/>
            </a:solidFill>
            <a:prstDash val="solid"/>
          </a:ln>
        </p:spPr>
      </p:sp>
      <p:sp>
        <p:nvSpPr>
          <p:cNvPr id="13" name="Text 11"/>
          <p:cNvSpPr/>
          <p:nvPr/>
        </p:nvSpPr>
        <p:spPr>
          <a:xfrm>
            <a:off x="685800" y="5376672"/>
            <a:ext cx="3273552" cy="365760"/>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Primary Metric: Policy Cost &amp; Budget Efficiency</a:t>
            </a:r>
            <a:endParaRPr lang="en-US" sz="950" dirty="0"/>
          </a:p>
        </p:txBody>
      </p:sp>
      <p:sp>
        <p:nvSpPr>
          <p:cNvPr id="14" name="Shape 12"/>
          <p:cNvSpPr/>
          <p:nvPr/>
        </p:nvSpPr>
        <p:spPr>
          <a:xfrm>
            <a:off x="4315968" y="1353312"/>
            <a:ext cx="3547872" cy="4526280"/>
          </a:xfrm>
          <a:prstGeom prst="roundRect">
            <a:avLst>
              <a:gd name="adj" fmla="val 2062"/>
            </a:avLst>
          </a:prstGeom>
          <a:solidFill>
            <a:srgbClr val="FFFFFF"/>
          </a:solidFill>
          <a:ln w="12700">
            <a:solidFill>
              <a:srgbClr val="E4E8F0"/>
            </a:solidFill>
            <a:prstDash val="solid"/>
          </a:ln>
        </p:spPr>
      </p:sp>
      <p:sp>
        <p:nvSpPr>
          <p:cNvPr id="15" name="Shape 13"/>
          <p:cNvSpPr/>
          <p:nvPr/>
        </p:nvSpPr>
        <p:spPr>
          <a:xfrm>
            <a:off x="4315968" y="1353312"/>
            <a:ext cx="3547872" cy="749808"/>
          </a:xfrm>
          <a:prstGeom prst="roundRect">
            <a:avLst>
              <a:gd name="adj" fmla="val 9756"/>
            </a:avLst>
          </a:prstGeom>
          <a:solidFill>
            <a:srgbClr val="1E2761"/>
          </a:solidFill>
          <a:ln/>
        </p:spPr>
      </p:sp>
      <p:sp>
        <p:nvSpPr>
          <p:cNvPr id="16" name="Shape 14"/>
          <p:cNvSpPr/>
          <p:nvPr/>
        </p:nvSpPr>
        <p:spPr>
          <a:xfrm>
            <a:off x="4315968" y="1737360"/>
            <a:ext cx="3547872" cy="365760"/>
          </a:xfrm>
          <a:prstGeom prst="rect">
            <a:avLst/>
          </a:prstGeom>
          <a:solidFill>
            <a:srgbClr val="1E2761"/>
          </a:solidFill>
          <a:ln/>
        </p:spPr>
      </p:sp>
      <p:sp>
        <p:nvSpPr>
          <p:cNvPr id="17" name="Text 15"/>
          <p:cNvSpPr/>
          <p:nvPr/>
        </p:nvSpPr>
        <p:spPr>
          <a:xfrm>
            <a:off x="4453128" y="1399032"/>
            <a:ext cx="3273552" cy="658368"/>
          </a:xfrm>
          <a:prstGeom prst="rect">
            <a:avLst/>
          </a:prstGeom>
          <a:noFill/>
          <a:ln/>
        </p:spPr>
        <p:txBody>
          <a:bodyPr wrap="square" rtlCol="0" anchor="ctr"/>
          <a:lstStyle/>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2. Programme Officers &amp;</a:t>
            </a:r>
            <a:endParaRPr lang="en-US" sz="1250" dirty="0"/>
          </a:p>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Audit / Legal Reviewers</a:t>
            </a:r>
            <a:endParaRPr lang="en-US" sz="1250" dirty="0"/>
          </a:p>
        </p:txBody>
      </p:sp>
      <p:sp>
        <p:nvSpPr>
          <p:cNvPr id="18" name="Text 16"/>
          <p:cNvSpPr/>
          <p:nvPr/>
        </p:nvSpPr>
        <p:spPr>
          <a:xfrm>
            <a:off x="4498848" y="2194560"/>
            <a:ext cx="3182112"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CORE RESPONSIBILITIES</a:t>
            </a:r>
            <a:endParaRPr lang="en-US" sz="950" dirty="0"/>
          </a:p>
        </p:txBody>
      </p:sp>
      <p:sp>
        <p:nvSpPr>
          <p:cNvPr id="19" name="Text 17"/>
          <p:cNvSpPr/>
          <p:nvPr/>
        </p:nvSpPr>
        <p:spPr>
          <a:xfrm>
            <a:off x="4498848" y="2432304"/>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Conducts field verification and spot audits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Handles citizen appeals, grievances, and disputes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Ensures strict non-discrimination &amp; legal compliance</a:t>
            </a:r>
            <a:endParaRPr lang="en-US" sz="1000" dirty="0"/>
          </a:p>
        </p:txBody>
      </p:sp>
      <p:sp>
        <p:nvSpPr>
          <p:cNvPr id="20" name="Text 18"/>
          <p:cNvSpPr/>
          <p:nvPr/>
        </p:nvSpPr>
        <p:spPr>
          <a:xfrm>
            <a:off x="4498848" y="3776472"/>
            <a:ext cx="3182112" cy="201168"/>
          </a:xfrm>
          <a:prstGeom prst="rect">
            <a:avLst/>
          </a:prstGeom>
          <a:noFill/>
          <a:ln/>
        </p:spPr>
        <p:txBody>
          <a:bodyPr wrap="square" rtlCol="0" anchor="ctr"/>
          <a:lstStyle/>
          <a:p>
            <a:pPr marL="0" indent="0">
              <a:buNone/>
            </a:pPr>
            <a:r>
              <a:rPr lang="en-US" sz="950" b="1" kern="0" spc="100" dirty="0">
                <a:solidFill>
                  <a:srgbClr val="1E2761"/>
                </a:solidFill>
                <a:latin typeface="Calibri" pitchFamily="34" charset="0"/>
                <a:ea typeface="Calibri" pitchFamily="34" charset="-122"/>
                <a:cs typeface="Calibri" pitchFamily="34" charset="-120"/>
              </a:rPr>
              <a:t>ALGORITHMIC &amp; USER NEEDS</a:t>
            </a:r>
            <a:endParaRPr lang="en-US" sz="950" dirty="0"/>
          </a:p>
        </p:txBody>
      </p:sp>
      <p:sp>
        <p:nvSpPr>
          <p:cNvPr id="21" name="Text 19"/>
          <p:cNvSpPr/>
          <p:nvPr/>
        </p:nvSpPr>
        <p:spPr>
          <a:xfrm>
            <a:off x="4498848" y="4005072"/>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Actionable, plain-language explanations for denials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Zero black-box obscurity during legal discovery</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Monotonic feature response to prevent perverse incentives</a:t>
            </a:r>
            <a:endParaRPr lang="en-US" sz="1000" dirty="0"/>
          </a:p>
        </p:txBody>
      </p:sp>
      <p:sp>
        <p:nvSpPr>
          <p:cNvPr id="22" name="Shape 20"/>
          <p:cNvSpPr/>
          <p:nvPr/>
        </p:nvSpPr>
        <p:spPr>
          <a:xfrm>
            <a:off x="4453128" y="5376672"/>
            <a:ext cx="3273552" cy="365760"/>
          </a:xfrm>
          <a:prstGeom prst="roundRect">
            <a:avLst>
              <a:gd name="adj" fmla="val 12500"/>
            </a:avLst>
          </a:prstGeom>
          <a:solidFill>
            <a:srgbClr val="EEF3FE"/>
          </a:solidFill>
          <a:ln w="12700">
            <a:solidFill>
              <a:srgbClr val="CADCFC"/>
            </a:solidFill>
            <a:prstDash val="solid"/>
          </a:ln>
        </p:spPr>
      </p:sp>
      <p:sp>
        <p:nvSpPr>
          <p:cNvPr id="23" name="Text 21"/>
          <p:cNvSpPr/>
          <p:nvPr/>
        </p:nvSpPr>
        <p:spPr>
          <a:xfrm>
            <a:off x="4453128" y="5376672"/>
            <a:ext cx="3273552" cy="365760"/>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Primary Metric: Auditability &amp; Due Process Compliance</a:t>
            </a:r>
            <a:endParaRPr lang="en-US" sz="950" dirty="0"/>
          </a:p>
        </p:txBody>
      </p:sp>
      <p:sp>
        <p:nvSpPr>
          <p:cNvPr id="24" name="Shape 22"/>
          <p:cNvSpPr/>
          <p:nvPr/>
        </p:nvSpPr>
        <p:spPr>
          <a:xfrm>
            <a:off x="8083296" y="1353312"/>
            <a:ext cx="3547872" cy="4526280"/>
          </a:xfrm>
          <a:prstGeom prst="roundRect">
            <a:avLst>
              <a:gd name="adj" fmla="val 2062"/>
            </a:avLst>
          </a:prstGeom>
          <a:solidFill>
            <a:srgbClr val="FFFFFF"/>
          </a:solidFill>
          <a:ln w="12700">
            <a:solidFill>
              <a:srgbClr val="E4E8F0"/>
            </a:solidFill>
            <a:prstDash val="solid"/>
          </a:ln>
        </p:spPr>
      </p:sp>
      <p:sp>
        <p:nvSpPr>
          <p:cNvPr id="25" name="Shape 23"/>
          <p:cNvSpPr/>
          <p:nvPr/>
        </p:nvSpPr>
        <p:spPr>
          <a:xfrm>
            <a:off x="8083296" y="1353312"/>
            <a:ext cx="3547872" cy="749808"/>
          </a:xfrm>
          <a:prstGeom prst="roundRect">
            <a:avLst>
              <a:gd name="adj" fmla="val 9756"/>
            </a:avLst>
          </a:prstGeom>
          <a:solidFill>
            <a:srgbClr val="1E2761"/>
          </a:solidFill>
          <a:ln/>
        </p:spPr>
      </p:sp>
      <p:sp>
        <p:nvSpPr>
          <p:cNvPr id="26" name="Shape 24"/>
          <p:cNvSpPr/>
          <p:nvPr/>
        </p:nvSpPr>
        <p:spPr>
          <a:xfrm>
            <a:off x="8083296" y="1737360"/>
            <a:ext cx="3547872" cy="365760"/>
          </a:xfrm>
          <a:prstGeom prst="rect">
            <a:avLst/>
          </a:prstGeom>
          <a:solidFill>
            <a:srgbClr val="1E2761"/>
          </a:solidFill>
          <a:ln/>
        </p:spPr>
      </p:sp>
      <p:sp>
        <p:nvSpPr>
          <p:cNvPr id="27" name="Text 25"/>
          <p:cNvSpPr/>
          <p:nvPr/>
        </p:nvSpPr>
        <p:spPr>
          <a:xfrm>
            <a:off x="8220456" y="1399032"/>
            <a:ext cx="3273552" cy="658368"/>
          </a:xfrm>
          <a:prstGeom prst="rect">
            <a:avLst/>
          </a:prstGeom>
          <a:noFill/>
          <a:ln/>
        </p:spPr>
        <p:txBody>
          <a:bodyPr wrap="square" rtlCol="0" anchor="ctr"/>
          <a:lstStyle/>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3. Vulnerable Beneficiary</a:t>
            </a:r>
            <a:endParaRPr lang="en-US" sz="1250" dirty="0"/>
          </a:p>
          <a:p>
            <a:pPr marL="0" indent="0">
              <a:lnSpc>
                <a:spcPct val="102000"/>
              </a:lnSpc>
              <a:buNone/>
            </a:pPr>
            <a:r>
              <a:rPr lang="en-US" sz="1250" b="1" dirty="0">
                <a:solidFill>
                  <a:srgbClr val="FFFFFF"/>
                </a:solidFill>
                <a:latin typeface="Calibri" pitchFamily="34" charset="0"/>
                <a:ea typeface="Calibri" pitchFamily="34" charset="-122"/>
                <a:cs typeface="Calibri" pitchFamily="34" charset="-120"/>
              </a:rPr>
              <a:t>Households</a:t>
            </a:r>
            <a:endParaRPr lang="en-US" sz="1250" dirty="0"/>
          </a:p>
        </p:txBody>
      </p:sp>
      <p:sp>
        <p:nvSpPr>
          <p:cNvPr id="28" name="Text 26"/>
          <p:cNvSpPr/>
          <p:nvPr/>
        </p:nvSpPr>
        <p:spPr>
          <a:xfrm>
            <a:off x="8266176" y="2194560"/>
            <a:ext cx="3182112" cy="201168"/>
          </a:xfrm>
          <a:prstGeom prst="rect">
            <a:avLst/>
          </a:prstGeom>
          <a:noFill/>
          <a:ln/>
        </p:spPr>
        <p:txBody>
          <a:bodyPr wrap="square" rtlCol="0" anchor="ctr"/>
          <a:lstStyle/>
          <a:p>
            <a:pPr marL="0" indent="0">
              <a:buNone/>
            </a:pPr>
            <a:r>
              <a:rPr lang="en-US" sz="950" b="1" kern="0" spc="100" dirty="0">
                <a:solidFill>
                  <a:srgbClr val="D98E04"/>
                </a:solidFill>
                <a:latin typeface="Calibri" pitchFamily="34" charset="0"/>
                <a:ea typeface="Calibri" pitchFamily="34" charset="-122"/>
                <a:cs typeface="Calibri" pitchFamily="34" charset="-120"/>
              </a:rPr>
              <a:t>CORE RESPONSIBILITIES</a:t>
            </a:r>
            <a:endParaRPr lang="en-US" sz="950" dirty="0"/>
          </a:p>
        </p:txBody>
      </p:sp>
      <p:sp>
        <p:nvSpPr>
          <p:cNvPr id="29" name="Text 27"/>
          <p:cNvSpPr/>
          <p:nvPr/>
        </p:nvSpPr>
        <p:spPr>
          <a:xfrm>
            <a:off x="8266176" y="2432304"/>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Depend on cash transfers for basic survival</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Subject to algorithmic inclusion / exclusion decisions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Submit household survey data during enumerations</a:t>
            </a:r>
            <a:endParaRPr lang="en-US" sz="1000" dirty="0"/>
          </a:p>
        </p:txBody>
      </p:sp>
      <p:sp>
        <p:nvSpPr>
          <p:cNvPr id="30" name="Text 28"/>
          <p:cNvSpPr/>
          <p:nvPr/>
        </p:nvSpPr>
        <p:spPr>
          <a:xfrm>
            <a:off x="8266176" y="3776472"/>
            <a:ext cx="3182112" cy="201168"/>
          </a:xfrm>
          <a:prstGeom prst="rect">
            <a:avLst/>
          </a:prstGeom>
          <a:noFill/>
          <a:ln/>
        </p:spPr>
        <p:txBody>
          <a:bodyPr wrap="square" rtlCol="0" anchor="ctr"/>
          <a:lstStyle/>
          <a:p>
            <a:pPr marL="0" indent="0">
              <a:buNone/>
            </a:pPr>
            <a:r>
              <a:rPr lang="en-US" sz="950" b="1" kern="0" spc="100" dirty="0">
                <a:solidFill>
                  <a:srgbClr val="1E2761"/>
                </a:solidFill>
                <a:latin typeface="Calibri" pitchFamily="34" charset="0"/>
                <a:ea typeface="Calibri" pitchFamily="34" charset="-122"/>
                <a:cs typeface="Calibri" pitchFamily="34" charset="-120"/>
              </a:rPr>
              <a:t>ALGORITHMIC &amp; USER NEEDS</a:t>
            </a:r>
            <a:endParaRPr lang="en-US" sz="950" dirty="0"/>
          </a:p>
        </p:txBody>
      </p:sp>
      <p:sp>
        <p:nvSpPr>
          <p:cNvPr id="31" name="Text 29"/>
          <p:cNvSpPr/>
          <p:nvPr/>
        </p:nvSpPr>
        <p:spPr>
          <a:xfrm>
            <a:off x="8266176" y="4005072"/>
            <a:ext cx="3182112" cy="1234440"/>
          </a:xfrm>
          <a:prstGeom prst="rect">
            <a:avLst/>
          </a:prstGeom>
          <a:noFill/>
          <a:ln/>
        </p:spPr>
        <p:txBody>
          <a:bodyPr wrap="square" rtlCol="0" anchor="t"/>
          <a:lstStyle/>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Protection against wrongful exclusion (False Negatives)</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Counterfactual Recourse: exact steps required to qualify</a:t>
            </a:r>
            <a:endParaRPr lang="en-US" sz="1000" dirty="0"/>
          </a:p>
          <a:p>
            <a:pPr marL="342900" indent="-342900">
              <a:lnSpc>
                <a:spcPct val="105000"/>
              </a:lnSpc>
              <a:spcAft>
                <a:spcPts val="400"/>
              </a:spcAft>
              <a:buSzPct val="100000"/>
              <a:buChar char="•"/>
            </a:pPr>
            <a:r>
              <a:rPr lang="en-US" sz="1000" dirty="0">
                <a:solidFill>
                  <a:srgbClr val="1A2140"/>
                </a:solidFill>
                <a:latin typeface="Calibri" pitchFamily="34" charset="0"/>
                <a:ea typeface="Calibri" pitchFamily="34" charset="-122"/>
                <a:cs typeface="Calibri" pitchFamily="34" charset="-120"/>
              </a:rPr>
              <a:t>Fair, equitable treatment across regions and demographics</a:t>
            </a:r>
            <a:endParaRPr lang="en-US" sz="1000" dirty="0"/>
          </a:p>
        </p:txBody>
      </p:sp>
      <p:sp>
        <p:nvSpPr>
          <p:cNvPr id="32" name="Shape 30"/>
          <p:cNvSpPr/>
          <p:nvPr/>
        </p:nvSpPr>
        <p:spPr>
          <a:xfrm>
            <a:off x="8220456" y="5376672"/>
            <a:ext cx="3273552" cy="365760"/>
          </a:xfrm>
          <a:prstGeom prst="roundRect">
            <a:avLst>
              <a:gd name="adj" fmla="val 12500"/>
            </a:avLst>
          </a:prstGeom>
          <a:solidFill>
            <a:srgbClr val="EEF3FE"/>
          </a:solidFill>
          <a:ln w="12700">
            <a:solidFill>
              <a:srgbClr val="CADCFC"/>
            </a:solidFill>
            <a:prstDash val="solid"/>
          </a:ln>
        </p:spPr>
      </p:sp>
      <p:sp>
        <p:nvSpPr>
          <p:cNvPr id="33" name="Text 31"/>
          <p:cNvSpPr/>
          <p:nvPr/>
        </p:nvSpPr>
        <p:spPr>
          <a:xfrm>
            <a:off x="8220456" y="5376672"/>
            <a:ext cx="3273552" cy="365760"/>
          </a:xfrm>
          <a:prstGeom prst="rect">
            <a:avLst/>
          </a:prstGeom>
          <a:noFill/>
          <a:ln/>
        </p:spPr>
        <p:txBody>
          <a:bodyPr wrap="square"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Primary Metric: Zero Wrongful Exclusion &amp; Clear Recourse</a:t>
            </a:r>
            <a:endParaRPr lang="en-US" sz="950" dirty="0"/>
          </a:p>
        </p:txBody>
      </p:sp>
      <p:sp>
        <p:nvSpPr>
          <p:cNvPr id="34" name="Text 3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6</a:t>
            </a:r>
            <a:endParaRPr lang="en-US" sz="950" dirty="0"/>
          </a:p>
        </p:txBody>
      </p:sp>
      <p:sp>
        <p:nvSpPr>
          <p:cNvPr id="35" name="Text 3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WHY ACCURACY ISN'T ENOUGH</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Asymmetric Welfare Costs &amp; Loss Formulation</a:t>
            </a:r>
            <a:endParaRPr lang="en-US" sz="2500" dirty="0"/>
          </a:p>
        </p:txBody>
      </p:sp>
      <p:sp>
        <p:nvSpPr>
          <p:cNvPr id="4" name="Shape 2"/>
          <p:cNvSpPr/>
          <p:nvPr/>
        </p:nvSpPr>
        <p:spPr>
          <a:xfrm>
            <a:off x="548640" y="1353312"/>
            <a:ext cx="5349240" cy="2194560"/>
          </a:xfrm>
          <a:prstGeom prst="roundRect">
            <a:avLst>
              <a:gd name="adj" fmla="val 3333"/>
            </a:avLst>
          </a:prstGeom>
          <a:solidFill>
            <a:srgbClr val="FBEBCC"/>
          </a:solidFill>
          <a:ln w="12700">
            <a:solidFill>
              <a:srgbClr val="D98E04"/>
            </a:solidFill>
            <a:prstDash val="solid"/>
          </a:ln>
          <a:effectLst>
            <a:outerShdw blurRad="76200" dist="25400" dir="5400000" algn="bl" rotWithShape="0">
              <a:srgbClr val="8A8FA3">
                <a:alpha val="25000"/>
              </a:srgbClr>
            </a:outerShdw>
          </a:effectLst>
        </p:spPr>
      </p:sp>
      <p:sp>
        <p:nvSpPr>
          <p:cNvPr id="5" name="Text 3"/>
          <p:cNvSpPr/>
          <p:nvPr/>
        </p:nvSpPr>
        <p:spPr>
          <a:xfrm>
            <a:off x="777240" y="1463040"/>
            <a:ext cx="4892040" cy="329184"/>
          </a:xfrm>
          <a:prstGeom prst="rect">
            <a:avLst/>
          </a:prstGeom>
          <a:noFill/>
          <a:ln/>
        </p:spPr>
        <p:txBody>
          <a:bodyPr wrap="square" rtlCol="0" anchor="ctr"/>
          <a:lstStyle/>
          <a:p>
            <a:pPr marL="0" indent="0">
              <a:buNone/>
            </a:pPr>
            <a:r>
              <a:rPr lang="en-US" sz="1300" b="1" dirty="0">
                <a:solidFill>
                  <a:srgbClr val="8A5A00"/>
                </a:solidFill>
                <a:latin typeface="Calibri" pitchFamily="34" charset="0"/>
                <a:ea typeface="Calibri" pitchFamily="34" charset="-122"/>
                <a:cs typeface="Calibri" pitchFamily="34" charset="-120"/>
              </a:rPr>
              <a:t>Exclusion Error (False Negative — Denying Aid to the Truly Poor)</a:t>
            </a:r>
            <a:endParaRPr lang="en-US" sz="1300" dirty="0"/>
          </a:p>
        </p:txBody>
      </p:sp>
      <p:sp>
        <p:nvSpPr>
          <p:cNvPr id="6" name="Text 4"/>
          <p:cNvSpPr/>
          <p:nvPr/>
        </p:nvSpPr>
        <p:spPr>
          <a:xfrm>
            <a:off x="777240" y="1810512"/>
            <a:ext cx="4892040" cy="438912"/>
          </a:xfrm>
          <a:prstGeom prst="rect">
            <a:avLst/>
          </a:prstGeom>
          <a:noFill/>
          <a:ln/>
        </p:spPr>
        <p:txBody>
          <a:bodyPr wrap="square" rtlCol="0" anchor="ctr"/>
          <a:lstStyle/>
          <a:p>
            <a:pPr marL="0" indent="0">
              <a:buNone/>
            </a:pPr>
            <a:r>
              <a:rPr lang="en-US" sz="1100" dirty="0">
                <a:solidFill>
                  <a:srgbClr val="1A2140"/>
                </a:solidFill>
                <a:latin typeface="Calibri" pitchFamily="34" charset="0"/>
                <a:ea typeface="Calibri" pitchFamily="34" charset="-122"/>
                <a:cs typeface="Calibri" pitchFamily="34" charset="-120"/>
              </a:rPr>
              <a:t>A truly destitute household is classified as “non-poor” and denied life-saving cash assistance.</a:t>
            </a:r>
            <a:endParaRPr lang="en-US" sz="1100" dirty="0"/>
          </a:p>
        </p:txBody>
      </p:sp>
      <p:sp>
        <p:nvSpPr>
          <p:cNvPr id="7" name="Text 5"/>
          <p:cNvSpPr/>
          <p:nvPr/>
        </p:nvSpPr>
        <p:spPr>
          <a:xfrm>
            <a:off x="777240" y="2313432"/>
            <a:ext cx="4892040" cy="1097280"/>
          </a:xfrm>
          <a:prstGeom prst="rect">
            <a:avLst/>
          </a:prstGeom>
          <a:noFill/>
          <a:ln/>
        </p:spPr>
        <p:txBody>
          <a:bodyPr wrap="square" rtlCol="0" anchor="t"/>
          <a:lstStyle/>
          <a:p>
            <a:pPr marL="0" indent="0">
              <a:lnSpc>
                <a:spcPct val="110000"/>
              </a:lnSpc>
              <a:buNone/>
            </a:pPr>
            <a:r>
              <a:rPr lang="en-US" sz="1100" b="1" i="1" dirty="0">
                <a:solidFill>
                  <a:srgbClr val="8A5A00"/>
                </a:solidFill>
                <a:latin typeface="Calibri" pitchFamily="34" charset="0"/>
                <a:ea typeface="Calibri" pitchFamily="34" charset="-122"/>
                <a:cs typeface="Calibri" pitchFamily="34" charset="-120"/>
              </a:rPr>
              <a:t>HUMAN WELFARE IMPACT: Severe child malnutrition, loss of primary education, inability to cope with health shocks, and permanent intergenerational poverty traps.</a:t>
            </a:r>
            <a:endParaRPr lang="en-US" sz="1100" dirty="0"/>
          </a:p>
        </p:txBody>
      </p:sp>
      <p:sp>
        <p:nvSpPr>
          <p:cNvPr id="8" name="Shape 6"/>
          <p:cNvSpPr/>
          <p:nvPr/>
        </p:nvSpPr>
        <p:spPr>
          <a:xfrm>
            <a:off x="6172200" y="1353312"/>
            <a:ext cx="5349240" cy="2194560"/>
          </a:xfrm>
          <a:prstGeom prst="roundRect">
            <a:avLst>
              <a:gd name="adj" fmla="val 3333"/>
            </a:avLst>
          </a:prstGeom>
          <a:solidFill>
            <a:srgbClr val="EEF3FE"/>
          </a:solidFill>
          <a:ln w="12700">
            <a:solidFill>
              <a:srgbClr val="CADCFC"/>
            </a:solidFill>
            <a:prstDash val="solid"/>
          </a:ln>
        </p:spPr>
      </p:sp>
      <p:sp>
        <p:nvSpPr>
          <p:cNvPr id="9" name="Text 7"/>
          <p:cNvSpPr/>
          <p:nvPr/>
        </p:nvSpPr>
        <p:spPr>
          <a:xfrm>
            <a:off x="6400800" y="1463040"/>
            <a:ext cx="4892040" cy="329184"/>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Inclusion Error (False Positive — Aid Given to the Non-Poor)</a:t>
            </a:r>
            <a:endParaRPr lang="en-US" sz="1300" dirty="0"/>
          </a:p>
        </p:txBody>
      </p:sp>
      <p:sp>
        <p:nvSpPr>
          <p:cNvPr id="10" name="Text 8"/>
          <p:cNvSpPr/>
          <p:nvPr/>
        </p:nvSpPr>
        <p:spPr>
          <a:xfrm>
            <a:off x="6400800" y="1810512"/>
            <a:ext cx="4892040" cy="438912"/>
          </a:xfrm>
          <a:prstGeom prst="rect">
            <a:avLst/>
          </a:prstGeom>
          <a:noFill/>
          <a:ln/>
        </p:spPr>
        <p:txBody>
          <a:bodyPr wrap="square" rtlCol="0" anchor="ctr"/>
          <a:lstStyle/>
          <a:p>
            <a:pPr marL="0" indent="0">
              <a:buNone/>
            </a:pPr>
            <a:r>
              <a:rPr lang="en-US" sz="1100" dirty="0">
                <a:solidFill>
                  <a:srgbClr val="1A2140"/>
                </a:solidFill>
                <a:latin typeface="Calibri" pitchFamily="34" charset="0"/>
                <a:ea typeface="Calibri" pitchFamily="34" charset="-122"/>
                <a:cs typeface="Calibri" pitchFamily="34" charset="-120"/>
              </a:rPr>
              <a:t>A non-poor household receives cash assistance it did not strictly qualify for under the registry cutoff.</a:t>
            </a:r>
            <a:endParaRPr lang="en-US" sz="1100" dirty="0"/>
          </a:p>
        </p:txBody>
      </p:sp>
      <p:sp>
        <p:nvSpPr>
          <p:cNvPr id="11" name="Text 9"/>
          <p:cNvSpPr/>
          <p:nvPr/>
        </p:nvSpPr>
        <p:spPr>
          <a:xfrm>
            <a:off x="6400800" y="2313432"/>
            <a:ext cx="4892040" cy="1097280"/>
          </a:xfrm>
          <a:prstGeom prst="rect">
            <a:avLst/>
          </a:prstGeom>
          <a:noFill/>
          <a:ln/>
        </p:spPr>
        <p:txBody>
          <a:bodyPr wrap="square" rtlCol="0" anchor="t"/>
          <a:lstStyle/>
          <a:p>
            <a:pPr marL="0" indent="0">
              <a:lnSpc>
                <a:spcPct val="110000"/>
              </a:lnSpc>
              <a:buNone/>
            </a:pPr>
            <a:r>
              <a:rPr lang="en-US" sz="1100" b="1" i="1" dirty="0">
                <a:solidFill>
                  <a:srgbClr val="1E2761"/>
                </a:solidFill>
                <a:latin typeface="Calibri" pitchFamily="34" charset="0"/>
                <a:ea typeface="Calibri" pitchFamily="34" charset="-122"/>
                <a:cs typeface="Calibri" pitchFamily="34" charset="-120"/>
              </a:rPr>
              <a:t>FISCAL &amp; ECONOMIC IMPACT: Moderate public budget dilution and fiscal leakage, but zero catastrophic human harm or mortality risks.</a:t>
            </a:r>
            <a:endParaRPr lang="en-US" sz="1100" dirty="0"/>
          </a:p>
        </p:txBody>
      </p:sp>
      <p:sp>
        <p:nvSpPr>
          <p:cNvPr id="12" name="Shape 10"/>
          <p:cNvSpPr/>
          <p:nvPr/>
        </p:nvSpPr>
        <p:spPr>
          <a:xfrm>
            <a:off x="548640" y="3749040"/>
            <a:ext cx="11094415" cy="1143000"/>
          </a:xfrm>
          <a:prstGeom prst="roundRect">
            <a:avLst>
              <a:gd name="adj" fmla="val 6400"/>
            </a:avLst>
          </a:prstGeom>
          <a:solidFill>
            <a:srgbClr val="141A45"/>
          </a:solidFill>
          <a:ln/>
        </p:spPr>
      </p:sp>
      <p:sp>
        <p:nvSpPr>
          <p:cNvPr id="13" name="Text 11"/>
          <p:cNvSpPr/>
          <p:nvPr/>
        </p:nvSpPr>
        <p:spPr>
          <a:xfrm>
            <a:off x="822960" y="3840480"/>
            <a:ext cx="10545775" cy="384048"/>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Total Policy Loss  =  ( C_exclusion  ×  False Negatives )  +  ( C_inclusion  ×  False Positives )</a:t>
            </a:r>
            <a:endParaRPr lang="en-US" sz="1700" dirty="0"/>
          </a:p>
        </p:txBody>
      </p:sp>
      <p:sp>
        <p:nvSpPr>
          <p:cNvPr id="14" name="Text 12"/>
          <p:cNvSpPr/>
          <p:nvPr/>
        </p:nvSpPr>
        <p:spPr>
          <a:xfrm>
            <a:off x="822960" y="4279392"/>
            <a:ext cx="10545775" cy="530352"/>
          </a:xfrm>
          <a:prstGeom prst="rect">
            <a:avLst/>
          </a:prstGeom>
          <a:noFill/>
          <a:ln/>
        </p:spPr>
        <p:txBody>
          <a:bodyPr wrap="square" rtlCol="0" anchor="ctr"/>
          <a:lstStyle/>
          <a:p>
            <a:pPr marL="0" indent="0" algn="ctr">
              <a:lnSpc>
                <a:spcPct val="108000"/>
              </a:lnSpc>
              <a:buNone/>
            </a:pPr>
            <a:r>
              <a:rPr lang="en-US" sz="1100" i="1" dirty="0">
                <a:solidFill>
                  <a:srgbClr val="CADCFC"/>
                </a:solidFill>
                <a:latin typeface="Calibri" pitchFamily="34" charset="0"/>
                <a:ea typeface="Calibri" pitchFamily="34" charset="-122"/>
                <a:cs typeface="Calibri" pitchFamily="34" charset="-120"/>
              </a:rPr>
              <a:t>Social policy makers explicitly calibrate the asymmetric cost ratio (C_exclusion : C_inclusion = 3:1 to 10:1). Our framework sweeps decision probability thresholds p ∈ [0.1, 0.9] to minimize total societal loss, rather than adopting a naive, dangerous p = 0.5 default.</a:t>
            </a:r>
            <a:endParaRPr lang="en-US" sz="1100" dirty="0"/>
          </a:p>
        </p:txBody>
      </p:sp>
      <p:sp>
        <p:nvSpPr>
          <p:cNvPr id="15" name="Shape 13"/>
          <p:cNvSpPr/>
          <p:nvPr/>
        </p:nvSpPr>
        <p:spPr>
          <a:xfrm>
            <a:off x="548640" y="5056632"/>
            <a:ext cx="11094415" cy="749808"/>
          </a:xfrm>
          <a:prstGeom prst="roundRect">
            <a:avLst>
              <a:gd name="adj" fmla="val 9756"/>
            </a:avLst>
          </a:prstGeom>
          <a:solidFill>
            <a:srgbClr val="FFFFFF"/>
          </a:solidFill>
          <a:ln w="12700">
            <a:solidFill>
              <a:srgbClr val="E4E8F0"/>
            </a:solidFill>
            <a:prstDash val="solid"/>
          </a:ln>
        </p:spPr>
      </p:sp>
      <p:sp>
        <p:nvSpPr>
          <p:cNvPr id="16" name="Text 14"/>
          <p:cNvSpPr/>
          <p:nvPr/>
        </p:nvSpPr>
        <p:spPr>
          <a:xfrm>
            <a:off x="777240" y="5056632"/>
            <a:ext cx="10637215" cy="749808"/>
          </a:xfrm>
          <a:prstGeom prst="rect">
            <a:avLst/>
          </a:prstGeom>
          <a:noFill/>
          <a:ln/>
        </p:spPr>
        <p:txBody>
          <a:bodyPr wrap="square" rtlCol="0" anchor="ctr"/>
          <a:lstStyle/>
          <a:p>
            <a:pPr marL="0" indent="0">
              <a:lnSpc>
                <a:spcPct val="108000"/>
              </a:lnSpc>
              <a:buNone/>
            </a:pPr>
            <a:r>
              <a:rPr lang="en-US" sz="1100" b="1" dirty="0">
                <a:solidFill>
                  <a:srgbClr val="1E2761"/>
                </a:solidFill>
                <a:latin typeface="Calibri" pitchFamily="34" charset="0"/>
                <a:ea typeface="Calibri" pitchFamily="34" charset="-122"/>
                <a:cs typeface="Calibri" pitchFamily="34" charset="-120"/>
              </a:rPr>
              <a:t>The Accuracy Trap in Imbalanced Surveys:  </a:t>
            </a:r>
            <a:r>
              <a:rPr lang="en-US" sz="1100" dirty="0">
                <a:solidFill>
                  <a:srgbClr val="1A2140"/>
                </a:solidFill>
                <a:latin typeface="Calibri" pitchFamily="34" charset="0"/>
                <a:ea typeface="Calibri" pitchFamily="34" charset="-122"/>
                <a:cs typeface="Calibri" pitchFamily="34" charset="-120"/>
              </a:rPr>
              <a:t>In low-poverty regions (or severely imbalanced clusters), predicting 'non-poor' for 100% of households yields deceptive 80–90% accuracy while failing 100% of destitute families. Our framework strictly enforces holistic evaluation: (Mean Log Loss, Minority F1, Recall, Policy Cost) — accuracy is never used in isolation.</a:t>
            </a:r>
            <a:endParaRPr lang="en-US" sz="1100" dirty="0"/>
          </a:p>
        </p:txBody>
      </p:sp>
      <p:sp>
        <p:nvSpPr>
          <p:cNvPr id="17" name="Text 15"/>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7</a:t>
            </a:r>
            <a:endParaRPr lang="en-US" sz="950" dirty="0"/>
          </a:p>
        </p:txBody>
      </p:sp>
      <p:sp>
        <p:nvSpPr>
          <p:cNvPr id="18" name="Text 16"/>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DATA FOUNDATION</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EHCVM 2021 — Multi-Country Living Standards Survey</a:t>
            </a:r>
            <a:endParaRPr lang="en-US" sz="2500" dirty="0"/>
          </a:p>
        </p:txBody>
      </p:sp>
      <p:sp>
        <p:nvSpPr>
          <p:cNvPr id="4" name="Shape 2"/>
          <p:cNvSpPr/>
          <p:nvPr/>
        </p:nvSpPr>
        <p:spPr>
          <a:xfrm>
            <a:off x="548640" y="1353312"/>
            <a:ext cx="5852160" cy="3337560"/>
          </a:xfrm>
          <a:prstGeom prst="roundRect">
            <a:avLst>
              <a:gd name="adj" fmla="val 2192"/>
            </a:avLst>
          </a:prstGeom>
          <a:solidFill>
            <a:srgbClr val="EEF3FE"/>
          </a:solidFill>
          <a:ln w="12700">
            <a:solidFill>
              <a:srgbClr val="E4E8F0"/>
            </a:solidFill>
            <a:prstDash val="solid"/>
          </a:ln>
        </p:spPr>
      </p:sp>
      <p:sp>
        <p:nvSpPr>
          <p:cNvPr id="5" name="Text 3"/>
          <p:cNvSpPr/>
          <p:nvPr/>
        </p:nvSpPr>
        <p:spPr>
          <a:xfrm>
            <a:off x="777240" y="1517904"/>
            <a:ext cx="539496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EHCVM 2021 (Enquête Harmonisée)</a:t>
            </a:r>
            <a:endParaRPr lang="en-US" sz="1450" dirty="0"/>
          </a:p>
        </p:txBody>
      </p:sp>
      <p:sp>
        <p:nvSpPr>
          <p:cNvPr id="6" name="Text 4"/>
          <p:cNvSpPr/>
          <p:nvPr/>
        </p:nvSpPr>
        <p:spPr>
          <a:xfrm>
            <a:off x="777240" y="1856232"/>
            <a:ext cx="5394960" cy="256032"/>
          </a:xfrm>
          <a:prstGeom prst="rect">
            <a:avLst/>
          </a:prstGeom>
          <a:noFill/>
          <a:ln/>
        </p:spPr>
        <p:txBody>
          <a:bodyPr wrap="square" rtlCol="0" anchor="ctr"/>
          <a:lstStyle/>
          <a:p>
            <a:pPr marL="0" indent="0">
              <a:buNone/>
            </a:pPr>
            <a:r>
              <a:rPr lang="en-US" sz="1000" i="1" dirty="0">
                <a:solidFill>
                  <a:srgbClr val="667085"/>
                </a:solidFill>
                <a:latin typeface="Calibri" pitchFamily="34" charset="0"/>
                <a:ea typeface="Calibri" pitchFamily="34" charset="-122"/>
                <a:cs typeface="Calibri" pitchFamily="34" charset="-120"/>
              </a:rPr>
              <a:t>Harmonised Living Conditions Survey · World Bank / WAEMU</a:t>
            </a:r>
            <a:endParaRPr lang="en-US" sz="1000" dirty="0"/>
          </a:p>
        </p:txBody>
      </p:sp>
      <p:sp>
        <p:nvSpPr>
          <p:cNvPr id="7" name="Text 5"/>
          <p:cNvSpPr/>
          <p:nvPr/>
        </p:nvSpPr>
        <p:spPr>
          <a:xfrm>
            <a:off x="777240" y="2176272"/>
            <a:ext cx="5394960" cy="256032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A2140"/>
                </a:solidFill>
                <a:latin typeface="Calibri" pitchFamily="34" charset="0"/>
                <a:ea typeface="Calibri" pitchFamily="34" charset="-122"/>
                <a:cs typeface="Calibri" pitchFamily="34" charset="-120"/>
              </a:rPr>
              <a:t>Unified Multi-Country Instrument: Standardized survey fielded simultaneously across 8 West African Economic and Monetary Union (WAEMU) member states.</a:t>
            </a:r>
            <a:endParaRPr lang="en-US" sz="1050" dirty="0"/>
          </a:p>
          <a:p>
            <a:pPr marL="342900" indent="-342900">
              <a:lnSpc>
                <a:spcPct val="108000"/>
              </a:lnSpc>
              <a:spcAft>
                <a:spcPts val="600"/>
              </a:spcAft>
              <a:buSzPct val="100000"/>
              <a:buChar char="•"/>
            </a:pPr>
            <a:r>
              <a:rPr lang="en-US" sz="1050" dirty="0">
                <a:solidFill>
                  <a:srgbClr val="1A2140"/>
                </a:solidFill>
                <a:latin typeface="Calibri" pitchFamily="34" charset="0"/>
                <a:ea typeface="Calibri" pitchFamily="34" charset="-122"/>
                <a:cs typeface="Calibri" pitchFamily="34" charset="-120"/>
              </a:rPr>
              <a:t>Three Relational Tiers: Ingests household-level characteristics (dwelling, WASH, assets), individual member records (education, literacy, health), and consumption metrics.</a:t>
            </a:r>
            <a:endParaRPr lang="en-US" sz="1050" dirty="0"/>
          </a:p>
          <a:p>
            <a:pPr marL="342900" indent="-342900">
              <a:lnSpc>
                <a:spcPct val="108000"/>
              </a:lnSpc>
              <a:spcAft>
                <a:spcPts val="600"/>
              </a:spcAft>
              <a:buSzPct val="100000"/>
              <a:buChar char="•"/>
            </a:pPr>
            <a:r>
              <a:rPr lang="en-US" sz="1050" dirty="0">
                <a:solidFill>
                  <a:srgbClr val="1A2140"/>
                </a:solidFill>
                <a:latin typeface="Calibri" pitchFamily="34" charset="0"/>
                <a:ea typeface="Calibri" pitchFamily="34" charset="-122"/>
                <a:cs typeface="Calibri" pitchFamily="34" charset="-120"/>
              </a:rPr>
              <a:t>Official Welfare Metric: Per-capita annual consumption expenditure (pcexp) evaluated against the national poverty threshold (zref). Household is classified as poor (y=1) if pcexp &lt; zref.</a:t>
            </a:r>
            <a:endParaRPr lang="en-US" sz="1050" dirty="0"/>
          </a:p>
          <a:p>
            <a:pPr marL="342900" indent="-342900">
              <a:lnSpc>
                <a:spcPct val="108000"/>
              </a:lnSpc>
              <a:spcAft>
                <a:spcPts val="600"/>
              </a:spcAft>
              <a:buSzPct val="100000"/>
              <a:buChar char="•"/>
            </a:pPr>
            <a:r>
              <a:rPr lang="en-US" sz="1050" dirty="0">
                <a:solidFill>
                  <a:srgbClr val="1A2140"/>
                </a:solidFill>
                <a:latin typeface="Calibri" pitchFamily="34" charset="0"/>
                <a:ea typeface="Calibri" pitchFamily="34" charset="-122"/>
                <a:cs typeface="Calibri" pitchFamily="34" charset="-120"/>
              </a:rPr>
              <a:t>Harmonised Feature Semantics: 38 common household fields, 34 common welfare fields, and 51 individual fields across all 8 countries — enabling authentic cross-border transferability.</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02552" y="1353312"/>
          <a:ext cx="4940503" cy="3273552"/>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5783">
                  <a:extLst>
                    <a:ext uri="{9D8B030D-6E8A-4147-A177-3AD203B41FA5}">
                      <a16:colId xmlns:a16="http://schemas.microsoft.com/office/drawing/2014/main" val="20002"/>
                    </a:ext>
                  </a:extLst>
                </a:gridCol>
              </a:tblGrid>
              <a:tr h="347472">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Country</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Households</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Poverty Rate</a:t>
                      </a:r>
                      <a:endParaRPr lang="en-US" sz="105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Benin (BEN)</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8,032</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Burkina Faso (BFA)</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3,227</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30.1%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Côte d'Ivoire (CIV)</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12,965</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35.7%</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Guinea-Bissau (GNB)</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5,351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A82D2D"/>
                          </a:solidFill>
                          <a:latin typeface="Calibri" pitchFamily="34" charset="0"/>
                          <a:ea typeface="Calibri" pitchFamily="34" charset="-122"/>
                          <a:cs typeface="Calibri" pitchFamily="34" charset="-120"/>
                        </a:rPr>
                        <a:t>41.7%</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Mali (MLI)</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6,143</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30.8%</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Niger (NER)</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6,622</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26.8%</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Senegal (SEN)</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7,120</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33.1%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Togo (TGO)</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6,462</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39.1%</a:t>
                      </a:r>
                      <a:endParaRPr lang="en-US" sz="1000" dirty="0">
                        <a:latin typeface="Calibri" charset="0"/>
                        <a:ea typeface="Calibri" charset="0"/>
                        <a:cs typeface="Calibri" charset="0"/>
                      </a:endParaRPr>
                    </a:p>
                  </a:txBody>
                  <a:tcPr anchor="ctr">
                    <a:lnL w="9525" cap="flat" cmpd="sng" algn="ctr">
                      <a:solidFill>
                        <a:srgbClr val="E4E8F0"/>
                      </a:solidFill>
                      <a:prstDash val="solid"/>
                      <a:round/>
                      <a:headEnd type="none" w="med" len="med"/>
                      <a:tailEnd type="none" w="med" len="med"/>
                    </a:lnL>
                    <a:lnR w="9525" cap="flat" cmpd="sng" algn="ctr">
                      <a:solidFill>
                        <a:srgbClr val="E4E8F0"/>
                      </a:solidFill>
                      <a:prstDash val="solid"/>
                      <a:round/>
                      <a:headEnd type="none" w="med" len="med"/>
                      <a:tailEnd type="none" w="med" len="med"/>
                    </a:lnR>
                    <a:lnT w="9525" cap="flat" cmpd="sng" algn="ctr">
                      <a:solidFill>
                        <a:srgbClr val="E4E8F0"/>
                      </a:solidFill>
                      <a:prstDash val="solid"/>
                      <a:round/>
                      <a:headEnd type="none" w="med" len="med"/>
                      <a:tailEnd type="none" w="med" len="med"/>
                    </a:lnT>
                    <a:lnB w="9525"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Shape 6"/>
          <p:cNvSpPr/>
          <p:nvPr/>
        </p:nvSpPr>
        <p:spPr>
          <a:xfrm>
            <a:off x="548640" y="4892040"/>
            <a:ext cx="11094415" cy="1325880"/>
          </a:xfrm>
          <a:prstGeom prst="roundRect">
            <a:avLst>
              <a:gd name="adj" fmla="val 5517"/>
            </a:avLst>
          </a:prstGeom>
          <a:solidFill>
            <a:srgbClr val="FBEBCC"/>
          </a:solidFill>
          <a:ln w="12700">
            <a:solidFill>
              <a:srgbClr val="D98E04"/>
            </a:solidFill>
            <a:prstDash val="solid"/>
          </a:ln>
        </p:spPr>
      </p:sp>
      <p:sp>
        <p:nvSpPr>
          <p:cNvPr id="10" name="Text 7"/>
          <p:cNvSpPr/>
          <p:nvPr/>
        </p:nvSpPr>
        <p:spPr>
          <a:xfrm>
            <a:off x="822960" y="5001768"/>
            <a:ext cx="10545775" cy="292608"/>
          </a:xfrm>
          <a:prstGeom prst="rect">
            <a:avLst/>
          </a:prstGeom>
          <a:noFill/>
          <a:ln/>
        </p:spPr>
        <p:txBody>
          <a:bodyPr wrap="square" rtlCol="0" anchor="ctr"/>
          <a:lstStyle/>
          <a:p>
            <a:pPr marL="0" indent="0">
              <a:buNone/>
            </a:pPr>
            <a:r>
              <a:rPr lang="en-US" sz="1300" b="1" dirty="0">
                <a:solidFill>
                  <a:srgbClr val="8A5A00"/>
                </a:solidFill>
                <a:latin typeface="Calibri" pitchFamily="34" charset="0"/>
                <a:ea typeface="Calibri" pitchFamily="34" charset="-122"/>
                <a:cs typeface="Calibri" pitchFamily="34" charset="-120"/>
              </a:rPr>
              <a:t>Key Structural Advantage Over Disjoint Kaggle/Toy Datasets</a:t>
            </a:r>
            <a:endParaRPr lang="en-US" sz="1300" dirty="0"/>
          </a:p>
        </p:txBody>
      </p:sp>
      <p:sp>
        <p:nvSpPr>
          <p:cNvPr id="11" name="Text 8"/>
          <p:cNvSpPr/>
          <p:nvPr/>
        </p:nvSpPr>
        <p:spPr>
          <a:xfrm>
            <a:off x="822960" y="5330952"/>
            <a:ext cx="10545775" cy="777240"/>
          </a:xfrm>
          <a:prstGeom prst="rect">
            <a:avLst/>
          </a:prstGeom>
          <a:noFill/>
          <a:ln/>
        </p:spPr>
        <p:txBody>
          <a:bodyPr wrap="square" rtlCol="0" anchor="t"/>
          <a:lstStyle/>
          <a:p>
            <a:pPr marL="0" indent="0">
              <a:lnSpc>
                <a:spcPct val="110000"/>
              </a:lnSpc>
              <a:buNone/>
            </a:pPr>
            <a:r>
              <a:rPr lang="en-US" sz="1100" dirty="0">
                <a:solidFill>
                  <a:srgbClr val="5C3E00"/>
                </a:solidFill>
                <a:latin typeface="Calibri" pitchFamily="34" charset="0"/>
                <a:ea typeface="Calibri" pitchFamily="34" charset="-122"/>
                <a:cs typeface="Calibri" pitchFamily="34" charset="-120"/>
              </a:rPr>
              <a:t>Prior poverty competition datasets (e.g. Kaggle World Bank A/B/C) used anonymized, synthetically scrambled feature sets with zero cross-country column overlap, forcing isolated per-country models. EHCVM 2021 provides genuine multi-country survey harmonisation with identical physical definitions for dwelling, assets, education, and shocks — laying the foundation for true cross-country regime transferability.</a:t>
            </a:r>
            <a:endParaRPr lang="en-US" sz="1100" dirty="0"/>
          </a:p>
        </p:txBody>
      </p:sp>
      <p:sp>
        <p:nvSpPr>
          <p:cNvPr id="12" name="Text 9"/>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8</a:t>
            </a:r>
            <a:endParaRPr lang="en-US" sz="950" dirty="0"/>
          </a:p>
        </p:txBody>
      </p:sp>
      <p:sp>
        <p:nvSpPr>
          <p:cNvPr id="13" name="Text 10"/>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LITERATURE SURVEY · PART 1</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Machine Learning &amp; Gradient Boosting for Socioeconomic Prediction</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4937760"/>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329184">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Author(s) &amp; Year</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Domain &amp; Context</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Key Empirical Findings</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Methodological Implication for DSCI-28</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Mehta, Srivastava &amp; Dhote (2025)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Poverty prediction in India using survey &amp; geospatial data (night lights, NDVI)</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Random Forest performed best among models; proved value of nonlinear ensembles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Single-country &amp; geospatial dependence limits transfer; motivates household-only multi-country design</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1"/>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Garbero &amp; Letta (2022)</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Household resilience prediction across 10 countries (withheld country test)</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Accuracy &gt;72%, sensitivity ~80%; Random Forest best; higher complexity did NOT help</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Challenges assumed model complexity; establishes gold standard for withheld-country external validity</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2"/>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Scandurra et al. (2026)</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Energy poverty classification among Italian households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XGBoost best F1 (0.34 &amp; 0.40); severe class imbalance degraded recall until balanced</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Proves default accuracy is deceptive under imbalance; mandates class reweighting &amp; F1/Recall metrics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3"/>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Yitageasu et al. (2025)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Sanitation access across 500,845 households in 34 Sub-Saharan African nations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RF achieved 80.61% accuracy, F1 0.8377; SHAP identified education, toilet-sharing, wealth</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Evaluated under random split (within-distribution); baseline for African multi-country survey scale</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4"/>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Mariyah &amp; Wobcke (2025)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Proxy Means Test (PMT) poverty targeting with area-level infrastructure features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Applied XGBoost focusing directly on targeting errors rather than aggregate accuracy</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Confirms misclassification carries asymmetric policy harm; supports explicit targeting loss curves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5"/>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Shahin &amp; Emami (2026)</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Micro-level economic prediction comparing gradient boosting families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Benchmarked LightGBM against XGBoost, CatBoost, and conventional gradient boosting</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Justifies evaluating LightGBM alongside XGBoost and CatBoost empirically under a common benchmark</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6"/>
                  </a:ext>
                </a:extLst>
              </a:tr>
              <a:tr h="658368">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Abbas et al. (2026)</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Smallholder farmer dispossession in Pakistan (n=500 survey records)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dirty="0">
                          <a:solidFill>
                            <a:srgbClr val="1A2140"/>
                          </a:solidFill>
                          <a:latin typeface="Calibri" pitchFamily="34" charset="0"/>
                          <a:ea typeface="Calibri" pitchFamily="34" charset="-122"/>
                          <a:cs typeface="Calibri" pitchFamily="34" charset="-120"/>
                        </a:rPr>
                        <a:t>CatBoost strongest performer vs Logistic Regression; SHAP used to rank drivers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8A5A00"/>
                          </a:solidFill>
                          <a:latin typeface="Calibri" pitchFamily="34" charset="0"/>
                          <a:ea typeface="Calibri" pitchFamily="34" charset="-122"/>
                          <a:cs typeface="Calibri" pitchFamily="34" charset="-120"/>
                        </a:rPr>
                        <a:t>Confirms CatBoost's architectural advantage on categorical-heavy tabular household survey data</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07"/>
                  </a:ext>
                </a:extLst>
              </a:tr>
            </a:tbl>
          </a:graphicData>
        </a:graphic>
      </p:graphicFrame>
      <p:sp>
        <p:nvSpPr>
          <p:cNvPr id="5" name="Text 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9</a:t>
            </a:r>
            <a:endParaRPr lang="en-US" sz="950" dirty="0"/>
          </a:p>
        </p:txBody>
      </p:sp>
      <p:sp>
        <p:nvSpPr>
          <p:cNvPr id="6" name="Text 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LITERATURE SURVEY · PART 2</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Explainable AI, Inherently Interpretable Models &amp; Counterfactual Recourse</a:t>
            </a:r>
            <a:endParaRPr lang="en-US" sz="2500" dirty="0"/>
          </a:p>
        </p:txBody>
      </p:sp>
      <p:sp>
        <p:nvSpPr>
          <p:cNvPr id="4" name="Shape 2"/>
          <p:cNvSpPr/>
          <p:nvPr/>
        </p:nvSpPr>
        <p:spPr>
          <a:xfrm>
            <a:off x="548640" y="1353312"/>
            <a:ext cx="5349240" cy="2240280"/>
          </a:xfrm>
          <a:prstGeom prst="roundRect">
            <a:avLst>
              <a:gd name="adj" fmla="val 3265"/>
            </a:avLst>
          </a:prstGeom>
          <a:solidFill>
            <a:srgbClr val="FFFFFF"/>
          </a:solidFill>
          <a:ln w="12700">
            <a:solidFill>
              <a:srgbClr val="E4E8F0"/>
            </a:solidFill>
            <a:prstDash val="solid"/>
          </a:ln>
        </p:spPr>
      </p:sp>
      <p:sp>
        <p:nvSpPr>
          <p:cNvPr id="5" name="Shape 3"/>
          <p:cNvSpPr/>
          <p:nvPr/>
        </p:nvSpPr>
        <p:spPr>
          <a:xfrm>
            <a:off x="548640" y="1353312"/>
            <a:ext cx="5349240" cy="384048"/>
          </a:xfrm>
          <a:prstGeom prst="roundRect">
            <a:avLst>
              <a:gd name="adj" fmla="val 19048"/>
            </a:avLst>
          </a:prstGeom>
          <a:solidFill>
            <a:srgbClr val="1E2761"/>
          </a:solidFill>
          <a:ln/>
        </p:spPr>
      </p:sp>
      <p:sp>
        <p:nvSpPr>
          <p:cNvPr id="6" name="Shape 4"/>
          <p:cNvSpPr/>
          <p:nvPr/>
        </p:nvSpPr>
        <p:spPr>
          <a:xfrm>
            <a:off x="548640" y="1536192"/>
            <a:ext cx="5349240" cy="201168"/>
          </a:xfrm>
          <a:prstGeom prst="rect">
            <a:avLst/>
          </a:prstGeom>
          <a:solidFill>
            <a:srgbClr val="1E2761"/>
          </a:solidFill>
          <a:ln/>
        </p:spPr>
      </p:sp>
      <p:sp>
        <p:nvSpPr>
          <p:cNvPr id="7" name="Text 5"/>
          <p:cNvSpPr/>
          <p:nvPr/>
        </p:nvSpPr>
        <p:spPr>
          <a:xfrm>
            <a:off x="685800" y="1353312"/>
            <a:ext cx="507492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Dejkam &amp; Madlener (2025) · Watson (2022)  ·  Post-Hoc Attribution Limits &amp; Explanation Quality</a:t>
            </a:r>
            <a:endParaRPr lang="en-US" sz="1000" dirty="0"/>
          </a:p>
        </p:txBody>
      </p:sp>
      <p:sp>
        <p:nvSpPr>
          <p:cNvPr id="8" name="Text 6"/>
          <p:cNvSpPr/>
          <p:nvPr/>
        </p:nvSpPr>
        <p:spPr>
          <a:xfrm>
            <a:off x="731520" y="1792224"/>
            <a:ext cx="4983480" cy="1051560"/>
          </a:xfrm>
          <a:prstGeom prst="rect">
            <a:avLst/>
          </a:prstGeom>
          <a:noFill/>
          <a:ln/>
        </p:spPr>
        <p:txBody>
          <a:bodyPr wrap="square" rtlCol="0" anchor="t"/>
          <a:lstStyle/>
          <a:p>
            <a:pPr marL="0" indent="0">
              <a:lnSpc>
                <a:spcPct val="108000"/>
              </a:lnSpc>
              <a:buNone/>
            </a:pPr>
            <a:r>
              <a:rPr lang="en-US" sz="950" dirty="0">
                <a:solidFill>
                  <a:srgbClr val="1A2140"/>
                </a:solidFill>
                <a:latin typeface="Calibri" pitchFamily="34" charset="0"/>
                <a:ea typeface="Calibri" pitchFamily="34" charset="-122"/>
                <a:cs typeface="Calibri" pitchFamily="34" charset="-120"/>
              </a:rPr>
              <a:t>Applied SHAP to fuel poverty classification. Specifically cautioned that SHAP values reflect feature contribution to a prediction, NOT causal effect. Watson (2022) proved that explanation quality is a methodological question: explanations can be practically useful without fully capturing the true model decision function.</a:t>
            </a:r>
            <a:endParaRPr lang="en-US" sz="950" dirty="0"/>
          </a:p>
        </p:txBody>
      </p:sp>
      <p:sp>
        <p:nvSpPr>
          <p:cNvPr id="9" name="Shape 7"/>
          <p:cNvSpPr/>
          <p:nvPr/>
        </p:nvSpPr>
        <p:spPr>
          <a:xfrm>
            <a:off x="685800" y="2889504"/>
            <a:ext cx="5074920" cy="594360"/>
          </a:xfrm>
          <a:prstGeom prst="roundRect">
            <a:avLst>
              <a:gd name="adj" fmla="val 7692"/>
            </a:avLst>
          </a:prstGeom>
          <a:solidFill>
            <a:srgbClr val="FBEBCC"/>
          </a:solidFill>
          <a:ln w="12700">
            <a:solidFill>
              <a:srgbClr val="D98E04"/>
            </a:solidFill>
            <a:prstDash val="solid"/>
          </a:ln>
        </p:spPr>
      </p:sp>
      <p:sp>
        <p:nvSpPr>
          <p:cNvPr id="10" name="Text 8"/>
          <p:cNvSpPr/>
          <p:nvPr/>
        </p:nvSpPr>
        <p:spPr>
          <a:xfrm>
            <a:off x="777240" y="2889504"/>
            <a:ext cx="4892040" cy="594360"/>
          </a:xfrm>
          <a:prstGeom prst="rect">
            <a:avLst/>
          </a:prstGeom>
          <a:noFill/>
          <a:ln/>
        </p:spPr>
        <p:txBody>
          <a:bodyPr wrap="square" rtlCol="0" anchor="ctr"/>
          <a:lstStyle/>
          <a:p>
            <a:pPr marL="0" indent="0">
              <a:lnSpc>
                <a:spcPct val="105000"/>
              </a:lnSpc>
              <a:buNone/>
            </a:pPr>
            <a:r>
              <a:rPr lang="en-US" sz="900" b="1" dirty="0">
                <a:solidFill>
                  <a:srgbClr val="8A5A00"/>
                </a:solidFill>
                <a:latin typeface="Calibri" pitchFamily="34" charset="0"/>
                <a:ea typeface="Calibri" pitchFamily="34" charset="-122"/>
                <a:cs typeface="Calibri" pitchFamily="34" charset="-120"/>
              </a:rPr>
              <a:t>DSCI-28 Implication: Post-hoc SHAP must not be mistaken for causal policy guidance; motivates pairing SHAP with glass-box models.</a:t>
            </a:r>
            <a:endParaRPr lang="en-US" sz="900" dirty="0"/>
          </a:p>
        </p:txBody>
      </p:sp>
      <p:sp>
        <p:nvSpPr>
          <p:cNvPr id="11" name="Shape 9"/>
          <p:cNvSpPr/>
          <p:nvPr/>
        </p:nvSpPr>
        <p:spPr>
          <a:xfrm>
            <a:off x="6291072" y="1353312"/>
            <a:ext cx="5349240" cy="2240280"/>
          </a:xfrm>
          <a:prstGeom prst="roundRect">
            <a:avLst>
              <a:gd name="adj" fmla="val 3265"/>
            </a:avLst>
          </a:prstGeom>
          <a:solidFill>
            <a:srgbClr val="FFFFFF"/>
          </a:solidFill>
          <a:ln w="12700">
            <a:solidFill>
              <a:srgbClr val="E4E8F0"/>
            </a:solidFill>
            <a:prstDash val="solid"/>
          </a:ln>
        </p:spPr>
      </p:sp>
      <p:sp>
        <p:nvSpPr>
          <p:cNvPr id="12" name="Shape 10"/>
          <p:cNvSpPr/>
          <p:nvPr/>
        </p:nvSpPr>
        <p:spPr>
          <a:xfrm>
            <a:off x="6291072" y="1353312"/>
            <a:ext cx="5349240" cy="384048"/>
          </a:xfrm>
          <a:prstGeom prst="roundRect">
            <a:avLst>
              <a:gd name="adj" fmla="val 19048"/>
            </a:avLst>
          </a:prstGeom>
          <a:solidFill>
            <a:srgbClr val="1E2761"/>
          </a:solidFill>
          <a:ln/>
        </p:spPr>
      </p:sp>
      <p:sp>
        <p:nvSpPr>
          <p:cNvPr id="13" name="Shape 11"/>
          <p:cNvSpPr/>
          <p:nvPr/>
        </p:nvSpPr>
        <p:spPr>
          <a:xfrm>
            <a:off x="6291072" y="1536192"/>
            <a:ext cx="5349240" cy="201168"/>
          </a:xfrm>
          <a:prstGeom prst="rect">
            <a:avLst/>
          </a:prstGeom>
          <a:solidFill>
            <a:srgbClr val="1E2761"/>
          </a:solidFill>
          <a:ln/>
        </p:spPr>
      </p:sp>
      <p:sp>
        <p:nvSpPr>
          <p:cNvPr id="14" name="Text 12"/>
          <p:cNvSpPr/>
          <p:nvPr/>
        </p:nvSpPr>
        <p:spPr>
          <a:xfrm>
            <a:off x="6428232" y="1353312"/>
            <a:ext cx="507492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Zschech, Weinzierl &amp; Kraus (2026)  ·  Inherently Interpretable Models (EBM / GA²M)</a:t>
            </a:r>
            <a:endParaRPr lang="en-US" sz="1000" dirty="0"/>
          </a:p>
        </p:txBody>
      </p:sp>
      <p:sp>
        <p:nvSpPr>
          <p:cNvPr id="15" name="Text 13"/>
          <p:cNvSpPr/>
          <p:nvPr/>
        </p:nvSpPr>
        <p:spPr>
          <a:xfrm>
            <a:off x="6473952" y="1792224"/>
            <a:ext cx="4983480" cy="1051560"/>
          </a:xfrm>
          <a:prstGeom prst="rect">
            <a:avLst/>
          </a:prstGeom>
          <a:noFill/>
          <a:ln/>
        </p:spPr>
        <p:txBody>
          <a:bodyPr wrap="square" rtlCol="0" anchor="t"/>
          <a:lstStyle/>
          <a:p>
            <a:pPr marL="0" indent="0">
              <a:lnSpc>
                <a:spcPct val="108000"/>
              </a:lnSpc>
              <a:buNone/>
            </a:pPr>
            <a:r>
              <a:rPr lang="en-US" sz="950" dirty="0">
                <a:solidFill>
                  <a:srgbClr val="1A2140"/>
                </a:solidFill>
                <a:latin typeface="Calibri" pitchFamily="34" charset="0"/>
                <a:ea typeface="Calibri" pitchFamily="34" charset="-122"/>
                <a:cs typeface="Calibri" pitchFamily="34" charset="-120"/>
              </a:rPr>
              <a:t>Contrasted post-hoc methods with inherently interpretable Explainable Boosting Machines (EBM). EBMs represent nonlinear effects directly through transparent shape functions g(y) = ∑ f_i(x_i), resolving opacity while explicitly exposing structural additive trade-offs.</a:t>
            </a:r>
            <a:endParaRPr lang="en-US" sz="950" dirty="0"/>
          </a:p>
        </p:txBody>
      </p:sp>
      <p:sp>
        <p:nvSpPr>
          <p:cNvPr id="16" name="Shape 14"/>
          <p:cNvSpPr/>
          <p:nvPr/>
        </p:nvSpPr>
        <p:spPr>
          <a:xfrm>
            <a:off x="6428232" y="2889504"/>
            <a:ext cx="5074920" cy="594360"/>
          </a:xfrm>
          <a:prstGeom prst="roundRect">
            <a:avLst>
              <a:gd name="adj" fmla="val 7692"/>
            </a:avLst>
          </a:prstGeom>
          <a:solidFill>
            <a:srgbClr val="FBEBCC"/>
          </a:solidFill>
          <a:ln w="12700">
            <a:solidFill>
              <a:srgbClr val="D98E04"/>
            </a:solidFill>
            <a:prstDash val="solid"/>
          </a:ln>
        </p:spPr>
      </p:sp>
      <p:sp>
        <p:nvSpPr>
          <p:cNvPr id="17" name="Text 15"/>
          <p:cNvSpPr/>
          <p:nvPr/>
        </p:nvSpPr>
        <p:spPr>
          <a:xfrm>
            <a:off x="6519672" y="2889504"/>
            <a:ext cx="4892040" cy="594360"/>
          </a:xfrm>
          <a:prstGeom prst="rect">
            <a:avLst/>
          </a:prstGeom>
          <a:noFill/>
          <a:ln/>
        </p:spPr>
        <p:txBody>
          <a:bodyPr wrap="square" rtlCol="0" anchor="ctr"/>
          <a:lstStyle/>
          <a:p>
            <a:pPr marL="0" indent="0">
              <a:lnSpc>
                <a:spcPct val="105000"/>
              </a:lnSpc>
              <a:buNone/>
            </a:pPr>
            <a:r>
              <a:rPr lang="en-US" sz="900" b="1" dirty="0">
                <a:solidFill>
                  <a:srgbClr val="8A5A00"/>
                </a:solidFill>
                <a:latin typeface="Calibri" pitchFamily="34" charset="0"/>
                <a:ea typeface="Calibri" pitchFamily="34" charset="-122"/>
                <a:cs typeface="Calibri" pitchFamily="34" charset="-120"/>
              </a:rPr>
              <a:t>DSCI-28 Implication: Adopting EBM as our primary glass-box model guarantees auditable, mathematically exact decision boundaries.</a:t>
            </a:r>
            <a:endParaRPr lang="en-US" sz="900" dirty="0"/>
          </a:p>
        </p:txBody>
      </p:sp>
      <p:sp>
        <p:nvSpPr>
          <p:cNvPr id="18" name="Shape 16"/>
          <p:cNvSpPr/>
          <p:nvPr/>
        </p:nvSpPr>
        <p:spPr>
          <a:xfrm>
            <a:off x="548640" y="3767328"/>
            <a:ext cx="5349240" cy="2240280"/>
          </a:xfrm>
          <a:prstGeom prst="roundRect">
            <a:avLst>
              <a:gd name="adj" fmla="val 3265"/>
            </a:avLst>
          </a:prstGeom>
          <a:solidFill>
            <a:srgbClr val="FFFFFF"/>
          </a:solidFill>
          <a:ln w="12700">
            <a:solidFill>
              <a:srgbClr val="E4E8F0"/>
            </a:solidFill>
            <a:prstDash val="solid"/>
          </a:ln>
        </p:spPr>
      </p:sp>
      <p:sp>
        <p:nvSpPr>
          <p:cNvPr id="19" name="Shape 17"/>
          <p:cNvSpPr/>
          <p:nvPr/>
        </p:nvSpPr>
        <p:spPr>
          <a:xfrm>
            <a:off x="548640" y="3767328"/>
            <a:ext cx="5349240" cy="384048"/>
          </a:xfrm>
          <a:prstGeom prst="roundRect">
            <a:avLst>
              <a:gd name="adj" fmla="val 19048"/>
            </a:avLst>
          </a:prstGeom>
          <a:solidFill>
            <a:srgbClr val="1E2761"/>
          </a:solidFill>
          <a:ln/>
        </p:spPr>
      </p:sp>
      <p:sp>
        <p:nvSpPr>
          <p:cNvPr id="20" name="Shape 18"/>
          <p:cNvSpPr/>
          <p:nvPr/>
        </p:nvSpPr>
        <p:spPr>
          <a:xfrm>
            <a:off x="548640" y="3950208"/>
            <a:ext cx="5349240" cy="201168"/>
          </a:xfrm>
          <a:prstGeom prst="rect">
            <a:avLst/>
          </a:prstGeom>
          <a:solidFill>
            <a:srgbClr val="1E2761"/>
          </a:solidFill>
          <a:ln/>
        </p:spPr>
      </p:sp>
      <p:sp>
        <p:nvSpPr>
          <p:cNvPr id="21" name="Text 19"/>
          <p:cNvSpPr/>
          <p:nvPr/>
        </p:nvSpPr>
        <p:spPr>
          <a:xfrm>
            <a:off x="685800" y="3767328"/>
            <a:ext cx="507492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Guidotti (2024)  ·  Counterfactual Benchmark (Data Mining &amp; Knowledge Disc.)</a:t>
            </a:r>
            <a:endParaRPr lang="en-US" sz="1000" dirty="0"/>
          </a:p>
        </p:txBody>
      </p:sp>
      <p:sp>
        <p:nvSpPr>
          <p:cNvPr id="22" name="Text 20"/>
          <p:cNvSpPr/>
          <p:nvPr/>
        </p:nvSpPr>
        <p:spPr>
          <a:xfrm>
            <a:off x="731520" y="4206240"/>
            <a:ext cx="4983480" cy="1051560"/>
          </a:xfrm>
          <a:prstGeom prst="rect">
            <a:avLst/>
          </a:prstGeom>
          <a:noFill/>
          <a:ln/>
        </p:spPr>
        <p:txBody>
          <a:bodyPr wrap="square" rtlCol="0" anchor="t"/>
          <a:lstStyle/>
          <a:p>
            <a:pPr marL="0" indent="0">
              <a:lnSpc>
                <a:spcPct val="108000"/>
              </a:lnSpc>
              <a:buNone/>
            </a:pPr>
            <a:r>
              <a:rPr lang="en-US" sz="950" dirty="0">
                <a:solidFill>
                  <a:srgbClr val="1A2140"/>
                </a:solidFill>
                <a:latin typeface="Calibri" pitchFamily="34" charset="0"/>
                <a:ea typeface="Calibri" pitchFamily="34" charset="-122"/>
                <a:cs typeface="Calibri" pitchFamily="34" charset="-120"/>
              </a:rPr>
              <a:t>Comprehensive benchmark of counterfactual methods across 5 criteria: validity, minimality, actionability, diversity, and stability. Proved that no single method optimizes all properties simultaneously — a mathematically valid counterfactual is not automatically actionable.</a:t>
            </a:r>
            <a:endParaRPr lang="en-US" sz="950" dirty="0"/>
          </a:p>
        </p:txBody>
      </p:sp>
      <p:sp>
        <p:nvSpPr>
          <p:cNvPr id="23" name="Shape 21"/>
          <p:cNvSpPr/>
          <p:nvPr/>
        </p:nvSpPr>
        <p:spPr>
          <a:xfrm>
            <a:off x="685800" y="5303520"/>
            <a:ext cx="5074920" cy="594360"/>
          </a:xfrm>
          <a:prstGeom prst="roundRect">
            <a:avLst>
              <a:gd name="adj" fmla="val 7692"/>
            </a:avLst>
          </a:prstGeom>
          <a:solidFill>
            <a:srgbClr val="FBEBCC"/>
          </a:solidFill>
          <a:ln w="12700">
            <a:solidFill>
              <a:srgbClr val="D98E04"/>
            </a:solidFill>
            <a:prstDash val="solid"/>
          </a:ln>
        </p:spPr>
      </p:sp>
      <p:sp>
        <p:nvSpPr>
          <p:cNvPr id="24" name="Text 22"/>
          <p:cNvSpPr/>
          <p:nvPr/>
        </p:nvSpPr>
        <p:spPr>
          <a:xfrm>
            <a:off x="777240" y="5303520"/>
            <a:ext cx="4892040" cy="594360"/>
          </a:xfrm>
          <a:prstGeom prst="rect">
            <a:avLst/>
          </a:prstGeom>
          <a:noFill/>
          <a:ln/>
        </p:spPr>
        <p:txBody>
          <a:bodyPr wrap="square" rtlCol="0" anchor="ctr"/>
          <a:lstStyle/>
          <a:p>
            <a:pPr marL="0" indent="0">
              <a:lnSpc>
                <a:spcPct val="105000"/>
              </a:lnSpc>
              <a:buNone/>
            </a:pPr>
            <a:r>
              <a:rPr lang="en-US" sz="900" b="1" dirty="0">
                <a:solidFill>
                  <a:srgbClr val="8A5A00"/>
                </a:solidFill>
                <a:latin typeface="Calibri" pitchFamily="34" charset="0"/>
                <a:ea typeface="Calibri" pitchFamily="34" charset="-122"/>
                <a:cs typeface="Calibri" pitchFamily="34" charset="-120"/>
              </a:rPr>
              <a:t>DSCI-28 Implication: Counterfactual generation must be constrained so that only actionable household levers are adjusted.</a:t>
            </a:r>
            <a:endParaRPr lang="en-US" sz="900" dirty="0"/>
          </a:p>
        </p:txBody>
      </p:sp>
      <p:sp>
        <p:nvSpPr>
          <p:cNvPr id="25" name="Shape 23"/>
          <p:cNvSpPr/>
          <p:nvPr/>
        </p:nvSpPr>
        <p:spPr>
          <a:xfrm>
            <a:off x="6291072" y="3767328"/>
            <a:ext cx="5349240" cy="2240280"/>
          </a:xfrm>
          <a:prstGeom prst="roundRect">
            <a:avLst>
              <a:gd name="adj" fmla="val 3265"/>
            </a:avLst>
          </a:prstGeom>
          <a:solidFill>
            <a:srgbClr val="FFFFFF"/>
          </a:solidFill>
          <a:ln w="12700">
            <a:solidFill>
              <a:srgbClr val="E4E8F0"/>
            </a:solidFill>
            <a:prstDash val="solid"/>
          </a:ln>
        </p:spPr>
      </p:sp>
      <p:sp>
        <p:nvSpPr>
          <p:cNvPr id="26" name="Shape 24"/>
          <p:cNvSpPr/>
          <p:nvPr/>
        </p:nvSpPr>
        <p:spPr>
          <a:xfrm>
            <a:off x="6291072" y="3767328"/>
            <a:ext cx="5349240" cy="384048"/>
          </a:xfrm>
          <a:prstGeom prst="roundRect">
            <a:avLst>
              <a:gd name="adj" fmla="val 19048"/>
            </a:avLst>
          </a:prstGeom>
          <a:solidFill>
            <a:srgbClr val="1E2761"/>
          </a:solidFill>
          <a:ln/>
        </p:spPr>
      </p:sp>
      <p:sp>
        <p:nvSpPr>
          <p:cNvPr id="27" name="Shape 25"/>
          <p:cNvSpPr/>
          <p:nvPr/>
        </p:nvSpPr>
        <p:spPr>
          <a:xfrm>
            <a:off x="6291072" y="3950208"/>
            <a:ext cx="5349240" cy="201168"/>
          </a:xfrm>
          <a:prstGeom prst="rect">
            <a:avLst/>
          </a:prstGeom>
          <a:solidFill>
            <a:srgbClr val="1E2761"/>
          </a:solidFill>
          <a:ln/>
        </p:spPr>
      </p:sp>
      <p:sp>
        <p:nvSpPr>
          <p:cNvPr id="28" name="Text 26"/>
          <p:cNvSpPr/>
          <p:nvPr/>
        </p:nvSpPr>
        <p:spPr>
          <a:xfrm>
            <a:off x="6428232" y="3767328"/>
            <a:ext cx="507492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Warren, Byrne &amp; Keane (2024)  ·  Human Cognition &amp; Counterfactual Explanations (n=211 study)</a:t>
            </a:r>
            <a:endParaRPr lang="en-US" sz="1000" dirty="0"/>
          </a:p>
        </p:txBody>
      </p:sp>
      <p:sp>
        <p:nvSpPr>
          <p:cNvPr id="29" name="Text 27"/>
          <p:cNvSpPr/>
          <p:nvPr/>
        </p:nvSpPr>
        <p:spPr>
          <a:xfrm>
            <a:off x="6473952" y="4206240"/>
            <a:ext cx="4983480" cy="1051560"/>
          </a:xfrm>
          <a:prstGeom prst="rect">
            <a:avLst/>
          </a:prstGeom>
          <a:noFill/>
          <a:ln/>
        </p:spPr>
        <p:txBody>
          <a:bodyPr wrap="square" rtlCol="0" anchor="t"/>
          <a:lstStyle/>
          <a:p>
            <a:pPr marL="0" indent="0">
              <a:lnSpc>
                <a:spcPct val="108000"/>
              </a:lnSpc>
              <a:buNone/>
            </a:pPr>
            <a:r>
              <a:rPr lang="en-US" sz="950" dirty="0">
                <a:solidFill>
                  <a:srgbClr val="1A2140"/>
                </a:solidFill>
                <a:latin typeface="Calibri" pitchFamily="34" charset="0"/>
                <a:ea typeface="Calibri" pitchFamily="34" charset="-122"/>
                <a:cs typeface="Calibri" pitchFamily="34" charset="-120"/>
              </a:rPr>
              <a:t>Demonstrated through user experiments that feature representation (categorical vs continuous) significantly affects whether decision-makers can correctly predict AI decisions from counterfactual explanations. Technical validity ≠ human comprehensibility.</a:t>
            </a:r>
            <a:endParaRPr lang="en-US" sz="950" dirty="0"/>
          </a:p>
        </p:txBody>
      </p:sp>
      <p:sp>
        <p:nvSpPr>
          <p:cNvPr id="30" name="Shape 28"/>
          <p:cNvSpPr/>
          <p:nvPr/>
        </p:nvSpPr>
        <p:spPr>
          <a:xfrm>
            <a:off x="6428232" y="5303520"/>
            <a:ext cx="5074920" cy="594360"/>
          </a:xfrm>
          <a:prstGeom prst="roundRect">
            <a:avLst>
              <a:gd name="adj" fmla="val 7692"/>
            </a:avLst>
          </a:prstGeom>
          <a:solidFill>
            <a:srgbClr val="FBEBCC"/>
          </a:solidFill>
          <a:ln w="12700">
            <a:solidFill>
              <a:srgbClr val="D98E04"/>
            </a:solidFill>
            <a:prstDash val="solid"/>
          </a:ln>
        </p:spPr>
      </p:sp>
      <p:sp>
        <p:nvSpPr>
          <p:cNvPr id="31" name="Text 29"/>
          <p:cNvSpPr/>
          <p:nvPr/>
        </p:nvSpPr>
        <p:spPr>
          <a:xfrm>
            <a:off x="6519672" y="5303520"/>
            <a:ext cx="4892040" cy="594360"/>
          </a:xfrm>
          <a:prstGeom prst="rect">
            <a:avLst/>
          </a:prstGeom>
          <a:noFill/>
          <a:ln/>
        </p:spPr>
        <p:txBody>
          <a:bodyPr wrap="square" rtlCol="0" anchor="ctr"/>
          <a:lstStyle/>
          <a:p>
            <a:pPr marL="0" indent="0">
              <a:lnSpc>
                <a:spcPct val="105000"/>
              </a:lnSpc>
              <a:buNone/>
            </a:pPr>
            <a:r>
              <a:rPr lang="en-US" sz="900" b="1" dirty="0">
                <a:solidFill>
                  <a:srgbClr val="8A5A00"/>
                </a:solidFill>
                <a:latin typeface="Calibri" pitchFamily="34" charset="0"/>
                <a:ea typeface="Calibri" pitchFamily="34" charset="-122"/>
                <a:cs typeface="Calibri" pitchFamily="34" charset="-120"/>
              </a:rPr>
              <a:t>DSCI-28 Implication: EHCVM survey features are separated into actionable policy levers (WASH, housing, power) vs fixed demographics.</a:t>
            </a:r>
            <a:endParaRPr lang="en-US" sz="900" dirty="0"/>
          </a:p>
        </p:txBody>
      </p:sp>
      <p:sp>
        <p:nvSpPr>
          <p:cNvPr id="32" name="Text 3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10</a:t>
            </a:r>
            <a:endParaRPr lang="en-US" sz="950" dirty="0"/>
          </a:p>
        </p:txBody>
      </p:sp>
      <p:sp>
        <p:nvSpPr>
          <p:cNvPr id="33" name="Text 3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THE GENERALIZATION DILEMMA</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Within-Distribution Accuracy vs. Cross-Country Transfer</a:t>
            </a:r>
            <a:endParaRPr lang="en-US" sz="2500" dirty="0"/>
          </a:p>
        </p:txBody>
      </p:sp>
      <p:sp>
        <p:nvSpPr>
          <p:cNvPr id="4" name="Shape 2"/>
          <p:cNvSpPr/>
          <p:nvPr/>
        </p:nvSpPr>
        <p:spPr>
          <a:xfrm>
            <a:off x="548640" y="1353312"/>
            <a:ext cx="5349240" cy="3337560"/>
          </a:xfrm>
          <a:prstGeom prst="roundRect">
            <a:avLst>
              <a:gd name="adj" fmla="val 2192"/>
            </a:avLst>
          </a:prstGeom>
          <a:solidFill>
            <a:srgbClr val="FFFFFF"/>
          </a:solidFill>
          <a:ln w="12700">
            <a:solidFill>
              <a:srgbClr val="E4E8F0"/>
            </a:solidFill>
            <a:prstDash val="solid"/>
          </a:ln>
        </p:spPr>
      </p:sp>
      <p:sp>
        <p:nvSpPr>
          <p:cNvPr id="5" name="Shape 3"/>
          <p:cNvSpPr/>
          <p:nvPr/>
        </p:nvSpPr>
        <p:spPr>
          <a:xfrm>
            <a:off x="548640" y="1353312"/>
            <a:ext cx="5349240" cy="502920"/>
          </a:xfrm>
          <a:prstGeom prst="roundRect">
            <a:avLst>
              <a:gd name="adj" fmla="val 14545"/>
            </a:avLst>
          </a:prstGeom>
          <a:solidFill>
            <a:srgbClr val="1E2761"/>
          </a:solidFill>
          <a:ln/>
        </p:spPr>
      </p:sp>
      <p:sp>
        <p:nvSpPr>
          <p:cNvPr id="6" name="Shape 4"/>
          <p:cNvSpPr/>
          <p:nvPr/>
        </p:nvSpPr>
        <p:spPr>
          <a:xfrm>
            <a:off x="548640" y="1581912"/>
            <a:ext cx="5349240" cy="274320"/>
          </a:xfrm>
          <a:prstGeom prst="rect">
            <a:avLst/>
          </a:prstGeom>
          <a:solidFill>
            <a:srgbClr val="1E2761"/>
          </a:solidFill>
          <a:ln/>
        </p:spPr>
      </p:sp>
      <p:sp>
        <p:nvSpPr>
          <p:cNvPr id="7" name="Text 5"/>
          <p:cNvSpPr/>
          <p:nvPr/>
        </p:nvSpPr>
        <p:spPr>
          <a:xfrm>
            <a:off x="731520" y="1353312"/>
            <a:ext cx="498348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Within-Distribution Evaluation  (Yitageasu et al. 2025)</a:t>
            </a:r>
            <a:endParaRPr lang="en-US" sz="1200" dirty="0"/>
          </a:p>
        </p:txBody>
      </p:sp>
      <p:sp>
        <p:nvSpPr>
          <p:cNvPr id="8" name="Text 6"/>
          <p:cNvSpPr/>
          <p:nvPr/>
        </p:nvSpPr>
        <p:spPr>
          <a:xfrm>
            <a:off x="731520" y="1993392"/>
            <a:ext cx="4983480" cy="685800"/>
          </a:xfrm>
          <a:prstGeom prst="rect">
            <a:avLst/>
          </a:prstGeom>
          <a:noFill/>
          <a:ln/>
        </p:spPr>
        <p:txBody>
          <a:bodyPr wrap="square" rtlCol="0" anchor="ctr"/>
          <a:lstStyle/>
          <a:p>
            <a:pPr marL="0" indent="0" algn="ctr">
              <a:buNone/>
            </a:pPr>
            <a:r>
              <a:rPr lang="en-US" sz="3600" b="1" dirty="0">
                <a:solidFill>
                  <a:srgbClr val="1E2761"/>
                </a:solidFill>
                <a:latin typeface="Cambria" pitchFamily="34" charset="0"/>
                <a:ea typeface="Cambria" pitchFamily="34" charset="-122"/>
                <a:cs typeface="Cambria" pitchFamily="34" charset="-120"/>
              </a:rPr>
              <a:t>80.61%</a:t>
            </a:r>
            <a:endParaRPr lang="en-US" sz="3600" dirty="0"/>
          </a:p>
        </p:txBody>
      </p:sp>
      <p:sp>
        <p:nvSpPr>
          <p:cNvPr id="9" name="Text 7"/>
          <p:cNvSpPr/>
          <p:nvPr/>
        </p:nvSpPr>
        <p:spPr>
          <a:xfrm>
            <a:off x="731520" y="2679192"/>
            <a:ext cx="4983480" cy="274320"/>
          </a:xfrm>
          <a:prstGeom prst="rect">
            <a:avLst/>
          </a:prstGeom>
          <a:noFill/>
          <a:ln/>
        </p:spPr>
        <p:txBody>
          <a:bodyPr wrap="square"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Reported Headline Accuracy on 500,845 African Households</a:t>
            </a:r>
            <a:endParaRPr lang="en-US" sz="1000" dirty="0"/>
          </a:p>
        </p:txBody>
      </p:sp>
      <p:sp>
        <p:nvSpPr>
          <p:cNvPr id="10" name="Text 8"/>
          <p:cNvSpPr/>
          <p:nvPr/>
        </p:nvSpPr>
        <p:spPr>
          <a:xfrm>
            <a:off x="777240" y="3044952"/>
            <a:ext cx="4892040" cy="1508760"/>
          </a:xfrm>
          <a:prstGeom prst="rect">
            <a:avLst/>
          </a:prstGeom>
          <a:noFill/>
          <a:ln/>
        </p:spPr>
        <p:txBody>
          <a:bodyPr wrap="square" rtlCol="0" anchor="t"/>
          <a:lstStyle/>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Evaluation Design: Standard random train-test split across 34 countries.</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The Flaw: Households from the exact same 34 countries appear in BOTH training and test splits.</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What It Measures: In-distribution interpolation across known demographic distributions.</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What It Fails to Test: Zero evidence of whether the model can transfer to an unseen national context.</a:t>
            </a:r>
            <a:endParaRPr lang="en-US" sz="1000" dirty="0"/>
          </a:p>
        </p:txBody>
      </p:sp>
      <p:sp>
        <p:nvSpPr>
          <p:cNvPr id="11" name="Shape 9"/>
          <p:cNvSpPr/>
          <p:nvPr/>
        </p:nvSpPr>
        <p:spPr>
          <a:xfrm>
            <a:off x="6291072" y="1353312"/>
            <a:ext cx="5349240" cy="3337560"/>
          </a:xfrm>
          <a:prstGeom prst="roundRect">
            <a:avLst>
              <a:gd name="adj" fmla="val 2192"/>
            </a:avLst>
          </a:prstGeom>
          <a:solidFill>
            <a:srgbClr val="FFFFFF"/>
          </a:solidFill>
          <a:ln w="12700">
            <a:solidFill>
              <a:srgbClr val="E4E8F0"/>
            </a:solidFill>
            <a:prstDash val="solid"/>
          </a:ln>
        </p:spPr>
      </p:sp>
      <p:sp>
        <p:nvSpPr>
          <p:cNvPr id="12" name="Shape 10"/>
          <p:cNvSpPr/>
          <p:nvPr/>
        </p:nvSpPr>
        <p:spPr>
          <a:xfrm>
            <a:off x="6291072" y="1353312"/>
            <a:ext cx="5349240" cy="502920"/>
          </a:xfrm>
          <a:prstGeom prst="roundRect">
            <a:avLst>
              <a:gd name="adj" fmla="val 14545"/>
            </a:avLst>
          </a:prstGeom>
          <a:solidFill>
            <a:srgbClr val="1F8A5A"/>
          </a:solidFill>
          <a:ln/>
        </p:spPr>
      </p:sp>
      <p:sp>
        <p:nvSpPr>
          <p:cNvPr id="13" name="Shape 11"/>
          <p:cNvSpPr/>
          <p:nvPr/>
        </p:nvSpPr>
        <p:spPr>
          <a:xfrm>
            <a:off x="6291072" y="1581912"/>
            <a:ext cx="5349240" cy="274320"/>
          </a:xfrm>
          <a:prstGeom prst="rect">
            <a:avLst/>
          </a:prstGeom>
          <a:solidFill>
            <a:srgbClr val="1F8A5A"/>
          </a:solidFill>
          <a:ln/>
        </p:spPr>
      </p:sp>
      <p:sp>
        <p:nvSpPr>
          <p:cNvPr id="14" name="Text 12"/>
          <p:cNvSpPr/>
          <p:nvPr/>
        </p:nvSpPr>
        <p:spPr>
          <a:xfrm>
            <a:off x="6473952" y="1353312"/>
            <a:ext cx="4983480" cy="5029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Cross-Country Transfer Evaluation  (Garbero &amp; Letta 2022)</a:t>
            </a:r>
            <a:endParaRPr lang="en-US" sz="1200" dirty="0"/>
          </a:p>
        </p:txBody>
      </p:sp>
      <p:sp>
        <p:nvSpPr>
          <p:cNvPr id="15" name="Text 13"/>
          <p:cNvSpPr/>
          <p:nvPr/>
        </p:nvSpPr>
        <p:spPr>
          <a:xfrm>
            <a:off x="6473952" y="1993392"/>
            <a:ext cx="4983480" cy="685800"/>
          </a:xfrm>
          <a:prstGeom prst="rect">
            <a:avLst/>
          </a:prstGeom>
          <a:noFill/>
          <a:ln/>
        </p:spPr>
        <p:txBody>
          <a:bodyPr wrap="square" rtlCol="0" anchor="ctr"/>
          <a:lstStyle/>
          <a:p>
            <a:pPr marL="0" indent="0" algn="ctr">
              <a:buNone/>
            </a:pPr>
            <a:r>
              <a:rPr lang="en-US" sz="3600" b="1" dirty="0">
                <a:solidFill>
                  <a:srgbClr val="1F8A5A"/>
                </a:solidFill>
                <a:latin typeface="Cambria" pitchFamily="34" charset="0"/>
                <a:ea typeface="Cambria" pitchFamily="34" charset="-122"/>
                <a:cs typeface="Cambria" pitchFamily="34" charset="-120"/>
              </a:rPr>
              <a:t>72.0%+</a:t>
            </a:r>
            <a:endParaRPr lang="en-US" sz="3600" dirty="0"/>
          </a:p>
        </p:txBody>
      </p:sp>
      <p:sp>
        <p:nvSpPr>
          <p:cNvPr id="16" name="Text 14"/>
          <p:cNvSpPr/>
          <p:nvPr/>
        </p:nvSpPr>
        <p:spPr>
          <a:xfrm>
            <a:off x="6473952" y="2679192"/>
            <a:ext cx="4983480" cy="274320"/>
          </a:xfrm>
          <a:prstGeom prst="rect">
            <a:avLst/>
          </a:prstGeom>
          <a:noFill/>
          <a:ln/>
        </p:spPr>
        <p:txBody>
          <a:bodyPr wrap="square" rtlCol="0" anchor="ctr"/>
          <a:lstStyle/>
          <a:p>
            <a:pPr marL="0" indent="0" algn="ctr">
              <a:buNone/>
            </a:pPr>
            <a:r>
              <a:rPr lang="en-US" sz="1000" i="1" dirty="0">
                <a:solidFill>
                  <a:srgbClr val="667085"/>
                </a:solidFill>
                <a:latin typeface="Calibri" pitchFamily="34" charset="0"/>
                <a:ea typeface="Calibri" pitchFamily="34" charset="-122"/>
                <a:cs typeface="Calibri" pitchFamily="34" charset="-120"/>
              </a:rPr>
              <a:t>Reported Cross-Country Accuracy Withheld Across 10 Distinct Nations</a:t>
            </a:r>
            <a:endParaRPr lang="en-US" sz="1000" dirty="0"/>
          </a:p>
        </p:txBody>
      </p:sp>
      <p:sp>
        <p:nvSpPr>
          <p:cNvPr id="17" name="Text 15"/>
          <p:cNvSpPr/>
          <p:nvPr/>
        </p:nvSpPr>
        <p:spPr>
          <a:xfrm>
            <a:off x="6519672" y="3044952"/>
            <a:ext cx="4892040" cy="1508760"/>
          </a:xfrm>
          <a:prstGeom prst="rect">
            <a:avLst/>
          </a:prstGeom>
          <a:noFill/>
          <a:ln/>
        </p:spPr>
        <p:txBody>
          <a:bodyPr wrap="square" rtlCol="0" anchor="t"/>
          <a:lstStyle/>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Evaluation Design: Explicitly withholds entire countries from model training.</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Country-Blind Modeling: Excludes country identity tags to enforce structural learning.</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What It Measures: Authentic cross-border external validity and geographic transferability.</a:t>
            </a:r>
            <a:endParaRPr lang="en-US" sz="1000" dirty="0"/>
          </a:p>
          <a:p>
            <a:pPr marL="342900" indent="-342900">
              <a:lnSpc>
                <a:spcPct val="108000"/>
              </a:lnSpc>
              <a:spcAft>
                <a:spcPts val="500"/>
              </a:spcAft>
              <a:buSzPct val="100000"/>
              <a:buChar char="•"/>
            </a:pPr>
            <a:r>
              <a:rPr lang="en-US" sz="1000" dirty="0">
                <a:solidFill>
                  <a:srgbClr val="1A2140"/>
                </a:solidFill>
                <a:latin typeface="Calibri" pitchFamily="34" charset="0"/>
                <a:ea typeface="Calibri" pitchFamily="34" charset="-122"/>
                <a:cs typeface="Calibri" pitchFamily="34" charset="-120"/>
              </a:rPr>
              <a:t>Key Insight: A lower headline figure (72% vs 81%) represents a vastly harder, more rigorous test.</a:t>
            </a:r>
            <a:endParaRPr lang="en-US" sz="1000" dirty="0"/>
          </a:p>
        </p:txBody>
      </p:sp>
      <p:sp>
        <p:nvSpPr>
          <p:cNvPr id="18" name="Shape 16"/>
          <p:cNvSpPr/>
          <p:nvPr/>
        </p:nvSpPr>
        <p:spPr>
          <a:xfrm>
            <a:off x="548640" y="4919472"/>
            <a:ext cx="11094415" cy="1280160"/>
          </a:xfrm>
          <a:prstGeom prst="roundRect">
            <a:avLst>
              <a:gd name="adj" fmla="val 5714"/>
            </a:avLst>
          </a:prstGeom>
          <a:solidFill>
            <a:srgbClr val="FBEBCC"/>
          </a:solidFill>
          <a:ln w="12700">
            <a:solidFill>
              <a:srgbClr val="D98E04"/>
            </a:solidFill>
            <a:prstDash val="solid"/>
          </a:ln>
        </p:spPr>
      </p:sp>
      <p:sp>
        <p:nvSpPr>
          <p:cNvPr id="19" name="Text 17"/>
          <p:cNvSpPr/>
          <p:nvPr/>
        </p:nvSpPr>
        <p:spPr>
          <a:xfrm>
            <a:off x="822960" y="5029200"/>
            <a:ext cx="10545775" cy="274320"/>
          </a:xfrm>
          <a:prstGeom prst="rect">
            <a:avLst/>
          </a:prstGeom>
          <a:noFill/>
          <a:ln/>
        </p:spPr>
        <p:txBody>
          <a:bodyPr wrap="square" rtlCol="0" anchor="ctr"/>
          <a:lstStyle/>
          <a:p>
            <a:pPr marL="0" indent="0">
              <a:buNone/>
            </a:pPr>
            <a:r>
              <a:rPr lang="en-US" sz="1300" b="1" dirty="0">
                <a:solidFill>
                  <a:srgbClr val="8A5A00"/>
                </a:solidFill>
                <a:latin typeface="Calibri" pitchFamily="34" charset="0"/>
                <a:ea typeface="Calibri" pitchFamily="34" charset="-122"/>
                <a:cs typeface="Calibri" pitchFamily="34" charset="-120"/>
              </a:rPr>
              <a:t>The Core Research Question for DSCI-28</a:t>
            </a:r>
            <a:endParaRPr lang="en-US" sz="1300" dirty="0"/>
          </a:p>
        </p:txBody>
      </p:sp>
      <p:sp>
        <p:nvSpPr>
          <p:cNvPr id="20" name="Text 18"/>
          <p:cNvSpPr/>
          <p:nvPr/>
        </p:nvSpPr>
        <p:spPr>
          <a:xfrm>
            <a:off x="822960" y="5330952"/>
            <a:ext cx="10545775" cy="777240"/>
          </a:xfrm>
          <a:prstGeom prst="rect">
            <a:avLst/>
          </a:prstGeom>
          <a:noFill/>
          <a:ln/>
        </p:spPr>
        <p:txBody>
          <a:bodyPr wrap="square" rtlCol="0" anchor="t"/>
          <a:lstStyle/>
          <a:p>
            <a:pPr marL="0" indent="0">
              <a:lnSpc>
                <a:spcPct val="115000"/>
              </a:lnSpc>
              <a:buNone/>
            </a:pPr>
            <a:r>
              <a:rPr lang="en-US" sz="1100" dirty="0">
                <a:solidFill>
                  <a:srgbClr val="5C3E00"/>
                </a:solidFill>
                <a:latin typeface="Calibri" pitchFamily="34" charset="0"/>
                <a:ea typeface="Calibri" pitchFamily="34" charset="-122"/>
                <a:cs typeface="Calibri" pitchFamily="34" charset="-120"/>
              </a:rPr>
              <a:t>“Does a machine learning model learn generalizable socioeconomic relationships, or patterns specific only to its training countries?”</a:t>
            </a:r>
            <a:endParaRPr lang="en-US" sz="1100" dirty="0"/>
          </a:p>
          <a:p>
            <a:pPr marL="0" indent="0">
              <a:lnSpc>
                <a:spcPct val="115000"/>
              </a:lnSpc>
              <a:buNone/>
            </a:pPr>
            <a:r>
              <a:rPr lang="en-US" sz="1100" dirty="0">
                <a:solidFill>
                  <a:srgbClr val="5C3E00"/>
                </a:solidFill>
                <a:latin typeface="Calibri" pitchFamily="34" charset="0"/>
                <a:ea typeface="Calibri" pitchFamily="34" charset="-122"/>
                <a:cs typeface="Calibri" pitchFamily="34" charset="-120"/>
              </a:rPr>
              <a:t>Following the principle of Garbero and Letta (2022), DSCI-28 explicitly separates within-country cross-validation from cross-country leave-one-country-out evaluation across all 8 EHCVM nations. A high within-distribution score is not accepted as evidence of cross-country validity.</a:t>
            </a:r>
            <a:endParaRPr lang="en-US" sz="1100" dirty="0"/>
          </a:p>
        </p:txBody>
      </p:sp>
      <p:sp>
        <p:nvSpPr>
          <p:cNvPr id="21" name="Text 19"/>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11</a:t>
            </a:r>
            <a:endParaRPr lang="en-US" sz="950" dirty="0"/>
          </a:p>
        </p:txBody>
      </p:sp>
      <p:sp>
        <p:nvSpPr>
          <p:cNvPr id="22" name="Text 20"/>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LITERATURE COMPARATIVE ANALYSIS</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Cross-Paper Benchmark Matrix Across 6 Core Dimensions</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358610748"/>
              </p:ext>
            </p:extLst>
          </p:nvPr>
        </p:nvGraphicFramePr>
        <p:xfrm>
          <a:off x="548640" y="1325880"/>
          <a:ext cx="11094415" cy="4817550"/>
        </p:xfrm>
        <a:graphic>
          <a:graphicData uri="http://schemas.openxmlformats.org/drawingml/2006/table">
            <a:tbl>
              <a:tblPr/>
              <a:tblGrid>
                <a:gridCol w="249905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379581">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Study / Reference</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Multi-Country Africa</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Algorithm Benchmark</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Withheld Cross-Country</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Inherently Interpretable</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Counterfactual Recourse</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Asymmetric Loss</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41A45"/>
                    </a:solidFill>
                  </a:tcPr>
                </a:tc>
                <a:extLst>
                  <a:ext uri="{0D108BD9-81ED-4DB2-BD59-A6C34878D82A}">
                    <a16:rowId xmlns:a16="http://schemas.microsoft.com/office/drawing/2014/main" val="10000"/>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Mehta et al. (2025)</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(India)</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RF vs. others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(Single country)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(Black-box)</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(Accuracy)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Garbero &amp; Letta (2022)</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(10 Nations)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RF vs. LR vs. ANN</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(Withheld test)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(Black-box)</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(Sensitivity)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Scandurra et al. (2026)</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(Italy)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XGBoost vs. others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(Single country)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(Black-box)</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(F1 balance)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Yitageasu et al. (2025)</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(34 Nations)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RF, XGB, LR, ANN</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(Random split)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(Post-hoc SHAP)</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(Accuracy/F1)</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Mariyah &amp; Wobcke (2025)</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(Single)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XGBoost PMT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(Area features)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(Post-hoc SHAP)</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(Targeting error)</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Shahin &amp; Emami (2026)</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(Micro-data)</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LightGBM vs. XGB</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(Black-box)</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Abbas et al. (2026)</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(Pakistan)</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CatBoost vs. LR</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(Single sample)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(Post-hoc SHAP)</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Zschech et al. (2026)</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(Generic)</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2140"/>
                          </a:solidFill>
                          <a:latin typeface="Calibri" pitchFamily="34" charset="0"/>
                          <a:ea typeface="Calibri" pitchFamily="34" charset="-122"/>
                          <a:cs typeface="Calibri" pitchFamily="34" charset="-120"/>
                        </a:rPr>
                        <a:t>EBM / GA²M</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(Benchmark)</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(Glass-box EBM)</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37278">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Guidotti ('24) / Warren ('24)</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 (Theoretical)</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F8A5A"/>
                          </a:solidFill>
                          <a:latin typeface="Calibri" pitchFamily="34" charset="0"/>
                          <a:ea typeface="Calibri" pitchFamily="34" charset="-122"/>
                          <a:cs typeface="Calibri" pitchFamily="34" charset="-120"/>
                        </a:rPr>
                        <a:t>✓ (CF benchmark)</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67085"/>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01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DSCI-28 (Our Framework)</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(8 EHCVM Nations)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(LR, RF, XGB, LGBM, CatB, EBM)</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(Separate Validation)</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(EBM + SHAP)</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(Actionable Recourse)</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tc>
                  <a:txBody>
                    <a:bodyPr/>
                    <a:lstStyle/>
                    <a:p>
                      <a:pPr marL="0" indent="0" algn="ctr">
                        <a:buNone/>
                      </a:pPr>
                      <a:r>
                        <a:rPr lang="en-US" sz="900" b="1" dirty="0">
                          <a:solidFill>
                            <a:srgbClr val="1F8A5A"/>
                          </a:solidFill>
                          <a:latin typeface="Calibri" pitchFamily="34" charset="0"/>
                          <a:ea typeface="Calibri" pitchFamily="34" charset="-122"/>
                          <a:cs typeface="Calibri" pitchFamily="34" charset="-120"/>
                        </a:rPr>
                        <a:t>✓ (Policy Loss Sweep)</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BEBCC"/>
                    </a:solidFill>
                  </a:tcPr>
                </a:tc>
                <a:extLst>
                  <a:ext uri="{0D108BD9-81ED-4DB2-BD59-A6C34878D82A}">
                    <a16:rowId xmlns:a16="http://schemas.microsoft.com/office/drawing/2014/main" val="10010"/>
                  </a:ext>
                </a:extLst>
              </a:tr>
            </a:tbl>
          </a:graphicData>
        </a:graphic>
      </p:graphicFrame>
      <p:sp>
        <p:nvSpPr>
          <p:cNvPr id="5" name="Text 2"/>
          <p:cNvSpPr/>
          <p:nvPr/>
        </p:nvSpPr>
        <p:spPr>
          <a:xfrm>
            <a:off x="548640" y="6143430"/>
            <a:ext cx="11094415" cy="347472"/>
          </a:xfrm>
          <a:prstGeom prst="rect">
            <a:avLst/>
          </a:prstGeom>
          <a:noFill/>
          <a:ln/>
        </p:spPr>
        <p:txBody>
          <a:bodyPr wrap="square"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Synthesis: DSCI-28 is the ONLY framework uniting multi-country African surveys, empirical model comparison, withheld cross-country transfer, glass-box EBMs, counterfactual recourse, and asymmetric welfare loss.</a:t>
            </a:r>
            <a:endParaRPr lang="en-US" sz="1000" dirty="0"/>
          </a:p>
        </p:txBody>
      </p:sp>
      <p:sp>
        <p:nvSpPr>
          <p:cNvPr id="6" name="Text 3"/>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12</a:t>
            </a:r>
            <a:endParaRPr lang="en-US" sz="950" dirty="0"/>
          </a:p>
        </p:txBody>
      </p:sp>
      <p:sp>
        <p:nvSpPr>
          <p:cNvPr id="7" name="Text 4"/>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LITERATURE SYNTHESIS &amp; GAP</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The Exact Research Gap Addressed by DSCI-28</a:t>
            </a:r>
            <a:endParaRPr lang="en-US" sz="2500" dirty="0"/>
          </a:p>
        </p:txBody>
      </p:sp>
      <p:sp>
        <p:nvSpPr>
          <p:cNvPr id="4" name="Shape 2"/>
          <p:cNvSpPr/>
          <p:nvPr/>
        </p:nvSpPr>
        <p:spPr>
          <a:xfrm>
            <a:off x="548640" y="1353312"/>
            <a:ext cx="3547872" cy="1920240"/>
          </a:xfrm>
          <a:prstGeom prst="roundRect">
            <a:avLst>
              <a:gd name="adj" fmla="val 3810"/>
            </a:avLst>
          </a:prstGeom>
          <a:solidFill>
            <a:srgbClr val="FFFFFF"/>
          </a:solidFill>
          <a:ln w="12700">
            <a:solidFill>
              <a:srgbClr val="E4E8F0"/>
            </a:solidFill>
            <a:prstDash val="solid"/>
          </a:ln>
        </p:spPr>
      </p:sp>
      <p:sp>
        <p:nvSpPr>
          <p:cNvPr id="5" name="Shape 3"/>
          <p:cNvSpPr/>
          <p:nvPr/>
        </p:nvSpPr>
        <p:spPr>
          <a:xfrm>
            <a:off x="548640" y="1353312"/>
            <a:ext cx="3547872" cy="384048"/>
          </a:xfrm>
          <a:prstGeom prst="roundRect">
            <a:avLst>
              <a:gd name="adj" fmla="val 19048"/>
            </a:avLst>
          </a:prstGeom>
          <a:solidFill>
            <a:srgbClr val="1E2761"/>
          </a:solidFill>
          <a:ln/>
        </p:spPr>
      </p:sp>
      <p:sp>
        <p:nvSpPr>
          <p:cNvPr id="6" name="Shape 4"/>
          <p:cNvSpPr/>
          <p:nvPr/>
        </p:nvSpPr>
        <p:spPr>
          <a:xfrm>
            <a:off x="548640" y="1536192"/>
            <a:ext cx="3547872" cy="201168"/>
          </a:xfrm>
          <a:prstGeom prst="rect">
            <a:avLst/>
          </a:prstGeom>
          <a:solidFill>
            <a:srgbClr val="1E2761"/>
          </a:solidFill>
          <a:ln/>
        </p:spPr>
      </p:sp>
      <p:sp>
        <p:nvSpPr>
          <p:cNvPr id="7" name="Text 5"/>
          <p:cNvSpPr/>
          <p:nvPr/>
        </p:nvSpPr>
        <p:spPr>
          <a:xfrm>
            <a:off x="685800" y="1353312"/>
            <a:ext cx="327355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Issue 1 — No Universally Superior Algorithm</a:t>
            </a:r>
            <a:endParaRPr lang="en-US" sz="1100" dirty="0"/>
          </a:p>
        </p:txBody>
      </p:sp>
      <p:sp>
        <p:nvSpPr>
          <p:cNvPr id="8" name="Text 6"/>
          <p:cNvSpPr/>
          <p:nvPr/>
        </p:nvSpPr>
        <p:spPr>
          <a:xfrm>
            <a:off x="713232" y="1828800"/>
            <a:ext cx="3218688" cy="1353312"/>
          </a:xfrm>
          <a:prstGeom prst="rect">
            <a:avLst/>
          </a:prstGeom>
          <a:noFill/>
          <a:ln/>
        </p:spPr>
        <p:txBody>
          <a:bodyPr wrap="square" rtlCol="0" anchor="t"/>
          <a:lstStyle/>
          <a:p>
            <a:pPr marL="0" indent="0">
              <a:lnSpc>
                <a:spcPct val="110000"/>
              </a:lnSpc>
              <a:buNone/>
            </a:pPr>
            <a:r>
              <a:rPr lang="en-US" sz="950" dirty="0">
                <a:solidFill>
                  <a:srgbClr val="1A2140"/>
                </a:solidFill>
                <a:latin typeface="Calibri" pitchFamily="34" charset="0"/>
                <a:ea typeface="Calibri" pitchFamily="34" charset="-122"/>
                <a:cs typeface="Calibri" pitchFamily="34" charset="-120"/>
              </a:rPr>
              <a:t>Random Forest and gradient-boosting methods (XGBoost, LightGBM, CatBoost) each dominate in different settings; performance is highly sensitive to class imbalance and outcome definition. This motivates systematic empirical comparison rather than a preselected model.</a:t>
            </a:r>
            <a:endParaRPr lang="en-US" sz="950" dirty="0"/>
          </a:p>
        </p:txBody>
      </p:sp>
      <p:sp>
        <p:nvSpPr>
          <p:cNvPr id="9" name="Shape 7"/>
          <p:cNvSpPr/>
          <p:nvPr/>
        </p:nvSpPr>
        <p:spPr>
          <a:xfrm>
            <a:off x="4315968" y="1353312"/>
            <a:ext cx="3547872" cy="1920240"/>
          </a:xfrm>
          <a:prstGeom prst="roundRect">
            <a:avLst>
              <a:gd name="adj" fmla="val 3810"/>
            </a:avLst>
          </a:prstGeom>
          <a:solidFill>
            <a:srgbClr val="FFFFFF"/>
          </a:solidFill>
          <a:ln w="12700">
            <a:solidFill>
              <a:srgbClr val="E4E8F0"/>
            </a:solidFill>
            <a:prstDash val="solid"/>
          </a:ln>
        </p:spPr>
      </p:sp>
      <p:sp>
        <p:nvSpPr>
          <p:cNvPr id="10" name="Shape 8"/>
          <p:cNvSpPr/>
          <p:nvPr/>
        </p:nvSpPr>
        <p:spPr>
          <a:xfrm>
            <a:off x="4315968" y="1353312"/>
            <a:ext cx="3547872" cy="384048"/>
          </a:xfrm>
          <a:prstGeom prst="roundRect">
            <a:avLst>
              <a:gd name="adj" fmla="val 19048"/>
            </a:avLst>
          </a:prstGeom>
          <a:solidFill>
            <a:srgbClr val="1E2761"/>
          </a:solidFill>
          <a:ln/>
        </p:spPr>
      </p:sp>
      <p:sp>
        <p:nvSpPr>
          <p:cNvPr id="11" name="Shape 9"/>
          <p:cNvSpPr/>
          <p:nvPr/>
        </p:nvSpPr>
        <p:spPr>
          <a:xfrm>
            <a:off x="4315968" y="1536192"/>
            <a:ext cx="3547872" cy="201168"/>
          </a:xfrm>
          <a:prstGeom prst="rect">
            <a:avLst/>
          </a:prstGeom>
          <a:solidFill>
            <a:srgbClr val="1E2761"/>
          </a:solidFill>
          <a:ln/>
        </p:spPr>
      </p:sp>
      <p:sp>
        <p:nvSpPr>
          <p:cNvPr id="12" name="Text 10"/>
          <p:cNvSpPr/>
          <p:nvPr/>
        </p:nvSpPr>
        <p:spPr>
          <a:xfrm>
            <a:off x="4453128" y="1353312"/>
            <a:ext cx="327355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Issue 2 — Multi-Country ≠ Cross-Country Transfer</a:t>
            </a:r>
            <a:endParaRPr lang="en-US" sz="1100" dirty="0"/>
          </a:p>
        </p:txBody>
      </p:sp>
      <p:sp>
        <p:nvSpPr>
          <p:cNvPr id="13" name="Text 11"/>
          <p:cNvSpPr/>
          <p:nvPr/>
        </p:nvSpPr>
        <p:spPr>
          <a:xfrm>
            <a:off x="4480560" y="1828800"/>
            <a:ext cx="3218688" cy="1353312"/>
          </a:xfrm>
          <a:prstGeom prst="rect">
            <a:avLst/>
          </a:prstGeom>
          <a:noFill/>
          <a:ln/>
        </p:spPr>
        <p:txBody>
          <a:bodyPr wrap="square" rtlCol="0" anchor="t"/>
          <a:lstStyle/>
          <a:p>
            <a:pPr marL="0" indent="0">
              <a:lnSpc>
                <a:spcPct val="110000"/>
              </a:lnSpc>
              <a:buNone/>
            </a:pPr>
            <a:r>
              <a:rPr lang="en-US" sz="950" dirty="0">
                <a:solidFill>
                  <a:srgbClr val="1A2140"/>
                </a:solidFill>
                <a:latin typeface="Calibri" pitchFamily="34" charset="0"/>
                <a:ea typeface="Calibri" pitchFamily="34" charset="-122"/>
                <a:cs typeface="Calibri" pitchFamily="34" charset="-120"/>
              </a:rPr>
              <a:t>The gap between Yitageasu et al.'s (2025) 80.61% within-distribution accuracy and Garbero &amp; Letta's (2022) 72%+ cross-country accuracy illustrates that higher headline numbers are not evidence of generalization. Withheld-country testing is mandatory.</a:t>
            </a:r>
            <a:endParaRPr lang="en-US" sz="950" dirty="0"/>
          </a:p>
        </p:txBody>
      </p:sp>
      <p:sp>
        <p:nvSpPr>
          <p:cNvPr id="14" name="Shape 12"/>
          <p:cNvSpPr/>
          <p:nvPr/>
        </p:nvSpPr>
        <p:spPr>
          <a:xfrm>
            <a:off x="8083296" y="1353312"/>
            <a:ext cx="3547872" cy="1920240"/>
          </a:xfrm>
          <a:prstGeom prst="roundRect">
            <a:avLst>
              <a:gd name="adj" fmla="val 3810"/>
            </a:avLst>
          </a:prstGeom>
          <a:solidFill>
            <a:srgbClr val="FFFFFF"/>
          </a:solidFill>
          <a:ln w="12700">
            <a:solidFill>
              <a:srgbClr val="E4E8F0"/>
            </a:solidFill>
            <a:prstDash val="solid"/>
          </a:ln>
        </p:spPr>
      </p:sp>
      <p:sp>
        <p:nvSpPr>
          <p:cNvPr id="15" name="Shape 13"/>
          <p:cNvSpPr/>
          <p:nvPr/>
        </p:nvSpPr>
        <p:spPr>
          <a:xfrm>
            <a:off x="8083296" y="1353312"/>
            <a:ext cx="3547872" cy="384048"/>
          </a:xfrm>
          <a:prstGeom prst="roundRect">
            <a:avLst>
              <a:gd name="adj" fmla="val 19048"/>
            </a:avLst>
          </a:prstGeom>
          <a:solidFill>
            <a:srgbClr val="1E2761"/>
          </a:solidFill>
          <a:ln/>
        </p:spPr>
      </p:sp>
      <p:sp>
        <p:nvSpPr>
          <p:cNvPr id="16" name="Shape 14"/>
          <p:cNvSpPr/>
          <p:nvPr/>
        </p:nvSpPr>
        <p:spPr>
          <a:xfrm>
            <a:off x="8083296" y="1536192"/>
            <a:ext cx="3547872" cy="201168"/>
          </a:xfrm>
          <a:prstGeom prst="rect">
            <a:avLst/>
          </a:prstGeom>
          <a:solidFill>
            <a:srgbClr val="1E2761"/>
          </a:solidFill>
          <a:ln/>
        </p:spPr>
      </p:sp>
      <p:sp>
        <p:nvSpPr>
          <p:cNvPr id="17" name="Text 15"/>
          <p:cNvSpPr/>
          <p:nvPr/>
        </p:nvSpPr>
        <p:spPr>
          <a:xfrm>
            <a:off x="8220456" y="1353312"/>
            <a:ext cx="327355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Issue 3 — Interpretability &amp; Recourse Trade-offs</a:t>
            </a:r>
            <a:endParaRPr lang="en-US" sz="1100" dirty="0"/>
          </a:p>
        </p:txBody>
      </p:sp>
      <p:sp>
        <p:nvSpPr>
          <p:cNvPr id="18" name="Text 16"/>
          <p:cNvSpPr/>
          <p:nvPr/>
        </p:nvSpPr>
        <p:spPr>
          <a:xfrm>
            <a:off x="8247888" y="1828800"/>
            <a:ext cx="3218688" cy="1353312"/>
          </a:xfrm>
          <a:prstGeom prst="rect">
            <a:avLst/>
          </a:prstGeom>
          <a:noFill/>
          <a:ln/>
        </p:spPr>
        <p:txBody>
          <a:bodyPr wrap="square" rtlCol="0" anchor="t"/>
          <a:lstStyle/>
          <a:p>
            <a:pPr marL="0" indent="0">
              <a:lnSpc>
                <a:spcPct val="110000"/>
              </a:lnSpc>
              <a:buNone/>
            </a:pPr>
            <a:r>
              <a:rPr lang="en-US" sz="950" dirty="0">
                <a:solidFill>
                  <a:srgbClr val="1A2140"/>
                </a:solidFill>
                <a:latin typeface="Calibri" pitchFamily="34" charset="0"/>
                <a:ea typeface="Calibri" pitchFamily="34" charset="-122"/>
                <a:cs typeface="Calibri" pitchFamily="34" charset="-120"/>
              </a:rPr>
              <a:t>SHAP offers post-hoc attribution but not causal proof; inherently interpretable EBMs carry additive assumptions; counterfactual methods trade off validity vs. actionability (Guidotti '24, Warren '24). A robust system must combine complementary tools.</a:t>
            </a:r>
            <a:endParaRPr lang="en-US" sz="950" dirty="0"/>
          </a:p>
        </p:txBody>
      </p:sp>
      <p:sp>
        <p:nvSpPr>
          <p:cNvPr id="19" name="Shape 17"/>
          <p:cNvSpPr/>
          <p:nvPr/>
        </p:nvSpPr>
        <p:spPr>
          <a:xfrm>
            <a:off x="548640" y="3502152"/>
            <a:ext cx="11094415" cy="2468880"/>
          </a:xfrm>
          <a:prstGeom prst="roundRect">
            <a:avLst>
              <a:gd name="adj" fmla="val 2963"/>
            </a:avLst>
          </a:prstGeom>
          <a:solidFill>
            <a:srgbClr val="FBEBCC"/>
          </a:solidFill>
          <a:ln w="12700">
            <a:solidFill>
              <a:srgbClr val="D98E04"/>
            </a:solidFill>
            <a:prstDash val="solid"/>
          </a:ln>
        </p:spPr>
      </p:sp>
      <p:sp>
        <p:nvSpPr>
          <p:cNvPr id="20" name="Text 18"/>
          <p:cNvSpPr/>
          <p:nvPr/>
        </p:nvSpPr>
        <p:spPr>
          <a:xfrm>
            <a:off x="822960" y="3639312"/>
            <a:ext cx="10545775" cy="292608"/>
          </a:xfrm>
          <a:prstGeom prst="rect">
            <a:avLst/>
          </a:prstGeom>
          <a:noFill/>
          <a:ln/>
        </p:spPr>
        <p:txBody>
          <a:bodyPr wrap="square" rtlCol="0" anchor="ctr"/>
          <a:lstStyle/>
          <a:p>
            <a:pPr marL="0" indent="0">
              <a:buNone/>
            </a:pPr>
            <a:r>
              <a:rPr lang="en-US" sz="1300" b="1" kern="0" spc="100" dirty="0">
                <a:solidFill>
                  <a:srgbClr val="8A5A00"/>
                </a:solidFill>
                <a:latin typeface="Calibri" pitchFamily="34" charset="0"/>
                <a:ea typeface="Calibri" pitchFamily="34" charset="-122"/>
                <a:cs typeface="Calibri" pitchFamily="34" charset="-120"/>
              </a:rPr>
              <a:t>THE UNADDRESSED RESEARCH GAP (Section 2.6)</a:t>
            </a:r>
            <a:endParaRPr lang="en-US" sz="1300" dirty="0"/>
          </a:p>
        </p:txBody>
      </p:sp>
      <p:sp>
        <p:nvSpPr>
          <p:cNvPr id="21" name="Text 19"/>
          <p:cNvSpPr/>
          <p:nvPr/>
        </p:nvSpPr>
        <p:spPr>
          <a:xfrm>
            <a:off x="822960" y="3977640"/>
            <a:ext cx="10545775" cy="1143000"/>
          </a:xfrm>
          <a:prstGeom prst="rect">
            <a:avLst/>
          </a:prstGeom>
          <a:noFill/>
          <a:ln/>
        </p:spPr>
        <p:txBody>
          <a:bodyPr wrap="square" rtlCol="0" anchor="t"/>
          <a:lstStyle/>
          <a:p>
            <a:pPr marL="0" indent="0">
              <a:lnSpc>
                <a:spcPct val="115000"/>
              </a:lnSpc>
              <a:buNone/>
            </a:pPr>
            <a:r>
              <a:rPr lang="en-US" sz="1250" b="1" dirty="0">
                <a:solidFill>
                  <a:srgbClr val="5C3E00"/>
                </a:solidFill>
                <a:latin typeface="Cambria" pitchFamily="34" charset="0"/>
                <a:ea typeface="Cambria" pitchFamily="34" charset="-122"/>
                <a:cs typeface="Cambria" pitchFamily="34" charset="-120"/>
              </a:rPr>
              <a:t>“Existing research has addressed these components individually, but not in combination:</a:t>
            </a:r>
            <a:endParaRPr lang="en-US" sz="1250" dirty="0"/>
          </a:p>
          <a:p>
            <a:pPr marL="0" indent="0">
              <a:lnSpc>
                <a:spcPct val="115000"/>
              </a:lnSpc>
              <a:buNone/>
            </a:pPr>
            <a:r>
              <a:rPr lang="en-US" sz="1250" b="1" dirty="0">
                <a:solidFill>
                  <a:srgbClr val="5C3E00"/>
                </a:solidFill>
                <a:latin typeface="Cambria" pitchFamily="34" charset="0"/>
                <a:ea typeface="Cambria" pitchFamily="34" charset="-122"/>
                <a:cs typeface="Cambria" pitchFamily="34" charset="-120"/>
              </a:rPr>
              <a:t>model comparison, cross-country generalization, interpretability, and counterfactual explanation are rarely integrated within a single framework for household well-being prediction using harmonized African survey data.</a:t>
            </a:r>
            <a:endParaRPr lang="en-US" sz="1250" dirty="0"/>
          </a:p>
          <a:p>
            <a:pPr marL="0" indent="0">
              <a:lnSpc>
                <a:spcPct val="115000"/>
              </a:lnSpc>
              <a:buNone/>
            </a:pPr>
            <a:endParaRPr lang="en-US" sz="1250" dirty="0"/>
          </a:p>
          <a:p>
            <a:pPr marL="0" indent="0">
              <a:lnSpc>
                <a:spcPct val="115000"/>
              </a:lnSpc>
              <a:buNone/>
            </a:pPr>
            <a:r>
              <a:rPr lang="en-US" sz="1250" b="1" dirty="0">
                <a:solidFill>
                  <a:srgbClr val="5C3E00"/>
                </a:solidFill>
                <a:latin typeface="Cambria" pitchFamily="34" charset="0"/>
                <a:ea typeface="Cambria" pitchFamily="34" charset="-122"/>
                <a:cs typeface="Cambria" pitchFamily="34" charset="-120"/>
              </a:rPr>
              <a:t>This — rather than any single component being unexplored — is the gap the proposed Interpretable Cross-Country Household Well-Being Estimation framework addresses.”</a:t>
            </a:r>
            <a:endParaRPr lang="en-US" sz="1250" dirty="0"/>
          </a:p>
        </p:txBody>
      </p:sp>
      <p:sp>
        <p:nvSpPr>
          <p:cNvPr id="22" name="Shape 20"/>
          <p:cNvSpPr/>
          <p:nvPr/>
        </p:nvSpPr>
        <p:spPr>
          <a:xfrm>
            <a:off x="822960" y="5285232"/>
            <a:ext cx="10545775" cy="594360"/>
          </a:xfrm>
          <a:prstGeom prst="roundRect">
            <a:avLst>
              <a:gd name="adj" fmla="val 12308"/>
            </a:avLst>
          </a:prstGeom>
          <a:solidFill>
            <a:srgbClr val="1E2761"/>
          </a:solidFill>
          <a:ln/>
        </p:spPr>
      </p:sp>
      <p:sp>
        <p:nvSpPr>
          <p:cNvPr id="23" name="Text 21"/>
          <p:cNvSpPr/>
          <p:nvPr/>
        </p:nvSpPr>
        <p:spPr>
          <a:xfrm>
            <a:off x="960120" y="5193792"/>
            <a:ext cx="10271455" cy="5943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DSCI-28 Solution: We evaluate LR, RF, XGBoost, LightGBM, CatBoost &amp; EBM across 8 EHCVM nations — uniting within-country CV, cross-country transfer, complementary EBM+SHAP interpretability, and actionable counterfactual recourse.</a:t>
            </a:r>
            <a:endParaRPr lang="en-US" sz="1050" dirty="0"/>
          </a:p>
        </p:txBody>
      </p:sp>
      <p:sp>
        <p:nvSpPr>
          <p:cNvPr id="24" name="Text 2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13</a:t>
            </a:r>
            <a:endParaRPr lang="en-US" sz="950" dirty="0"/>
          </a:p>
        </p:txBody>
      </p:sp>
      <p:sp>
        <p:nvSpPr>
          <p:cNvPr id="25" name="Text 2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274320"/>
          </a:xfrm>
          <a:prstGeom prst="rect">
            <a:avLst/>
          </a:prstGeom>
          <a:noFill/>
          <a:ln/>
        </p:spPr>
        <p:txBody>
          <a:bodyPr wrap="square" rtlCol="0" anchor="ctr"/>
          <a:lstStyle/>
          <a:p>
            <a:pPr marL="0" indent="0">
              <a:buNone/>
            </a:pPr>
            <a:r>
              <a:rPr lang="en-US" sz="1200" b="1" kern="0" spc="200" dirty="0">
                <a:solidFill>
                  <a:srgbClr val="D98E04"/>
                </a:solidFill>
                <a:latin typeface="Calibri" pitchFamily="34" charset="0"/>
                <a:ea typeface="Calibri" pitchFamily="34" charset="-122"/>
                <a:cs typeface="Calibri" pitchFamily="34" charset="-120"/>
              </a:rPr>
              <a:t>NOVELTY &amp; POSITIONING STATEMENT</a:t>
            </a:r>
            <a:endParaRPr lang="en-US" sz="1200" dirty="0"/>
          </a:p>
        </p:txBody>
      </p:sp>
      <p:sp>
        <p:nvSpPr>
          <p:cNvPr id="3" name="Text 1"/>
          <p:cNvSpPr/>
          <p:nvPr/>
        </p:nvSpPr>
        <p:spPr>
          <a:xfrm>
            <a:off x="548640" y="868680"/>
            <a:ext cx="11094415"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Four Distinct Technical Contributions of DSCI-28</a:t>
            </a:r>
            <a:endParaRPr lang="en-US" sz="2800" dirty="0"/>
          </a:p>
        </p:txBody>
      </p:sp>
      <p:sp>
        <p:nvSpPr>
          <p:cNvPr id="4" name="Shape 2"/>
          <p:cNvSpPr/>
          <p:nvPr/>
        </p:nvSpPr>
        <p:spPr>
          <a:xfrm>
            <a:off x="548640" y="1691640"/>
            <a:ext cx="5349240" cy="1920240"/>
          </a:xfrm>
          <a:prstGeom prst="roundRect">
            <a:avLst>
              <a:gd name="adj" fmla="val 4762"/>
            </a:avLst>
          </a:prstGeom>
          <a:solidFill>
            <a:srgbClr val="141A45"/>
          </a:solidFill>
          <a:ln w="12700">
            <a:solidFill>
              <a:srgbClr val="2D3875"/>
            </a:solidFill>
            <a:prstDash val="solid"/>
          </a:ln>
        </p:spPr>
      </p:sp>
      <p:sp>
        <p:nvSpPr>
          <p:cNvPr id="5" name="Shape 3"/>
          <p:cNvSpPr/>
          <p:nvPr/>
        </p:nvSpPr>
        <p:spPr>
          <a:xfrm>
            <a:off x="777240" y="1920240"/>
            <a:ext cx="457200" cy="457200"/>
          </a:xfrm>
          <a:prstGeom prst="ellipse">
            <a:avLst/>
          </a:prstGeom>
          <a:solidFill>
            <a:srgbClr val="D98E04"/>
          </a:solidFill>
          <a:ln/>
        </p:spPr>
      </p:sp>
      <p:sp>
        <p:nvSpPr>
          <p:cNvPr id="6" name="Text 4"/>
          <p:cNvSpPr/>
          <p:nvPr/>
        </p:nvSpPr>
        <p:spPr>
          <a:xfrm>
            <a:off x="777240" y="19202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371600" y="1920240"/>
            <a:ext cx="4343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Harmonised Cross-Country Ingestion</a:t>
            </a:r>
            <a:endParaRPr lang="en-US" sz="1400" dirty="0"/>
          </a:p>
        </p:txBody>
      </p:sp>
      <p:sp>
        <p:nvSpPr>
          <p:cNvPr id="8" name="Text 6"/>
          <p:cNvSpPr/>
          <p:nvPr/>
        </p:nvSpPr>
        <p:spPr>
          <a:xfrm>
            <a:off x="777240" y="2468880"/>
            <a:ext cx="4892040" cy="1005840"/>
          </a:xfrm>
          <a:prstGeom prst="rect">
            <a:avLst/>
          </a:prstGeom>
          <a:noFill/>
          <a:ln/>
        </p:spPr>
        <p:txBody>
          <a:bodyPr wrap="square" rtlCol="0" anchor="t"/>
          <a:lstStyle/>
          <a:p>
            <a:pPr marL="0" indent="0">
              <a:lnSpc>
                <a:spcPct val="112000"/>
              </a:lnSpc>
              <a:buNone/>
            </a:pPr>
            <a:r>
              <a:rPr lang="en-US" sz="1100" dirty="0">
                <a:solidFill>
                  <a:srgbClr val="CADCFC"/>
                </a:solidFill>
                <a:latin typeface="Calibri" pitchFamily="34" charset="0"/>
                <a:ea typeface="Calibri" pitchFamily="34" charset="-122"/>
                <a:cs typeface="Calibri" pitchFamily="34" charset="-120"/>
              </a:rPr>
              <a:t>First pipeline to ingest and validate 8 real West African nations with 24 declarative Pandera schema contracts, producing 55,922 clean households with unified feature semantics.</a:t>
            </a:r>
            <a:endParaRPr lang="en-US" sz="1100" dirty="0"/>
          </a:p>
        </p:txBody>
      </p:sp>
      <p:sp>
        <p:nvSpPr>
          <p:cNvPr id="9" name="Shape 7"/>
          <p:cNvSpPr/>
          <p:nvPr/>
        </p:nvSpPr>
        <p:spPr>
          <a:xfrm>
            <a:off x="6291072" y="1691640"/>
            <a:ext cx="5349240" cy="1920240"/>
          </a:xfrm>
          <a:prstGeom prst="roundRect">
            <a:avLst>
              <a:gd name="adj" fmla="val 4762"/>
            </a:avLst>
          </a:prstGeom>
          <a:solidFill>
            <a:srgbClr val="141A45"/>
          </a:solidFill>
          <a:ln w="12700">
            <a:solidFill>
              <a:srgbClr val="2D3875"/>
            </a:solidFill>
            <a:prstDash val="solid"/>
          </a:ln>
        </p:spPr>
      </p:sp>
      <p:sp>
        <p:nvSpPr>
          <p:cNvPr id="10" name="Shape 8"/>
          <p:cNvSpPr/>
          <p:nvPr/>
        </p:nvSpPr>
        <p:spPr>
          <a:xfrm>
            <a:off x="6519672" y="1920240"/>
            <a:ext cx="457200" cy="457200"/>
          </a:xfrm>
          <a:prstGeom prst="ellipse">
            <a:avLst/>
          </a:prstGeom>
          <a:solidFill>
            <a:srgbClr val="D98E04"/>
          </a:solidFill>
          <a:ln/>
        </p:spPr>
      </p:sp>
      <p:sp>
        <p:nvSpPr>
          <p:cNvPr id="11" name="Text 9"/>
          <p:cNvSpPr/>
          <p:nvPr/>
        </p:nvSpPr>
        <p:spPr>
          <a:xfrm>
            <a:off x="6519672" y="19202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7114032" y="1920240"/>
            <a:ext cx="4343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Intrinsic Interpretability via EBM</a:t>
            </a:r>
            <a:endParaRPr lang="en-US" sz="1400" dirty="0"/>
          </a:p>
        </p:txBody>
      </p:sp>
      <p:sp>
        <p:nvSpPr>
          <p:cNvPr id="13" name="Text 11"/>
          <p:cNvSpPr/>
          <p:nvPr/>
        </p:nvSpPr>
        <p:spPr>
          <a:xfrm>
            <a:off x="6519672" y="2468880"/>
            <a:ext cx="4892040" cy="1005840"/>
          </a:xfrm>
          <a:prstGeom prst="rect">
            <a:avLst/>
          </a:prstGeom>
          <a:noFill/>
          <a:ln/>
        </p:spPr>
        <p:txBody>
          <a:bodyPr wrap="square" rtlCol="0" anchor="t"/>
          <a:lstStyle/>
          <a:p>
            <a:pPr marL="0" indent="0">
              <a:lnSpc>
                <a:spcPct val="112000"/>
              </a:lnSpc>
              <a:buNone/>
            </a:pPr>
            <a:r>
              <a:rPr lang="en-US" sz="1100" dirty="0">
                <a:solidFill>
                  <a:srgbClr val="CADCFC"/>
                </a:solidFill>
                <a:latin typeface="Calibri" pitchFamily="34" charset="0"/>
                <a:ea typeface="Calibri" pitchFamily="34" charset="-122"/>
                <a:cs typeface="Calibri" pitchFamily="34" charset="-120"/>
              </a:rPr>
              <a:t>Replacing black-box opacity with Explainable Boosting Machines (GA²M). Exact additive mathematical terms g(y) = ∑ f_i(x_i) — resolving the post-hoc causality concerns raised by Dejkam &amp; Madlener (2025).</a:t>
            </a:r>
            <a:endParaRPr lang="en-US" sz="1100" dirty="0"/>
          </a:p>
        </p:txBody>
      </p:sp>
      <p:sp>
        <p:nvSpPr>
          <p:cNvPr id="14" name="Shape 12"/>
          <p:cNvSpPr/>
          <p:nvPr/>
        </p:nvSpPr>
        <p:spPr>
          <a:xfrm>
            <a:off x="548640" y="3886200"/>
            <a:ext cx="5349240" cy="1920240"/>
          </a:xfrm>
          <a:prstGeom prst="roundRect">
            <a:avLst>
              <a:gd name="adj" fmla="val 4762"/>
            </a:avLst>
          </a:prstGeom>
          <a:solidFill>
            <a:srgbClr val="141A45"/>
          </a:solidFill>
          <a:ln w="12700">
            <a:solidFill>
              <a:srgbClr val="2D3875"/>
            </a:solidFill>
            <a:prstDash val="solid"/>
          </a:ln>
        </p:spPr>
      </p:sp>
      <p:sp>
        <p:nvSpPr>
          <p:cNvPr id="15" name="Shape 13"/>
          <p:cNvSpPr/>
          <p:nvPr/>
        </p:nvSpPr>
        <p:spPr>
          <a:xfrm>
            <a:off x="777240" y="4114800"/>
            <a:ext cx="457200" cy="457200"/>
          </a:xfrm>
          <a:prstGeom prst="ellipse">
            <a:avLst/>
          </a:prstGeom>
          <a:solidFill>
            <a:srgbClr val="D98E04"/>
          </a:solidFill>
          <a:ln/>
        </p:spPr>
      </p:sp>
      <p:sp>
        <p:nvSpPr>
          <p:cNvPr id="16" name="Text 14"/>
          <p:cNvSpPr/>
          <p:nvPr/>
        </p:nvSpPr>
        <p:spPr>
          <a:xfrm>
            <a:off x="777240" y="411480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371600" y="4114800"/>
            <a:ext cx="4343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Welfare-Aligned Asymmetric Loss</a:t>
            </a:r>
            <a:endParaRPr lang="en-US" sz="1400" dirty="0"/>
          </a:p>
        </p:txBody>
      </p:sp>
      <p:sp>
        <p:nvSpPr>
          <p:cNvPr id="18" name="Text 16"/>
          <p:cNvSpPr/>
          <p:nvPr/>
        </p:nvSpPr>
        <p:spPr>
          <a:xfrm>
            <a:off x="777240" y="4663440"/>
            <a:ext cx="4892040" cy="1005840"/>
          </a:xfrm>
          <a:prstGeom prst="rect">
            <a:avLst/>
          </a:prstGeom>
          <a:noFill/>
          <a:ln/>
        </p:spPr>
        <p:txBody>
          <a:bodyPr wrap="square" rtlCol="0" anchor="t"/>
          <a:lstStyle/>
          <a:p>
            <a:pPr marL="0" indent="0">
              <a:lnSpc>
                <a:spcPct val="112000"/>
              </a:lnSpc>
              <a:buNone/>
            </a:pPr>
            <a:r>
              <a:rPr lang="en-US" sz="1100" dirty="0">
                <a:solidFill>
                  <a:srgbClr val="CADCFC"/>
                </a:solidFill>
                <a:latin typeface="Calibri" pitchFamily="34" charset="0"/>
                <a:ea typeface="Calibri" pitchFamily="34" charset="-122"/>
                <a:cs typeface="Calibri" pitchFamily="34" charset="-120"/>
              </a:rPr>
              <a:t>Quantifying and optimizing the explicit policy trade-off between catastrophic Exclusion Errors (FN) and fiscal Leakage Errors (FP) via asymmetric threshold calibration.</a:t>
            </a:r>
            <a:endParaRPr lang="en-US" sz="1100" dirty="0"/>
          </a:p>
        </p:txBody>
      </p:sp>
      <p:sp>
        <p:nvSpPr>
          <p:cNvPr id="19" name="Shape 17"/>
          <p:cNvSpPr/>
          <p:nvPr/>
        </p:nvSpPr>
        <p:spPr>
          <a:xfrm>
            <a:off x="6291072" y="3886200"/>
            <a:ext cx="5349240" cy="1920240"/>
          </a:xfrm>
          <a:prstGeom prst="roundRect">
            <a:avLst>
              <a:gd name="adj" fmla="val 4762"/>
            </a:avLst>
          </a:prstGeom>
          <a:solidFill>
            <a:srgbClr val="141A45"/>
          </a:solidFill>
          <a:ln w="12700">
            <a:solidFill>
              <a:srgbClr val="2D3875"/>
            </a:solidFill>
            <a:prstDash val="solid"/>
          </a:ln>
        </p:spPr>
      </p:sp>
      <p:sp>
        <p:nvSpPr>
          <p:cNvPr id="20" name="Shape 18"/>
          <p:cNvSpPr/>
          <p:nvPr/>
        </p:nvSpPr>
        <p:spPr>
          <a:xfrm>
            <a:off x="6519672" y="4114800"/>
            <a:ext cx="457200" cy="457200"/>
          </a:xfrm>
          <a:prstGeom prst="ellipse">
            <a:avLst/>
          </a:prstGeom>
          <a:solidFill>
            <a:srgbClr val="D98E04"/>
          </a:solidFill>
          <a:ln/>
        </p:spPr>
      </p:sp>
      <p:sp>
        <p:nvSpPr>
          <p:cNvPr id="21" name="Text 19"/>
          <p:cNvSpPr/>
          <p:nvPr/>
        </p:nvSpPr>
        <p:spPr>
          <a:xfrm>
            <a:off x="6519672" y="411480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7114032" y="4114800"/>
            <a:ext cx="4343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Actionable Counterfactual Recourse</a:t>
            </a:r>
            <a:endParaRPr lang="en-US" sz="1400" dirty="0"/>
          </a:p>
        </p:txBody>
      </p:sp>
      <p:sp>
        <p:nvSpPr>
          <p:cNvPr id="23" name="Text 21"/>
          <p:cNvSpPr/>
          <p:nvPr/>
        </p:nvSpPr>
        <p:spPr>
          <a:xfrm>
            <a:off x="6519672" y="4663440"/>
            <a:ext cx="4892040" cy="1005840"/>
          </a:xfrm>
          <a:prstGeom prst="rect">
            <a:avLst/>
          </a:prstGeom>
          <a:noFill/>
          <a:ln/>
        </p:spPr>
        <p:txBody>
          <a:bodyPr wrap="square" rtlCol="0" anchor="t"/>
          <a:lstStyle/>
          <a:p>
            <a:pPr marL="0" indent="0">
              <a:lnSpc>
                <a:spcPct val="112000"/>
              </a:lnSpc>
              <a:buNone/>
            </a:pPr>
            <a:r>
              <a:rPr lang="en-US" sz="1100" dirty="0">
                <a:solidFill>
                  <a:srgbClr val="CADCFC"/>
                </a:solidFill>
                <a:latin typeface="Calibri" pitchFamily="34" charset="0"/>
                <a:ea typeface="Calibri" pitchFamily="34" charset="-122"/>
                <a:cs typeface="Calibri" pitchFamily="34" charset="-120"/>
              </a:rPr>
              <a:t>Applying Guidotti (2024) and Warren et al. (2024) principles: separating actionable household features from fixed demographics to deliver legally defensible recourse.</a:t>
            </a:r>
            <a:endParaRPr lang="en-US" sz="1100" dirty="0"/>
          </a:p>
        </p:txBody>
      </p:sp>
      <p:sp>
        <p:nvSpPr>
          <p:cNvPr id="24" name="Text 2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8891C4"/>
                </a:solidFill>
                <a:latin typeface="Calibri" pitchFamily="34" charset="0"/>
                <a:ea typeface="Calibri" pitchFamily="34" charset="-122"/>
                <a:cs typeface="Calibri" pitchFamily="34" charset="-120"/>
              </a:rPr>
              <a:t>14</a:t>
            </a:r>
            <a:endParaRPr lang="en-US" sz="950" dirty="0"/>
          </a:p>
        </p:txBody>
      </p:sp>
      <p:sp>
        <p:nvSpPr>
          <p:cNvPr id="25" name="Text 2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8891C4"/>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OBJECTIVE 1 — FULLY COMPLETE</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Data Foundation Pipeline: 8 Countries, 55,922 Households</a:t>
            </a:r>
            <a:endParaRPr lang="en-US" sz="2500" dirty="0"/>
          </a:p>
        </p:txBody>
      </p:sp>
      <p:sp>
        <p:nvSpPr>
          <p:cNvPr id="4" name="Shape 2"/>
          <p:cNvSpPr/>
          <p:nvPr/>
        </p:nvSpPr>
        <p:spPr>
          <a:xfrm>
            <a:off x="640080" y="1353312"/>
            <a:ext cx="1920240" cy="868680"/>
          </a:xfrm>
          <a:prstGeom prst="roundRect">
            <a:avLst>
              <a:gd name="adj" fmla="val 8421"/>
            </a:avLst>
          </a:prstGeom>
          <a:solidFill>
            <a:srgbClr val="1E2761"/>
          </a:solidFill>
          <a:ln/>
        </p:spPr>
      </p:sp>
      <p:sp>
        <p:nvSpPr>
          <p:cNvPr id="5" name="Text 3"/>
          <p:cNvSpPr/>
          <p:nvPr/>
        </p:nvSpPr>
        <p:spPr>
          <a:xfrm>
            <a:off x="713232" y="1353312"/>
            <a:ext cx="1773936" cy="868680"/>
          </a:xfrm>
          <a:prstGeom prst="rect">
            <a:avLst/>
          </a:prstGeom>
          <a:noFill/>
          <a:ln/>
        </p:spPr>
        <p:txBody>
          <a:bodyPr wrap="square" rtlCol="0" anchor="ctr"/>
          <a:lstStyle/>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Ingest</a:t>
            </a:r>
            <a:endParaRPr lang="en-US" sz="1100" dirty="0"/>
          </a:p>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24 CSV Files</a:t>
            </a:r>
            <a:endParaRPr lang="en-US" sz="1100" dirty="0"/>
          </a:p>
        </p:txBody>
      </p:sp>
      <p:sp>
        <p:nvSpPr>
          <p:cNvPr id="6" name="Text 4"/>
          <p:cNvSpPr/>
          <p:nvPr/>
        </p:nvSpPr>
        <p:spPr>
          <a:xfrm>
            <a:off x="2560320" y="1353312"/>
            <a:ext cx="18288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743200" y="1353312"/>
            <a:ext cx="1920240" cy="868680"/>
          </a:xfrm>
          <a:prstGeom prst="roundRect">
            <a:avLst>
              <a:gd name="adj" fmla="val 8421"/>
            </a:avLst>
          </a:prstGeom>
          <a:solidFill>
            <a:srgbClr val="1E2761"/>
          </a:solidFill>
          <a:ln/>
        </p:spPr>
      </p:sp>
      <p:sp>
        <p:nvSpPr>
          <p:cNvPr id="8" name="Text 6"/>
          <p:cNvSpPr/>
          <p:nvPr/>
        </p:nvSpPr>
        <p:spPr>
          <a:xfrm>
            <a:off x="2816352" y="1353312"/>
            <a:ext cx="1773936" cy="868680"/>
          </a:xfrm>
          <a:prstGeom prst="rect">
            <a:avLst/>
          </a:prstGeom>
          <a:noFill/>
          <a:ln/>
        </p:spPr>
        <p:txBody>
          <a:bodyPr wrap="square" rtlCol="0" anchor="ctr"/>
          <a:lstStyle/>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24 Pandera Schemas</a:t>
            </a:r>
            <a:endParaRPr lang="en-US" sz="1100" dirty="0"/>
          </a:p>
        </p:txBody>
      </p:sp>
      <p:sp>
        <p:nvSpPr>
          <p:cNvPr id="9" name="Text 7"/>
          <p:cNvSpPr/>
          <p:nvPr/>
        </p:nvSpPr>
        <p:spPr>
          <a:xfrm>
            <a:off x="4663440" y="1353312"/>
            <a:ext cx="18288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846320" y="1353312"/>
            <a:ext cx="1920240" cy="868680"/>
          </a:xfrm>
          <a:prstGeom prst="roundRect">
            <a:avLst>
              <a:gd name="adj" fmla="val 8421"/>
            </a:avLst>
          </a:prstGeom>
          <a:solidFill>
            <a:srgbClr val="1E2761"/>
          </a:solidFill>
          <a:ln/>
        </p:spPr>
      </p:sp>
      <p:sp>
        <p:nvSpPr>
          <p:cNvPr id="11" name="Text 9"/>
          <p:cNvSpPr/>
          <p:nvPr/>
        </p:nvSpPr>
        <p:spPr>
          <a:xfrm>
            <a:off x="4919472" y="1353312"/>
            <a:ext cx="1773936" cy="868680"/>
          </a:xfrm>
          <a:prstGeom prst="rect">
            <a:avLst/>
          </a:prstGeom>
          <a:noFill/>
          <a:ln/>
        </p:spPr>
        <p:txBody>
          <a:bodyPr wrap="square" rtlCol="0" anchor="ctr"/>
          <a:lstStyle/>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Engineer</a:t>
            </a:r>
            <a:endParaRPr lang="en-US" sz="1100" dirty="0"/>
          </a:p>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3-Table Relational Merge</a:t>
            </a:r>
            <a:endParaRPr lang="en-US" sz="1100" dirty="0"/>
          </a:p>
        </p:txBody>
      </p:sp>
      <p:sp>
        <p:nvSpPr>
          <p:cNvPr id="12" name="Text 10"/>
          <p:cNvSpPr/>
          <p:nvPr/>
        </p:nvSpPr>
        <p:spPr>
          <a:xfrm>
            <a:off x="6766560" y="1353312"/>
            <a:ext cx="18288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949440" y="1353312"/>
            <a:ext cx="1920240" cy="868680"/>
          </a:xfrm>
          <a:prstGeom prst="roundRect">
            <a:avLst>
              <a:gd name="adj" fmla="val 8421"/>
            </a:avLst>
          </a:prstGeom>
          <a:solidFill>
            <a:srgbClr val="1E2761"/>
          </a:solidFill>
          <a:ln/>
        </p:spPr>
      </p:sp>
      <p:sp>
        <p:nvSpPr>
          <p:cNvPr id="14" name="Text 12"/>
          <p:cNvSpPr/>
          <p:nvPr/>
        </p:nvSpPr>
        <p:spPr>
          <a:xfrm>
            <a:off x="7022592" y="1353312"/>
            <a:ext cx="1773936" cy="868680"/>
          </a:xfrm>
          <a:prstGeom prst="rect">
            <a:avLst/>
          </a:prstGeom>
          <a:noFill/>
          <a:ln/>
        </p:spPr>
        <p:txBody>
          <a:bodyPr wrap="square" rtlCol="0" anchor="ctr"/>
          <a:lstStyle/>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Impute</a:t>
            </a:r>
            <a:endParaRPr lang="en-US" sz="1100" dirty="0"/>
          </a:p>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Median / Mode Handlers</a:t>
            </a:r>
            <a:endParaRPr lang="en-US" sz="1100" dirty="0"/>
          </a:p>
        </p:txBody>
      </p:sp>
      <p:sp>
        <p:nvSpPr>
          <p:cNvPr id="15" name="Text 13"/>
          <p:cNvSpPr/>
          <p:nvPr/>
        </p:nvSpPr>
        <p:spPr>
          <a:xfrm>
            <a:off x="8869680" y="1353312"/>
            <a:ext cx="18288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052560" y="1353312"/>
            <a:ext cx="1920240" cy="868680"/>
          </a:xfrm>
          <a:prstGeom prst="roundRect">
            <a:avLst>
              <a:gd name="adj" fmla="val 8421"/>
            </a:avLst>
          </a:prstGeom>
          <a:solidFill>
            <a:srgbClr val="1F8A5A"/>
          </a:solidFill>
          <a:ln/>
        </p:spPr>
      </p:sp>
      <p:sp>
        <p:nvSpPr>
          <p:cNvPr id="17" name="Text 15"/>
          <p:cNvSpPr/>
          <p:nvPr/>
        </p:nvSpPr>
        <p:spPr>
          <a:xfrm>
            <a:off x="9125712" y="1353312"/>
            <a:ext cx="1773936" cy="868680"/>
          </a:xfrm>
          <a:prstGeom prst="rect">
            <a:avLst/>
          </a:prstGeom>
          <a:noFill/>
          <a:ln/>
        </p:spPr>
        <p:txBody>
          <a:bodyPr wrap="square" rtlCol="0" anchor="ctr"/>
          <a:lstStyle/>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Export</a:t>
            </a:r>
            <a:endParaRPr lang="en-US" sz="1100" dirty="0"/>
          </a:p>
          <a:p>
            <a:pPr marL="0" indent="0" algn="ctr">
              <a:lnSpc>
                <a:spcPct val="108000"/>
              </a:lnSpc>
              <a:buNone/>
            </a:pPr>
            <a:r>
              <a:rPr lang="en-US" sz="1100" b="1" dirty="0">
                <a:solidFill>
                  <a:srgbClr val="FFFFFF"/>
                </a:solidFill>
                <a:latin typeface="Calibri" pitchFamily="34" charset="0"/>
                <a:ea typeface="Calibri" pitchFamily="34" charset="-122"/>
                <a:cs typeface="Calibri" pitchFamily="34" charset="-120"/>
              </a:rPr>
              <a:t>8 Clean ML Datasets</a:t>
            </a:r>
            <a:endParaRPr lang="en-US" sz="1100" dirty="0"/>
          </a:p>
        </p:txBody>
      </p:sp>
      <p:sp>
        <p:nvSpPr>
          <p:cNvPr id="18" name="Shape 16"/>
          <p:cNvSpPr/>
          <p:nvPr/>
        </p:nvSpPr>
        <p:spPr>
          <a:xfrm>
            <a:off x="548640" y="2450592"/>
            <a:ext cx="2606040" cy="868680"/>
          </a:xfrm>
          <a:prstGeom prst="roundRect">
            <a:avLst>
              <a:gd name="adj" fmla="val 8421"/>
            </a:avLst>
          </a:prstGeom>
          <a:solidFill>
            <a:srgbClr val="EEF3FE"/>
          </a:solidFill>
          <a:ln w="12700">
            <a:solidFill>
              <a:srgbClr val="CADCFC"/>
            </a:solidFill>
            <a:prstDash val="solid"/>
          </a:ln>
        </p:spPr>
      </p:sp>
      <p:sp>
        <p:nvSpPr>
          <p:cNvPr id="19" name="Text 17"/>
          <p:cNvSpPr/>
          <p:nvPr/>
        </p:nvSpPr>
        <p:spPr>
          <a:xfrm>
            <a:off x="548640" y="2505456"/>
            <a:ext cx="2606040" cy="475488"/>
          </a:xfrm>
          <a:prstGeom prst="rect">
            <a:avLst/>
          </a:prstGeom>
          <a:noFill/>
          <a:ln/>
        </p:spPr>
        <p:txBody>
          <a:bodyPr wrap="square" rtlCol="0" anchor="ctr"/>
          <a:lstStyle/>
          <a:p>
            <a:pPr marL="0" indent="0" algn="ctr">
              <a:buNone/>
            </a:pPr>
            <a:r>
              <a:rPr lang="en-US" sz="2400" b="1" dirty="0">
                <a:solidFill>
                  <a:srgbClr val="1F8A5A"/>
                </a:solidFill>
                <a:latin typeface="Cambria" pitchFamily="34" charset="0"/>
                <a:ea typeface="Cambria" pitchFamily="34" charset="-122"/>
                <a:cs typeface="Cambria" pitchFamily="34" charset="-120"/>
              </a:rPr>
              <a:t>24 / 24</a:t>
            </a:r>
            <a:endParaRPr lang="en-US" sz="2400" dirty="0"/>
          </a:p>
        </p:txBody>
      </p:sp>
      <p:sp>
        <p:nvSpPr>
          <p:cNvPr id="20" name="Text 18"/>
          <p:cNvSpPr/>
          <p:nvPr/>
        </p:nvSpPr>
        <p:spPr>
          <a:xfrm>
            <a:off x="640080" y="2980944"/>
            <a:ext cx="2423160" cy="292608"/>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Pandera Schemas Passed</a:t>
            </a:r>
            <a:endParaRPr lang="en-US" sz="1000" dirty="0"/>
          </a:p>
        </p:txBody>
      </p:sp>
      <p:sp>
        <p:nvSpPr>
          <p:cNvPr id="21" name="Shape 19"/>
          <p:cNvSpPr/>
          <p:nvPr/>
        </p:nvSpPr>
        <p:spPr>
          <a:xfrm>
            <a:off x="3291840" y="2450592"/>
            <a:ext cx="2606040" cy="868680"/>
          </a:xfrm>
          <a:prstGeom prst="roundRect">
            <a:avLst>
              <a:gd name="adj" fmla="val 8421"/>
            </a:avLst>
          </a:prstGeom>
          <a:solidFill>
            <a:srgbClr val="EEF3FE"/>
          </a:solidFill>
          <a:ln w="12700">
            <a:solidFill>
              <a:srgbClr val="CADCFC"/>
            </a:solidFill>
            <a:prstDash val="solid"/>
          </a:ln>
        </p:spPr>
      </p:sp>
      <p:sp>
        <p:nvSpPr>
          <p:cNvPr id="22" name="Text 20"/>
          <p:cNvSpPr/>
          <p:nvPr/>
        </p:nvSpPr>
        <p:spPr>
          <a:xfrm>
            <a:off x="3291840" y="2505456"/>
            <a:ext cx="2606040" cy="475488"/>
          </a:xfrm>
          <a:prstGeom prst="rect">
            <a:avLst/>
          </a:prstGeom>
          <a:noFill/>
          <a:ln/>
        </p:spPr>
        <p:txBody>
          <a:bodyPr wrap="square" rtlCol="0" anchor="ctr"/>
          <a:lstStyle/>
          <a:p>
            <a:pPr marL="0" indent="0" algn="ctr">
              <a:buNone/>
            </a:pPr>
            <a:r>
              <a:rPr lang="en-US" sz="2400" b="1" dirty="0">
                <a:solidFill>
                  <a:srgbClr val="1F8A5A"/>
                </a:solidFill>
                <a:latin typeface="Cambria" pitchFamily="34" charset="0"/>
                <a:ea typeface="Cambria" pitchFamily="34" charset="-122"/>
                <a:cs typeface="Cambria" pitchFamily="34" charset="-120"/>
              </a:rPr>
              <a:t>55,922</a:t>
            </a:r>
            <a:endParaRPr lang="en-US" sz="2400" dirty="0"/>
          </a:p>
        </p:txBody>
      </p:sp>
      <p:sp>
        <p:nvSpPr>
          <p:cNvPr id="23" name="Text 21"/>
          <p:cNvSpPr/>
          <p:nvPr/>
        </p:nvSpPr>
        <p:spPr>
          <a:xfrm>
            <a:off x="3383280" y="2980944"/>
            <a:ext cx="2423160" cy="292608"/>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Total Clean Households</a:t>
            </a:r>
            <a:endParaRPr lang="en-US" sz="1000" dirty="0"/>
          </a:p>
        </p:txBody>
      </p:sp>
      <p:sp>
        <p:nvSpPr>
          <p:cNvPr id="24" name="Shape 22"/>
          <p:cNvSpPr/>
          <p:nvPr/>
        </p:nvSpPr>
        <p:spPr>
          <a:xfrm>
            <a:off x="6035040" y="2450592"/>
            <a:ext cx="2606040" cy="868680"/>
          </a:xfrm>
          <a:prstGeom prst="roundRect">
            <a:avLst>
              <a:gd name="adj" fmla="val 8421"/>
            </a:avLst>
          </a:prstGeom>
          <a:solidFill>
            <a:srgbClr val="EEF3FE"/>
          </a:solidFill>
          <a:ln w="12700">
            <a:solidFill>
              <a:srgbClr val="CADCFC"/>
            </a:solidFill>
            <a:prstDash val="solid"/>
          </a:ln>
        </p:spPr>
      </p:sp>
      <p:sp>
        <p:nvSpPr>
          <p:cNvPr id="25" name="Text 23"/>
          <p:cNvSpPr/>
          <p:nvPr/>
        </p:nvSpPr>
        <p:spPr>
          <a:xfrm>
            <a:off x="6035040" y="2505456"/>
            <a:ext cx="2606040" cy="475488"/>
          </a:xfrm>
          <a:prstGeom prst="rect">
            <a:avLst/>
          </a:prstGeom>
          <a:noFill/>
          <a:ln/>
        </p:spPr>
        <p:txBody>
          <a:bodyPr wrap="square" rtlCol="0" anchor="ctr"/>
          <a:lstStyle/>
          <a:p>
            <a:pPr marL="0" indent="0" algn="ctr">
              <a:buNone/>
            </a:pPr>
            <a:r>
              <a:rPr lang="en-US" sz="2400" b="1" dirty="0">
                <a:solidFill>
                  <a:srgbClr val="1F8A5A"/>
                </a:solidFill>
                <a:latin typeface="Cambria" pitchFamily="34" charset="0"/>
                <a:ea typeface="Cambria" pitchFamily="34" charset="-122"/>
                <a:cs typeface="Cambria" pitchFamily="34" charset="-120"/>
              </a:rPr>
              <a:t>74</a:t>
            </a:r>
            <a:endParaRPr lang="en-US" sz="2400" dirty="0"/>
          </a:p>
        </p:txBody>
      </p:sp>
      <p:sp>
        <p:nvSpPr>
          <p:cNvPr id="26" name="Text 24"/>
          <p:cNvSpPr/>
          <p:nvPr/>
        </p:nvSpPr>
        <p:spPr>
          <a:xfrm>
            <a:off x="6126480" y="2980944"/>
            <a:ext cx="2423160" cy="292608"/>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Standardized Features</a:t>
            </a:r>
            <a:endParaRPr lang="en-US" sz="1000" dirty="0"/>
          </a:p>
        </p:txBody>
      </p:sp>
      <p:sp>
        <p:nvSpPr>
          <p:cNvPr id="27" name="Shape 25"/>
          <p:cNvSpPr/>
          <p:nvPr/>
        </p:nvSpPr>
        <p:spPr>
          <a:xfrm>
            <a:off x="8778240" y="2450592"/>
            <a:ext cx="2606040" cy="868680"/>
          </a:xfrm>
          <a:prstGeom prst="roundRect">
            <a:avLst>
              <a:gd name="adj" fmla="val 8421"/>
            </a:avLst>
          </a:prstGeom>
          <a:solidFill>
            <a:srgbClr val="EEF3FE"/>
          </a:solidFill>
          <a:ln w="12700">
            <a:solidFill>
              <a:srgbClr val="CADCFC"/>
            </a:solidFill>
            <a:prstDash val="solid"/>
          </a:ln>
        </p:spPr>
      </p:sp>
      <p:sp>
        <p:nvSpPr>
          <p:cNvPr id="28" name="Text 26"/>
          <p:cNvSpPr/>
          <p:nvPr/>
        </p:nvSpPr>
        <p:spPr>
          <a:xfrm>
            <a:off x="8778240" y="2505456"/>
            <a:ext cx="2606040" cy="475488"/>
          </a:xfrm>
          <a:prstGeom prst="rect">
            <a:avLst/>
          </a:prstGeom>
          <a:noFill/>
          <a:ln/>
        </p:spPr>
        <p:txBody>
          <a:bodyPr wrap="square" rtlCol="0" anchor="ctr"/>
          <a:lstStyle/>
          <a:p>
            <a:pPr marL="0" indent="0" algn="ctr">
              <a:buNone/>
            </a:pPr>
            <a:r>
              <a:rPr lang="en-US" sz="2400" b="1" dirty="0">
                <a:solidFill>
                  <a:srgbClr val="1F8A5A"/>
                </a:solidFill>
                <a:latin typeface="Cambria" pitchFamily="34" charset="0"/>
                <a:ea typeface="Cambria" pitchFamily="34" charset="-122"/>
                <a:cs typeface="Cambria" pitchFamily="34" charset="-120"/>
              </a:rPr>
              <a:t>0.0%</a:t>
            </a:r>
            <a:endParaRPr lang="en-US" sz="2400" dirty="0"/>
          </a:p>
        </p:txBody>
      </p:sp>
      <p:sp>
        <p:nvSpPr>
          <p:cNvPr id="29" name="Text 27"/>
          <p:cNvSpPr/>
          <p:nvPr/>
        </p:nvSpPr>
        <p:spPr>
          <a:xfrm>
            <a:off x="8869680" y="2980944"/>
            <a:ext cx="2423160" cy="292608"/>
          </a:xfrm>
          <a:prstGeom prst="rect">
            <a:avLst/>
          </a:prstGeom>
          <a:noFill/>
          <a:ln/>
        </p:spPr>
        <p:txBody>
          <a:bodyPr wrap="square" rtlCol="0" anchor="ctr"/>
          <a:lstStyle/>
          <a:p>
            <a:pPr marL="0" indent="0" algn="ctr">
              <a:buNone/>
            </a:pPr>
            <a:r>
              <a:rPr lang="en-US" sz="1000" dirty="0">
                <a:solidFill>
                  <a:srgbClr val="667085"/>
                </a:solidFill>
                <a:latin typeface="Calibri" pitchFamily="34" charset="0"/>
                <a:ea typeface="Calibri" pitchFamily="34" charset="-122"/>
                <a:cs typeface="Calibri" pitchFamily="34" charset="-120"/>
              </a:rPr>
              <a:t>Missing Values (Post-Impute)</a:t>
            </a:r>
            <a:endParaRPr lang="en-US" sz="1000" dirty="0"/>
          </a:p>
        </p:txBody>
      </p:sp>
      <p:sp>
        <p:nvSpPr>
          <p:cNvPr id="30" name="Shape 28"/>
          <p:cNvSpPr/>
          <p:nvPr/>
        </p:nvSpPr>
        <p:spPr>
          <a:xfrm>
            <a:off x="548640" y="3502152"/>
            <a:ext cx="11094415" cy="2423160"/>
          </a:xfrm>
          <a:prstGeom prst="roundRect">
            <a:avLst>
              <a:gd name="adj" fmla="val 3019"/>
            </a:avLst>
          </a:prstGeom>
          <a:solidFill>
            <a:srgbClr val="FFFFFF"/>
          </a:solidFill>
          <a:ln w="12700">
            <a:solidFill>
              <a:srgbClr val="E4E8F0"/>
            </a:solidFill>
            <a:prstDash val="solid"/>
          </a:ln>
        </p:spPr>
      </p:sp>
      <p:sp>
        <p:nvSpPr>
          <p:cNvPr id="31" name="Text 29"/>
          <p:cNvSpPr/>
          <p:nvPr/>
        </p:nvSpPr>
        <p:spPr>
          <a:xfrm>
            <a:off x="777240" y="3593592"/>
            <a:ext cx="10637215" cy="29260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Feature Architecture: 7 Thematic Groups Merged from 3 Source Relational Tiers</a:t>
            </a:r>
            <a:endParaRPr lang="en-US" sz="1250" dirty="0"/>
          </a:p>
        </p:txBody>
      </p:sp>
      <p:sp>
        <p:nvSpPr>
          <p:cNvPr id="32" name="Text 30"/>
          <p:cNvSpPr/>
          <p:nvPr/>
        </p:nvSpPr>
        <p:spPr>
          <a:xfrm>
            <a:off x="777240" y="3941064"/>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Housing Characteristics (4)</a:t>
            </a:r>
            <a:endParaRPr lang="en-US" sz="1000" dirty="0"/>
          </a:p>
        </p:txBody>
      </p:sp>
      <p:sp>
        <p:nvSpPr>
          <p:cNvPr id="33" name="Text 31"/>
          <p:cNvSpPr/>
          <p:nvPr/>
        </p:nvSpPr>
        <p:spPr>
          <a:xfrm>
            <a:off x="2423160" y="3941064"/>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Wall material, roof material, floor material, dwelling type</a:t>
            </a:r>
            <a:endParaRPr lang="en-US" sz="950" dirty="0"/>
          </a:p>
        </p:txBody>
      </p:sp>
      <p:sp>
        <p:nvSpPr>
          <p:cNvPr id="34" name="Text 32"/>
          <p:cNvSpPr/>
          <p:nvPr/>
        </p:nvSpPr>
        <p:spPr>
          <a:xfrm>
            <a:off x="777240" y="4471416"/>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WASH &amp; Sanitation (6)</a:t>
            </a:r>
            <a:endParaRPr lang="en-US" sz="1000" dirty="0"/>
          </a:p>
        </p:txBody>
      </p:sp>
      <p:sp>
        <p:nvSpPr>
          <p:cNvPr id="35" name="Text 33"/>
          <p:cNvSpPr/>
          <p:nvPr/>
        </p:nvSpPr>
        <p:spPr>
          <a:xfrm>
            <a:off x="2423160" y="4471416"/>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Water source, toilet facility type, garbage disposal, drainage</a:t>
            </a:r>
            <a:endParaRPr lang="en-US" sz="950" dirty="0"/>
          </a:p>
        </p:txBody>
      </p:sp>
      <p:sp>
        <p:nvSpPr>
          <p:cNvPr id="36" name="Text 34"/>
          <p:cNvSpPr/>
          <p:nvPr/>
        </p:nvSpPr>
        <p:spPr>
          <a:xfrm>
            <a:off x="777240" y="5001768"/>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Energy &amp; Electricity (3)</a:t>
            </a:r>
            <a:endParaRPr lang="en-US" sz="1000" dirty="0"/>
          </a:p>
        </p:txBody>
      </p:sp>
      <p:sp>
        <p:nvSpPr>
          <p:cNvPr id="37" name="Text 35"/>
          <p:cNvSpPr/>
          <p:nvPr/>
        </p:nvSpPr>
        <p:spPr>
          <a:xfrm>
            <a:off x="2423160" y="5001768"/>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Grid access, lighting source, rural/urban locality (milieu)</a:t>
            </a:r>
            <a:endParaRPr lang="en-US" sz="950" dirty="0"/>
          </a:p>
        </p:txBody>
      </p:sp>
      <p:sp>
        <p:nvSpPr>
          <p:cNvPr id="38" name="Text 36"/>
          <p:cNvSpPr/>
          <p:nvPr/>
        </p:nvSpPr>
        <p:spPr>
          <a:xfrm>
            <a:off x="4343400" y="3941064"/>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Asset Ownership (7)</a:t>
            </a:r>
            <a:endParaRPr lang="en-US" sz="1000" dirty="0"/>
          </a:p>
        </p:txBody>
      </p:sp>
      <p:sp>
        <p:nvSpPr>
          <p:cNvPr id="39" name="Text 37"/>
          <p:cNvSpPr/>
          <p:nvPr/>
        </p:nvSpPr>
        <p:spPr>
          <a:xfrm>
            <a:off x="5989320" y="3941064"/>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Television, refrigerator, vehicle, motorcycle, computer, phone</a:t>
            </a:r>
            <a:endParaRPr lang="en-US" sz="950" dirty="0"/>
          </a:p>
        </p:txBody>
      </p:sp>
      <p:sp>
        <p:nvSpPr>
          <p:cNvPr id="40" name="Text 38"/>
          <p:cNvSpPr/>
          <p:nvPr/>
        </p:nvSpPr>
        <p:spPr>
          <a:xfrm>
            <a:off x="4343400" y="4471416"/>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Agricultural Capital (6)</a:t>
            </a:r>
            <a:endParaRPr lang="en-US" sz="1000" dirty="0"/>
          </a:p>
        </p:txBody>
      </p:sp>
      <p:sp>
        <p:nvSpPr>
          <p:cNvPr id="41" name="Text 39"/>
          <p:cNvSpPr/>
          <p:nvPr/>
        </p:nvSpPr>
        <p:spPr>
          <a:xfrm>
            <a:off x="5989320" y="4471416"/>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Land ownership, parcel area, cattle, sheep, goats, poultry</a:t>
            </a:r>
            <a:endParaRPr lang="en-US" sz="950" dirty="0"/>
          </a:p>
        </p:txBody>
      </p:sp>
      <p:sp>
        <p:nvSpPr>
          <p:cNvPr id="42" name="Text 40"/>
          <p:cNvSpPr/>
          <p:nvPr/>
        </p:nvSpPr>
        <p:spPr>
          <a:xfrm>
            <a:off x="4343400" y="5001768"/>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Economic Shocks (6)</a:t>
            </a:r>
            <a:endParaRPr lang="en-US" sz="1000" dirty="0"/>
          </a:p>
        </p:txBody>
      </p:sp>
      <p:sp>
        <p:nvSpPr>
          <p:cNvPr id="43" name="Text 41"/>
          <p:cNvSpPr/>
          <p:nvPr/>
        </p:nvSpPr>
        <p:spPr>
          <a:xfrm>
            <a:off x="5989320" y="5001768"/>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Drought, price spikes, crop loss, illness shock, job loss</a:t>
            </a:r>
            <a:endParaRPr lang="en-US" sz="950" dirty="0"/>
          </a:p>
        </p:txBody>
      </p:sp>
      <p:sp>
        <p:nvSpPr>
          <p:cNvPr id="44" name="Text 42"/>
          <p:cNvSpPr/>
          <p:nvPr/>
        </p:nvSpPr>
        <p:spPr>
          <a:xfrm>
            <a:off x="7909560" y="3941064"/>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Head Demographics (16)</a:t>
            </a:r>
            <a:endParaRPr lang="en-US" sz="1000" dirty="0"/>
          </a:p>
        </p:txBody>
      </p:sp>
      <p:sp>
        <p:nvSpPr>
          <p:cNvPr id="45" name="Text 43"/>
          <p:cNvSpPr/>
          <p:nvPr/>
        </p:nvSpPr>
        <p:spPr>
          <a:xfrm>
            <a:off x="9555480" y="3941064"/>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Age, gender, marital status, religion, literacy, schooling level</a:t>
            </a:r>
            <a:endParaRPr lang="en-US" sz="950" dirty="0"/>
          </a:p>
        </p:txBody>
      </p:sp>
      <p:sp>
        <p:nvSpPr>
          <p:cNvPr id="46" name="Text 44"/>
          <p:cNvSpPr/>
          <p:nvPr/>
        </p:nvSpPr>
        <p:spPr>
          <a:xfrm>
            <a:off x="7909560" y="4471416"/>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Household Structure (5)</a:t>
            </a:r>
            <a:endParaRPr lang="en-US" sz="1000" dirty="0"/>
          </a:p>
        </p:txBody>
      </p:sp>
      <p:sp>
        <p:nvSpPr>
          <p:cNvPr id="47" name="Text 45"/>
          <p:cNvSpPr/>
          <p:nvPr/>
        </p:nvSpPr>
        <p:spPr>
          <a:xfrm>
            <a:off x="9555480" y="4471416"/>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Total members, child count, elderly count, dependency ratio</a:t>
            </a:r>
            <a:endParaRPr lang="en-US" sz="950" dirty="0"/>
          </a:p>
        </p:txBody>
      </p:sp>
      <p:sp>
        <p:nvSpPr>
          <p:cNvPr id="48" name="Text 46"/>
          <p:cNvSpPr/>
          <p:nvPr/>
        </p:nvSpPr>
        <p:spPr>
          <a:xfrm>
            <a:off x="7909560" y="5001768"/>
            <a:ext cx="1645920" cy="53035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Individual Aggregates (21)</a:t>
            </a:r>
            <a:endParaRPr lang="en-US" sz="1000" dirty="0"/>
          </a:p>
        </p:txBody>
      </p:sp>
      <p:sp>
        <p:nvSpPr>
          <p:cNvPr id="49" name="Text 47"/>
          <p:cNvSpPr/>
          <p:nvPr/>
        </p:nvSpPr>
        <p:spPr>
          <a:xfrm>
            <a:off x="9555480" y="5001768"/>
            <a:ext cx="1828800" cy="530352"/>
          </a:xfrm>
          <a:prstGeom prst="rect">
            <a:avLst/>
          </a:prstGeom>
          <a:noFill/>
          <a:ln/>
        </p:spPr>
        <p:txBody>
          <a:bodyPr wrap="square" rtlCol="0" anchor="ctr"/>
          <a:lstStyle/>
          <a:p>
            <a:pPr marL="0" indent="0">
              <a:buNone/>
            </a:pPr>
            <a:r>
              <a:rPr lang="en-US" sz="950" dirty="0">
                <a:solidFill>
                  <a:srgbClr val="667085"/>
                </a:solidFill>
                <a:latin typeface="Calibri" pitchFamily="34" charset="0"/>
                <a:ea typeface="Calibri" pitchFamily="34" charset="-122"/>
                <a:cs typeface="Calibri" pitchFamily="34" charset="-120"/>
              </a:rPr>
              <a:t>Mean years schooling, employment rate, healthcare coverage</a:t>
            </a:r>
            <a:endParaRPr lang="en-US" sz="950" dirty="0"/>
          </a:p>
        </p:txBody>
      </p:sp>
      <p:sp>
        <p:nvSpPr>
          <p:cNvPr id="50" name="Shape 48"/>
          <p:cNvSpPr/>
          <p:nvPr/>
        </p:nvSpPr>
        <p:spPr>
          <a:xfrm>
            <a:off x="777240" y="5568696"/>
            <a:ext cx="10637215" cy="292608"/>
          </a:xfrm>
          <a:prstGeom prst="roundRect">
            <a:avLst>
              <a:gd name="adj" fmla="val 12500"/>
            </a:avLst>
          </a:prstGeom>
          <a:solidFill>
            <a:srgbClr val="EEF3FE"/>
          </a:solidFill>
          <a:ln/>
        </p:spPr>
      </p:sp>
      <p:sp>
        <p:nvSpPr>
          <p:cNvPr id="51" name="Text 49"/>
          <p:cNvSpPr/>
          <p:nvPr/>
        </p:nvSpPr>
        <p:spPr>
          <a:xfrm>
            <a:off x="868680" y="5568696"/>
            <a:ext cx="10454335" cy="292608"/>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Target Variable Definition:  </a:t>
            </a:r>
            <a:r>
              <a:rPr lang="en-US" sz="1050" dirty="0">
                <a:solidFill>
                  <a:srgbClr val="1A2140"/>
                </a:solidFill>
                <a:latin typeface="Calibri" pitchFamily="34" charset="0"/>
                <a:ea typeface="Calibri" pitchFamily="34" charset="-122"/>
                <a:cs typeface="Calibri" pitchFamily="34" charset="-120"/>
              </a:rPr>
              <a:t>poor = 1 if annual per-capita expenditure (pcexp) &lt; national poverty line (zref), else 0  —  Binary Classification</a:t>
            </a:r>
            <a:endParaRPr lang="en-US" sz="1050" dirty="0"/>
          </a:p>
        </p:txBody>
      </p:sp>
      <p:sp>
        <p:nvSpPr>
          <p:cNvPr id="52" name="Text 5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15</a:t>
            </a:r>
            <a:endParaRPr lang="en-US" sz="950" dirty="0"/>
          </a:p>
        </p:txBody>
      </p:sp>
      <p:sp>
        <p:nvSpPr>
          <p:cNvPr id="53" name="Text 5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EXPLORATORY DATA ANALYSIS</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Cross-Country Demographic &amp; Welfare Statistical Profile</a:t>
            </a:r>
            <a:endParaRPr lang="en-US" sz="2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772400" cy="3401568"/>
        </p:xfrm>
        <a:graphic>
          <a:graphicData uri="http://schemas.openxmlformats.org/drawingml/2006/table">
            <a:tbl>
              <a:tblPr/>
              <a:tblGrid>
                <a:gridCol w="1645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32918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Country</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ISO</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Households</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Poverty %</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Avg HH Size</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Rural %</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Urban %</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Niger</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NER</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6,622</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26.8%</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74.8%</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25.2%</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Benin</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BEN</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8,032</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29.1%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56.4%</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43.6%</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Burkina Faso</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BFA</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3,227</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30.1%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71.2%</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28.8%</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Mali</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MLI</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6,143</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30.8%</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68.5%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31.5%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Senegal</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SEN</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7,120</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F8A5A"/>
                          </a:solidFill>
                          <a:latin typeface="Calibri" pitchFamily="34" charset="0"/>
                          <a:ea typeface="Calibri" pitchFamily="34" charset="-122"/>
                          <a:cs typeface="Calibri" pitchFamily="34" charset="-120"/>
                        </a:rPr>
                        <a:t>33.1%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48.2%</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51.8%</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Côte d'Ivoire</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CIV</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12,965</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35.7%</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42.1%</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57.9%</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Togo</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TGO</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6,462</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8A5A00"/>
                          </a:solidFill>
                          <a:latin typeface="Calibri" pitchFamily="34" charset="0"/>
                          <a:ea typeface="Calibri" pitchFamily="34" charset="-122"/>
                          <a:cs typeface="Calibri" pitchFamily="34" charset="-120"/>
                        </a:rPr>
                        <a:t>39.1%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51.3%</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48.7%</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000" b="1" dirty="0">
                          <a:solidFill>
                            <a:srgbClr val="1E2761"/>
                          </a:solidFill>
                          <a:latin typeface="Calibri" pitchFamily="34" charset="0"/>
                          <a:ea typeface="Calibri" pitchFamily="34" charset="-122"/>
                          <a:cs typeface="Calibri" pitchFamily="34" charset="-120"/>
                        </a:rPr>
                        <a:t>Guinea-Bissau</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67085"/>
                          </a:solidFill>
                          <a:latin typeface="Calibri" pitchFamily="34" charset="0"/>
                          <a:ea typeface="Calibri" pitchFamily="34" charset="-122"/>
                          <a:cs typeface="Calibri" pitchFamily="34" charset="-120"/>
                        </a:rPr>
                        <a:t>GNB</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5,351</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A82D2D"/>
                          </a:solidFill>
                          <a:latin typeface="Calibri" pitchFamily="34" charset="0"/>
                          <a:ea typeface="Calibri" pitchFamily="34" charset="-122"/>
                          <a:cs typeface="Calibri" pitchFamily="34" charset="-120"/>
                        </a:rPr>
                        <a:t>41.7%</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140"/>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64.9%</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2140"/>
                          </a:solidFill>
                          <a:latin typeface="Calibri" pitchFamily="34" charset="0"/>
                          <a:ea typeface="Calibri" pitchFamily="34" charset="-122"/>
                          <a:cs typeface="Calibri" pitchFamily="34" charset="-120"/>
                        </a:rPr>
                        <a:t>35.1%</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hape 2"/>
          <p:cNvSpPr/>
          <p:nvPr/>
        </p:nvSpPr>
        <p:spPr>
          <a:xfrm>
            <a:off x="8549640" y="1371600"/>
            <a:ext cx="3090672" cy="3977640"/>
          </a:xfrm>
          <a:prstGeom prst="roundRect">
            <a:avLst>
              <a:gd name="adj" fmla="val 2367"/>
            </a:avLst>
          </a:prstGeom>
          <a:solidFill>
            <a:srgbClr val="FBEBCC"/>
          </a:solidFill>
          <a:ln w="12700">
            <a:solidFill>
              <a:srgbClr val="D98E04"/>
            </a:solidFill>
            <a:prstDash val="solid"/>
          </a:ln>
        </p:spPr>
      </p:sp>
      <p:sp>
        <p:nvSpPr>
          <p:cNvPr id="6" name="Text 3"/>
          <p:cNvSpPr/>
          <p:nvPr/>
        </p:nvSpPr>
        <p:spPr>
          <a:xfrm>
            <a:off x="8714232" y="1481328"/>
            <a:ext cx="2761488" cy="274320"/>
          </a:xfrm>
          <a:prstGeom prst="rect">
            <a:avLst/>
          </a:prstGeom>
          <a:noFill/>
          <a:ln/>
        </p:spPr>
        <p:txBody>
          <a:bodyPr wrap="square" rtlCol="0" anchor="ctr"/>
          <a:lstStyle/>
          <a:p>
            <a:pPr marL="0" indent="0">
              <a:buNone/>
            </a:pPr>
            <a:r>
              <a:rPr lang="en-US" sz="1250" b="1" dirty="0">
                <a:solidFill>
                  <a:srgbClr val="8A5A00"/>
                </a:solidFill>
                <a:latin typeface="Calibri" pitchFamily="34" charset="0"/>
                <a:ea typeface="Calibri" pitchFamily="34" charset="-122"/>
                <a:cs typeface="Calibri" pitchFamily="34" charset="-120"/>
              </a:rPr>
              <a:t>Core Empirical Findings</a:t>
            </a:r>
            <a:endParaRPr lang="en-US" sz="1250" dirty="0"/>
          </a:p>
        </p:txBody>
      </p:sp>
      <p:sp>
        <p:nvSpPr>
          <p:cNvPr id="7" name="Text 4"/>
          <p:cNvSpPr/>
          <p:nvPr/>
        </p:nvSpPr>
        <p:spPr>
          <a:xfrm>
            <a:off x="8714232" y="1810512"/>
            <a:ext cx="2761488" cy="3429000"/>
          </a:xfrm>
          <a:prstGeom prst="rect">
            <a:avLst/>
          </a:prstGeom>
          <a:noFill/>
          <a:ln/>
        </p:spPr>
        <p:txBody>
          <a:bodyPr wrap="square" rtlCol="0" anchor="t"/>
          <a:lstStyle/>
          <a:p>
            <a:pPr marL="342900" indent="-342900">
              <a:lnSpc>
                <a:spcPct val="110000"/>
              </a:lnSpc>
              <a:spcAft>
                <a:spcPts val="700"/>
              </a:spcAft>
              <a:buSzPct val="100000"/>
              <a:buChar char="•"/>
            </a:pPr>
            <a:r>
              <a:rPr lang="en-US" sz="1000" dirty="0">
                <a:solidFill>
                  <a:srgbClr val="5C3E00"/>
                </a:solidFill>
                <a:latin typeface="Calibri" pitchFamily="34" charset="0"/>
                <a:ea typeface="Calibri" pitchFamily="34" charset="-122"/>
                <a:cs typeface="Calibri" pitchFamily="34" charset="-120"/>
              </a:rPr>
              <a:t>Poverty Variance: Poverty spans a 1.55× range across the region, from 26.8% (Niger) to 41.7% (Guinea-Bissau).</a:t>
            </a:r>
            <a:endParaRPr lang="en-US" sz="1000" dirty="0"/>
          </a:p>
          <a:p>
            <a:pPr marL="342900" indent="-342900">
              <a:lnSpc>
                <a:spcPct val="110000"/>
              </a:lnSpc>
              <a:spcAft>
                <a:spcPts val="700"/>
              </a:spcAft>
              <a:buSzPct val="100000"/>
              <a:buChar char="•"/>
            </a:pPr>
            <a:r>
              <a:rPr lang="en-US" sz="1000" dirty="0">
                <a:solidFill>
                  <a:srgbClr val="5C3E00"/>
                </a:solidFill>
                <a:latin typeface="Calibri" pitchFamily="34" charset="0"/>
                <a:ea typeface="Calibri" pitchFamily="34" charset="-122"/>
                <a:cs typeface="Calibri" pitchFamily="34" charset="-120"/>
              </a:rPr>
              <a:t>Demographic Divergence: Average household size ranges from 3.7 members (CIV, Togo) to 7.3 members (Mali).</a:t>
            </a:r>
            <a:endParaRPr lang="en-US" sz="1000" dirty="0"/>
          </a:p>
          <a:p>
            <a:pPr marL="342900" indent="-342900">
              <a:lnSpc>
                <a:spcPct val="110000"/>
              </a:lnSpc>
              <a:spcAft>
                <a:spcPts val="700"/>
              </a:spcAft>
              <a:buSzPct val="100000"/>
              <a:buChar char="•"/>
            </a:pPr>
            <a:r>
              <a:rPr lang="en-US" sz="1000" dirty="0">
                <a:solidFill>
                  <a:srgbClr val="5C3E00"/>
                </a:solidFill>
                <a:latin typeface="Calibri" pitchFamily="34" charset="0"/>
                <a:ea typeface="Calibri" pitchFamily="34" charset="-122"/>
                <a:cs typeface="Calibri" pitchFamily="34" charset="-120"/>
              </a:rPr>
              <a:t>Rural Concentration: Poverty is overwhelmingly concentrated in rural zones across all 8 nations.</a:t>
            </a:r>
            <a:endParaRPr lang="en-US" sz="1000" dirty="0"/>
          </a:p>
          <a:p>
            <a:pPr marL="342900" indent="-342900">
              <a:lnSpc>
                <a:spcPct val="110000"/>
              </a:lnSpc>
              <a:spcAft>
                <a:spcPts val="700"/>
              </a:spcAft>
              <a:buSzPct val="100000"/>
              <a:buChar char="•"/>
            </a:pPr>
            <a:r>
              <a:rPr lang="en-US" sz="1000" dirty="0">
                <a:solidFill>
                  <a:srgbClr val="5C3E00"/>
                </a:solidFill>
                <a:latin typeface="Calibri" pitchFamily="34" charset="0"/>
                <a:ea typeface="Calibri" pitchFamily="34" charset="-122"/>
                <a:cs typeface="Calibri" pitchFamily="34" charset="-120"/>
              </a:rPr>
              <a:t>Urban Divide: In Côte d'Ivoire and Senegal, urban population exceeds rural, creating distinct economic clusters.</a:t>
            </a:r>
            <a:endParaRPr lang="en-US" sz="1000" dirty="0"/>
          </a:p>
        </p:txBody>
      </p:sp>
      <p:sp>
        <p:nvSpPr>
          <p:cNvPr id="8" name="Shape 5"/>
          <p:cNvSpPr/>
          <p:nvPr/>
        </p:nvSpPr>
        <p:spPr>
          <a:xfrm>
            <a:off x="548640" y="5532120"/>
            <a:ext cx="11094415" cy="548640"/>
          </a:xfrm>
          <a:prstGeom prst="roundRect">
            <a:avLst>
              <a:gd name="adj" fmla="val 13333"/>
            </a:avLst>
          </a:prstGeom>
          <a:solidFill>
            <a:srgbClr val="FFFFFF"/>
          </a:solidFill>
          <a:ln w="12700">
            <a:solidFill>
              <a:srgbClr val="E4E8F0"/>
            </a:solidFill>
            <a:prstDash val="solid"/>
          </a:ln>
        </p:spPr>
      </p:sp>
      <p:sp>
        <p:nvSpPr>
          <p:cNvPr id="9" name="Text 6"/>
          <p:cNvSpPr/>
          <p:nvPr/>
        </p:nvSpPr>
        <p:spPr>
          <a:xfrm>
            <a:off x="777240" y="5532120"/>
            <a:ext cx="10637215" cy="54864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Key Modeling Implication:  </a:t>
            </a:r>
            <a:r>
              <a:rPr lang="en-US" sz="1050" dirty="0">
                <a:solidFill>
                  <a:srgbClr val="1A2140"/>
                </a:solidFill>
                <a:latin typeface="Calibri" pitchFamily="34" charset="0"/>
                <a:ea typeface="Calibri" pitchFamily="34" charset="-122"/>
                <a:cs typeface="Calibri" pitchFamily="34" charset="-120"/>
              </a:rPr>
              <a:t>Because urban and rural poverty dynamics differ drastically, stratification by locality (milieu) and household size is critical for O2 black-box baselines and O3 interpretable EBMs.</a:t>
            </a:r>
            <a:endParaRPr lang="en-US" sz="1050" dirty="0"/>
          </a:p>
        </p:txBody>
      </p:sp>
      <p:sp>
        <p:nvSpPr>
          <p:cNvPr id="10" name="Text 7"/>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16</a:t>
            </a:r>
            <a:endParaRPr lang="en-US" sz="950" dirty="0"/>
          </a:p>
        </p:txBody>
      </p:sp>
      <p:sp>
        <p:nvSpPr>
          <p:cNvPr id="11" name="Text 8"/>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EDA VISUAL EVIDENCE</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Regional Headcount Poverty Rates &amp; Urban-Rural Disparities</a:t>
            </a:r>
            <a:endParaRPr lang="en-US" sz="2500" dirty="0"/>
          </a:p>
        </p:txBody>
      </p:sp>
      <p:sp>
        <p:nvSpPr>
          <p:cNvPr id="4" name="Shape 2"/>
          <p:cNvSpPr/>
          <p:nvPr/>
        </p:nvSpPr>
        <p:spPr>
          <a:xfrm>
            <a:off x="548640" y="1353312"/>
            <a:ext cx="5349240" cy="4069080"/>
          </a:xfrm>
          <a:prstGeom prst="roundRect">
            <a:avLst>
              <a:gd name="adj" fmla="val 1798"/>
            </a:avLst>
          </a:prstGeom>
          <a:solidFill>
            <a:srgbClr val="FFFFFF"/>
          </a:solidFill>
          <a:ln w="12700">
            <a:solidFill>
              <a:srgbClr val="E4E8F0"/>
            </a:solidFill>
            <a:prstDash val="solid"/>
          </a:ln>
        </p:spPr>
      </p:sp>
      <p:sp>
        <p:nvSpPr>
          <p:cNvPr id="5" name="Text 3"/>
          <p:cNvSpPr/>
          <p:nvPr/>
        </p:nvSpPr>
        <p:spPr>
          <a:xfrm>
            <a:off x="731520" y="1463040"/>
            <a:ext cx="49834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National Poverty Headcount Rate Across 8 EHCVM Nations</a:t>
            </a:r>
            <a:endParaRPr lang="en-US" sz="1200" dirty="0"/>
          </a:p>
        </p:txBody>
      </p:sp>
      <p:pic>
        <p:nvPicPr>
          <p:cNvPr id="6" name="Image 0" descr="C:\Users\bhima\OneDrive\Desktop\CAPSTONE\EHCVM_Project\EHCVM_Project\outputs\eda\poverty_rates.png"/>
          <p:cNvPicPr>
            <a:picLocks noChangeAspect="1"/>
          </p:cNvPicPr>
          <p:nvPr/>
        </p:nvPicPr>
        <p:blipFill>
          <a:blip r:embed="rId3"/>
          <a:stretch>
            <a:fillRect/>
          </a:stretch>
        </p:blipFill>
        <p:spPr>
          <a:xfrm>
            <a:off x="731520" y="1764792"/>
            <a:ext cx="4983480" cy="2670048"/>
          </a:xfrm>
          <a:prstGeom prst="rect">
            <a:avLst/>
          </a:prstGeom>
        </p:spPr>
      </p:pic>
      <p:sp>
        <p:nvSpPr>
          <p:cNvPr id="7" name="Text 4"/>
          <p:cNvSpPr/>
          <p:nvPr/>
        </p:nvSpPr>
        <p:spPr>
          <a:xfrm>
            <a:off x="731520" y="4535424"/>
            <a:ext cx="4983480" cy="777240"/>
          </a:xfrm>
          <a:prstGeom prst="rect">
            <a:avLst/>
          </a:prstGeom>
          <a:noFill/>
          <a:ln/>
        </p:spPr>
        <p:txBody>
          <a:bodyPr wrap="square" rtlCol="0" anchor="t"/>
          <a:lstStyle/>
          <a:p>
            <a:pPr marL="0" indent="0">
              <a:lnSpc>
                <a:spcPct val="108000"/>
              </a:lnSpc>
              <a:buNone/>
            </a:pPr>
            <a:r>
              <a:rPr lang="en-US" sz="1000" dirty="0">
                <a:solidFill>
                  <a:srgbClr val="667085"/>
                </a:solidFill>
                <a:latin typeface="Calibri" pitchFamily="34" charset="0"/>
                <a:ea typeface="Calibri" pitchFamily="34" charset="-122"/>
                <a:cs typeface="Calibri" pitchFamily="34" charset="-120"/>
              </a:rPr>
              <a:t>Empirical Finding: Guinea-Bissau (41.7%) and Togo (39.1%) exhibit the highest vulnerability, while Niger (26.8%) and Benin (29.1%) exhibit lower national headcounts under calibrated poverty thresholds.</a:t>
            </a:r>
            <a:endParaRPr lang="en-US" sz="1000" dirty="0"/>
          </a:p>
        </p:txBody>
      </p:sp>
      <p:sp>
        <p:nvSpPr>
          <p:cNvPr id="8" name="Shape 5"/>
          <p:cNvSpPr/>
          <p:nvPr/>
        </p:nvSpPr>
        <p:spPr>
          <a:xfrm>
            <a:off x="6291072" y="1353312"/>
            <a:ext cx="5349240" cy="4069080"/>
          </a:xfrm>
          <a:prstGeom prst="roundRect">
            <a:avLst>
              <a:gd name="adj" fmla="val 1798"/>
            </a:avLst>
          </a:prstGeom>
          <a:solidFill>
            <a:srgbClr val="FFFFFF"/>
          </a:solidFill>
          <a:ln w="12700">
            <a:solidFill>
              <a:srgbClr val="E4E8F0"/>
            </a:solidFill>
            <a:prstDash val="solid"/>
          </a:ln>
        </p:spPr>
      </p:sp>
      <p:sp>
        <p:nvSpPr>
          <p:cNvPr id="9" name="Text 6"/>
          <p:cNvSpPr/>
          <p:nvPr/>
        </p:nvSpPr>
        <p:spPr>
          <a:xfrm>
            <a:off x="6473952" y="1463040"/>
            <a:ext cx="49834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Poverty Stratification by Locality: Rural vs. Urban Cleavage</a:t>
            </a:r>
            <a:endParaRPr lang="en-US" sz="1200" dirty="0"/>
          </a:p>
        </p:txBody>
      </p:sp>
      <p:pic>
        <p:nvPicPr>
          <p:cNvPr id="10" name="Image 1" descr="C:\Users\bhima\OneDrive\Desktop\CAPSTONE\EHCVM_Project\EHCVM_Project\outputs\eda\poverty_urban_rural.png"/>
          <p:cNvPicPr>
            <a:picLocks noChangeAspect="1"/>
          </p:cNvPicPr>
          <p:nvPr/>
        </p:nvPicPr>
        <p:blipFill>
          <a:blip r:embed="rId4"/>
          <a:stretch>
            <a:fillRect/>
          </a:stretch>
        </p:blipFill>
        <p:spPr>
          <a:xfrm>
            <a:off x="6473952" y="1764792"/>
            <a:ext cx="4983480" cy="2670048"/>
          </a:xfrm>
          <a:prstGeom prst="rect">
            <a:avLst/>
          </a:prstGeom>
        </p:spPr>
      </p:pic>
      <p:sp>
        <p:nvSpPr>
          <p:cNvPr id="11" name="Text 7"/>
          <p:cNvSpPr/>
          <p:nvPr/>
        </p:nvSpPr>
        <p:spPr>
          <a:xfrm>
            <a:off x="6473952" y="4535424"/>
            <a:ext cx="4983480" cy="777240"/>
          </a:xfrm>
          <a:prstGeom prst="rect">
            <a:avLst/>
          </a:prstGeom>
          <a:noFill/>
          <a:ln/>
        </p:spPr>
        <p:txBody>
          <a:bodyPr wrap="square" rtlCol="0" anchor="t"/>
          <a:lstStyle/>
          <a:p>
            <a:pPr marL="0" indent="0">
              <a:lnSpc>
                <a:spcPct val="108000"/>
              </a:lnSpc>
              <a:buNone/>
            </a:pPr>
            <a:r>
              <a:rPr lang="en-US" sz="1000" dirty="0">
                <a:solidFill>
                  <a:srgbClr val="667085"/>
                </a:solidFill>
                <a:latin typeface="Calibri" pitchFamily="34" charset="0"/>
                <a:ea typeface="Calibri" pitchFamily="34" charset="-122"/>
                <a:cs typeface="Calibri" pitchFamily="34" charset="-120"/>
              </a:rPr>
              <a:t>Empirical Finding: Rural poverty exceeds urban poverty by 1.8× to 3.2× across every single country. In Guinea-Bissau, rural poverty exceeds 50%, demonstrating that geographic locality is a prime predictive feature.</a:t>
            </a:r>
            <a:endParaRPr lang="en-US" sz="1000" dirty="0"/>
          </a:p>
        </p:txBody>
      </p:sp>
      <p:sp>
        <p:nvSpPr>
          <p:cNvPr id="12" name="Shape 8"/>
          <p:cNvSpPr/>
          <p:nvPr/>
        </p:nvSpPr>
        <p:spPr>
          <a:xfrm>
            <a:off x="548640" y="5596128"/>
            <a:ext cx="11094415" cy="475488"/>
          </a:xfrm>
          <a:prstGeom prst="roundRect">
            <a:avLst>
              <a:gd name="adj" fmla="val 11538"/>
            </a:avLst>
          </a:prstGeom>
          <a:solidFill>
            <a:srgbClr val="EEF3FE"/>
          </a:solidFill>
          <a:ln w="12700">
            <a:solidFill>
              <a:srgbClr val="CADCFC"/>
            </a:solidFill>
            <a:prstDash val="solid"/>
          </a:ln>
        </p:spPr>
      </p:sp>
      <p:sp>
        <p:nvSpPr>
          <p:cNvPr id="13" name="Text 9"/>
          <p:cNvSpPr/>
          <p:nvPr/>
        </p:nvSpPr>
        <p:spPr>
          <a:xfrm>
            <a:off x="777240" y="5596128"/>
            <a:ext cx="10637215" cy="475488"/>
          </a:xfrm>
          <a:prstGeom prst="rect">
            <a:avLst/>
          </a:prstGeom>
          <a:noFill/>
          <a:ln/>
        </p:spPr>
        <p:txBody>
          <a:bodyPr wrap="square" rtlCol="0" anchor="ctr"/>
          <a:lstStyle/>
          <a:p>
            <a:pPr marL="0" indent="0" algn="ctr">
              <a:buNone/>
            </a:pPr>
            <a:r>
              <a:rPr lang="en-US" sz="1000" b="1" dirty="0">
                <a:solidFill>
                  <a:srgbClr val="1E2761"/>
                </a:solidFill>
                <a:latin typeface="Courier New" pitchFamily="34" charset="0"/>
                <a:ea typeface="Courier New" pitchFamily="34" charset="-122"/>
                <a:cs typeface="Courier New" pitchFamily="34" charset="-120"/>
              </a:rPr>
              <a:t>Figures generated programmatically via python -m notebooks.01_eda and saved to outputs/eda/</a:t>
            </a:r>
            <a:endParaRPr lang="en-US" sz="1000" dirty="0"/>
          </a:p>
        </p:txBody>
      </p:sp>
      <p:sp>
        <p:nvSpPr>
          <p:cNvPr id="14" name="Text 1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17</a:t>
            </a:r>
            <a:endParaRPr lang="en-US" sz="950" dirty="0"/>
          </a:p>
        </p:txBody>
      </p:sp>
      <p:sp>
        <p:nvSpPr>
          <p:cNvPr id="15" name="Text 1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EDA VISUAL EVIDENCE</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Asset Ownership Patterns &amp; Predictive Feature Correlations</a:t>
            </a:r>
            <a:endParaRPr lang="en-US" sz="2500" dirty="0"/>
          </a:p>
        </p:txBody>
      </p:sp>
      <p:sp>
        <p:nvSpPr>
          <p:cNvPr id="4" name="Shape 2"/>
          <p:cNvSpPr/>
          <p:nvPr/>
        </p:nvSpPr>
        <p:spPr>
          <a:xfrm>
            <a:off x="548640" y="1353312"/>
            <a:ext cx="5349240" cy="4069080"/>
          </a:xfrm>
          <a:prstGeom prst="roundRect">
            <a:avLst>
              <a:gd name="adj" fmla="val 1798"/>
            </a:avLst>
          </a:prstGeom>
          <a:solidFill>
            <a:srgbClr val="FFFFFF"/>
          </a:solidFill>
          <a:ln w="12700">
            <a:solidFill>
              <a:srgbClr val="E4E8F0"/>
            </a:solidFill>
            <a:prstDash val="solid"/>
          </a:ln>
        </p:spPr>
      </p:sp>
      <p:sp>
        <p:nvSpPr>
          <p:cNvPr id="5" name="Text 3"/>
          <p:cNvSpPr/>
          <p:nvPr/>
        </p:nvSpPr>
        <p:spPr>
          <a:xfrm>
            <a:off x="731520" y="1463040"/>
            <a:ext cx="49834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Durable Asset Ownership: Poor vs. Non-Poor Households</a:t>
            </a:r>
            <a:endParaRPr lang="en-US" sz="1200" dirty="0"/>
          </a:p>
        </p:txBody>
      </p:sp>
      <p:pic>
        <p:nvPicPr>
          <p:cNvPr id="6" name="Image 0" descr="C:\Users\bhima\OneDrive\Desktop\CAPSTONE\EHCVM_Project\EHCVM_Project\outputs\eda\asset_ownership.png"/>
          <p:cNvPicPr>
            <a:picLocks noChangeAspect="1"/>
          </p:cNvPicPr>
          <p:nvPr/>
        </p:nvPicPr>
        <p:blipFill>
          <a:blip r:embed="rId3"/>
          <a:stretch>
            <a:fillRect/>
          </a:stretch>
        </p:blipFill>
        <p:spPr>
          <a:xfrm>
            <a:off x="731520" y="1764792"/>
            <a:ext cx="4983480" cy="2670048"/>
          </a:xfrm>
          <a:prstGeom prst="rect">
            <a:avLst/>
          </a:prstGeom>
        </p:spPr>
      </p:pic>
      <p:sp>
        <p:nvSpPr>
          <p:cNvPr id="7" name="Text 4"/>
          <p:cNvSpPr/>
          <p:nvPr/>
        </p:nvSpPr>
        <p:spPr>
          <a:xfrm>
            <a:off x="731520" y="4535424"/>
            <a:ext cx="4983480" cy="777240"/>
          </a:xfrm>
          <a:prstGeom prst="rect">
            <a:avLst/>
          </a:prstGeom>
          <a:noFill/>
          <a:ln/>
        </p:spPr>
        <p:txBody>
          <a:bodyPr wrap="square" rtlCol="0" anchor="t"/>
          <a:lstStyle/>
          <a:p>
            <a:pPr marL="0" indent="0">
              <a:lnSpc>
                <a:spcPct val="108000"/>
              </a:lnSpc>
              <a:buNone/>
            </a:pPr>
            <a:r>
              <a:rPr lang="en-US" sz="1000" dirty="0">
                <a:solidFill>
                  <a:srgbClr val="667085"/>
                </a:solidFill>
                <a:latin typeface="Calibri" pitchFamily="34" charset="0"/>
                <a:ea typeface="Calibri" pitchFamily="34" charset="-122"/>
                <a:cs typeface="Calibri" pitchFamily="34" charset="-120"/>
              </a:rPr>
              <a:t>Empirical Finding: Ownership of televisions, refrigerators, computers, and vehicles is near-zero among poor households (&lt;5%), acting as decisive, monotonic separating features for proxy means testing.</a:t>
            </a:r>
            <a:endParaRPr lang="en-US" sz="1000" dirty="0"/>
          </a:p>
        </p:txBody>
      </p:sp>
      <p:sp>
        <p:nvSpPr>
          <p:cNvPr id="8" name="Shape 5"/>
          <p:cNvSpPr/>
          <p:nvPr/>
        </p:nvSpPr>
        <p:spPr>
          <a:xfrm>
            <a:off x="6291072" y="1353312"/>
            <a:ext cx="5349240" cy="4069080"/>
          </a:xfrm>
          <a:prstGeom prst="roundRect">
            <a:avLst>
              <a:gd name="adj" fmla="val 1798"/>
            </a:avLst>
          </a:prstGeom>
          <a:solidFill>
            <a:srgbClr val="FFFFFF"/>
          </a:solidFill>
          <a:ln w="12700">
            <a:solidFill>
              <a:srgbClr val="E4E8F0"/>
            </a:solidFill>
            <a:prstDash val="solid"/>
          </a:ln>
        </p:spPr>
      </p:sp>
      <p:sp>
        <p:nvSpPr>
          <p:cNvPr id="9" name="Text 6"/>
          <p:cNvSpPr/>
          <p:nvPr/>
        </p:nvSpPr>
        <p:spPr>
          <a:xfrm>
            <a:off x="6473952" y="1463040"/>
            <a:ext cx="498348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Top Positive and Negative Feature Correlations with Poverty</a:t>
            </a:r>
            <a:endParaRPr lang="en-US" sz="1200" dirty="0"/>
          </a:p>
        </p:txBody>
      </p:sp>
      <p:pic>
        <p:nvPicPr>
          <p:cNvPr id="10" name="Image 1" descr="C:\Users\bhima\OneDrive\Desktop\CAPSTONE\EHCVM_Project\EHCVM_Project\outputs\eda\correlation_with_poverty.png"/>
          <p:cNvPicPr>
            <a:picLocks noChangeAspect="1"/>
          </p:cNvPicPr>
          <p:nvPr/>
        </p:nvPicPr>
        <p:blipFill>
          <a:blip r:embed="rId4"/>
          <a:stretch>
            <a:fillRect/>
          </a:stretch>
        </p:blipFill>
        <p:spPr>
          <a:xfrm>
            <a:off x="6473952" y="1764792"/>
            <a:ext cx="4983480" cy="2670048"/>
          </a:xfrm>
          <a:prstGeom prst="rect">
            <a:avLst/>
          </a:prstGeom>
        </p:spPr>
      </p:pic>
      <p:sp>
        <p:nvSpPr>
          <p:cNvPr id="11" name="Text 7"/>
          <p:cNvSpPr/>
          <p:nvPr/>
        </p:nvSpPr>
        <p:spPr>
          <a:xfrm>
            <a:off x="6473952" y="4535424"/>
            <a:ext cx="4983480" cy="777240"/>
          </a:xfrm>
          <a:prstGeom prst="rect">
            <a:avLst/>
          </a:prstGeom>
          <a:noFill/>
          <a:ln/>
        </p:spPr>
        <p:txBody>
          <a:bodyPr wrap="square" rtlCol="0" anchor="t"/>
          <a:lstStyle/>
          <a:p>
            <a:pPr marL="0" indent="0">
              <a:lnSpc>
                <a:spcPct val="108000"/>
              </a:lnSpc>
              <a:buNone/>
            </a:pPr>
            <a:r>
              <a:rPr lang="en-US" sz="1000" dirty="0">
                <a:solidFill>
                  <a:srgbClr val="667085"/>
                </a:solidFill>
                <a:latin typeface="Calibri" pitchFamily="34" charset="0"/>
                <a:ea typeface="Calibri" pitchFamily="34" charset="-122"/>
                <a:cs typeface="Calibri" pitchFamily="34" charset="-120"/>
              </a:rPr>
              <a:t>Empirical Finding: Household size &amp; dependency ratios correlate strongly positively with poverty (+0.35). Education, literacy, electrical grid access, and asset counts correlate strongly negatively (-0.38).</a:t>
            </a:r>
            <a:endParaRPr lang="en-US" sz="1000" dirty="0"/>
          </a:p>
        </p:txBody>
      </p:sp>
      <p:sp>
        <p:nvSpPr>
          <p:cNvPr id="12" name="Shape 8"/>
          <p:cNvSpPr/>
          <p:nvPr/>
        </p:nvSpPr>
        <p:spPr>
          <a:xfrm>
            <a:off x="548640" y="5596128"/>
            <a:ext cx="11094415" cy="475488"/>
          </a:xfrm>
          <a:prstGeom prst="roundRect">
            <a:avLst>
              <a:gd name="adj" fmla="val 11538"/>
            </a:avLst>
          </a:prstGeom>
          <a:solidFill>
            <a:srgbClr val="EEF3FE"/>
          </a:solidFill>
          <a:ln w="12700">
            <a:solidFill>
              <a:srgbClr val="CADCFC"/>
            </a:solidFill>
            <a:prstDash val="solid"/>
          </a:ln>
        </p:spPr>
      </p:sp>
      <p:sp>
        <p:nvSpPr>
          <p:cNvPr id="13" name="Text 9"/>
          <p:cNvSpPr/>
          <p:nvPr/>
        </p:nvSpPr>
        <p:spPr>
          <a:xfrm>
            <a:off x="777240" y="5596128"/>
            <a:ext cx="10637215" cy="475488"/>
          </a:xfrm>
          <a:prstGeom prst="rect">
            <a:avLst/>
          </a:prstGeom>
          <a:noFill/>
          <a:ln/>
        </p:spPr>
        <p:txBody>
          <a:bodyPr wrap="square" rtlCol="0" anchor="ctr"/>
          <a:lstStyle/>
          <a:p>
            <a:pPr marL="0" indent="0" algn="ctr">
              <a:buNone/>
            </a:pPr>
            <a:r>
              <a:rPr lang="en-US" sz="1050" b="1" dirty="0">
                <a:solidFill>
                  <a:srgbClr val="1F8A5A"/>
                </a:solidFill>
                <a:latin typeface="Calibri" pitchFamily="34" charset="0"/>
                <a:ea typeface="Calibri" pitchFamily="34" charset="-122"/>
                <a:cs typeface="Calibri" pitchFamily="34" charset="-120"/>
              </a:rPr>
              <a:t>All correlations verified statistically across all 8 country datasets with 0% missing data post-imputation</a:t>
            </a:r>
            <a:endParaRPr lang="en-US" sz="1050" dirty="0"/>
          </a:p>
        </p:txBody>
      </p:sp>
      <p:sp>
        <p:nvSpPr>
          <p:cNvPr id="14" name="Text 1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18</a:t>
            </a:r>
            <a:endParaRPr lang="en-US" sz="950" dirty="0"/>
          </a:p>
        </p:txBody>
      </p:sp>
      <p:sp>
        <p:nvSpPr>
          <p:cNvPr id="15" name="Text 1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PROPOSED METHODOLOGY · RUBRIC CRITERION 2</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Eight-Tier End-to-End System Architecture: From Survey Ingestion to Policy Application</a:t>
            </a:r>
            <a:endParaRPr lang="en-US" sz="2500" dirty="0"/>
          </a:p>
        </p:txBody>
      </p:sp>
      <p:sp>
        <p:nvSpPr>
          <p:cNvPr id="4" name="Shape 2"/>
          <p:cNvSpPr/>
          <p:nvPr/>
        </p:nvSpPr>
        <p:spPr>
          <a:xfrm>
            <a:off x="548640" y="1472184"/>
            <a:ext cx="3337560" cy="4937760"/>
          </a:xfrm>
          <a:prstGeom prst="roundRect">
            <a:avLst>
              <a:gd name="adj" fmla="val 2192"/>
            </a:avLst>
          </a:prstGeom>
          <a:solidFill>
            <a:srgbClr val="FFFFFF"/>
          </a:solidFill>
          <a:ln w="12700">
            <a:solidFill>
              <a:srgbClr val="E4E8F0"/>
            </a:solidFill>
            <a:prstDash val="solid"/>
          </a:ln>
        </p:spPr>
      </p:sp>
      <p:sp>
        <p:nvSpPr>
          <p:cNvPr id="5" name="Shape 3"/>
          <p:cNvSpPr/>
          <p:nvPr/>
        </p:nvSpPr>
        <p:spPr>
          <a:xfrm>
            <a:off x="548640" y="1403604"/>
            <a:ext cx="3337560" cy="411480"/>
          </a:xfrm>
          <a:prstGeom prst="roundRect">
            <a:avLst>
              <a:gd name="adj" fmla="val 17778"/>
            </a:avLst>
          </a:prstGeom>
          <a:solidFill>
            <a:srgbClr val="1E2761"/>
          </a:solidFill>
          <a:ln/>
        </p:spPr>
      </p:sp>
      <p:sp>
        <p:nvSpPr>
          <p:cNvPr id="6" name="Shape 4"/>
          <p:cNvSpPr/>
          <p:nvPr/>
        </p:nvSpPr>
        <p:spPr>
          <a:xfrm>
            <a:off x="548640" y="1527048"/>
            <a:ext cx="3337560" cy="210312"/>
          </a:xfrm>
          <a:prstGeom prst="rect">
            <a:avLst/>
          </a:prstGeom>
          <a:solidFill>
            <a:srgbClr val="1E2761"/>
          </a:solidFill>
          <a:ln/>
        </p:spPr>
      </p:sp>
      <p:sp>
        <p:nvSpPr>
          <p:cNvPr id="7" name="Text 5"/>
          <p:cNvSpPr/>
          <p:nvPr/>
        </p:nvSpPr>
        <p:spPr>
          <a:xfrm>
            <a:off x="685800" y="1325880"/>
            <a:ext cx="306324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Production Architecture Tiers</a:t>
            </a:r>
            <a:endParaRPr lang="en-US" sz="1150" dirty="0"/>
          </a:p>
        </p:txBody>
      </p:sp>
      <p:sp>
        <p:nvSpPr>
          <p:cNvPr id="8" name="Text 6"/>
          <p:cNvSpPr/>
          <p:nvPr/>
        </p:nvSpPr>
        <p:spPr>
          <a:xfrm>
            <a:off x="685800" y="1801368"/>
            <a:ext cx="3063240" cy="201168"/>
          </a:xfrm>
          <a:prstGeom prst="rect">
            <a:avLst/>
          </a:prstGeom>
          <a:noFill/>
          <a:ln/>
        </p:spPr>
        <p:txBody>
          <a:bodyPr wrap="square" rtlCol="0" anchor="ctr"/>
          <a:lstStyle/>
          <a:p>
            <a:pPr marL="0" indent="0">
              <a:buNone/>
            </a:pPr>
            <a:r>
              <a:rPr lang="en-US" sz="950" b="1" dirty="0">
                <a:solidFill>
                  <a:srgbClr val="1F8A5A"/>
                </a:solidFill>
                <a:latin typeface="Calibri" pitchFamily="34" charset="0"/>
                <a:ea typeface="Calibri" pitchFamily="34" charset="-122"/>
                <a:cs typeface="Calibri" pitchFamily="34" charset="-120"/>
              </a:rPr>
              <a:t>1. Data Tier (O1 Complete)</a:t>
            </a:r>
            <a:endParaRPr lang="en-US" sz="950" dirty="0"/>
          </a:p>
        </p:txBody>
      </p:sp>
      <p:sp>
        <p:nvSpPr>
          <p:cNvPr id="9" name="Text 7"/>
          <p:cNvSpPr/>
          <p:nvPr/>
        </p:nvSpPr>
        <p:spPr>
          <a:xfrm>
            <a:off x="685800" y="200253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8 WAEMU nations, 24 CSVs, 55,922 households, SHA-256 lineage tracking.</a:t>
            </a:r>
            <a:endParaRPr lang="en-US" sz="900" dirty="0"/>
          </a:p>
        </p:txBody>
      </p:sp>
      <p:sp>
        <p:nvSpPr>
          <p:cNvPr id="10" name="Shape 8"/>
          <p:cNvSpPr/>
          <p:nvPr/>
        </p:nvSpPr>
        <p:spPr>
          <a:xfrm>
            <a:off x="685800" y="2496312"/>
            <a:ext cx="3063240" cy="0"/>
          </a:xfrm>
          <a:prstGeom prst="line">
            <a:avLst/>
          </a:prstGeom>
          <a:noFill/>
          <a:ln w="6350">
            <a:solidFill>
              <a:srgbClr val="E4E8F0"/>
            </a:solidFill>
            <a:prstDash val="solid"/>
          </a:ln>
        </p:spPr>
      </p:sp>
      <p:sp>
        <p:nvSpPr>
          <p:cNvPr id="11" name="Text 9"/>
          <p:cNvSpPr/>
          <p:nvPr/>
        </p:nvSpPr>
        <p:spPr>
          <a:xfrm>
            <a:off x="685800" y="2532888"/>
            <a:ext cx="3063240" cy="201168"/>
          </a:xfrm>
          <a:prstGeom prst="rect">
            <a:avLst/>
          </a:prstGeom>
          <a:noFill/>
          <a:ln/>
        </p:spPr>
        <p:txBody>
          <a:bodyPr wrap="square" rtlCol="0" anchor="ctr"/>
          <a:lstStyle/>
          <a:p>
            <a:pPr marL="0" indent="0">
              <a:buNone/>
            </a:pPr>
            <a:r>
              <a:rPr lang="en-US" sz="950" b="1" dirty="0">
                <a:solidFill>
                  <a:srgbClr val="1F8A5A"/>
                </a:solidFill>
                <a:latin typeface="Calibri" pitchFamily="34" charset="0"/>
                <a:ea typeface="Calibri" pitchFamily="34" charset="-122"/>
                <a:cs typeface="Calibri" pitchFamily="34" charset="-120"/>
              </a:rPr>
              <a:t>2. Validation &amp; Preprocessing</a:t>
            </a:r>
            <a:endParaRPr lang="en-US" sz="950" dirty="0"/>
          </a:p>
        </p:txBody>
      </p:sp>
      <p:sp>
        <p:nvSpPr>
          <p:cNvPr id="12" name="Text 10"/>
          <p:cNvSpPr/>
          <p:nvPr/>
        </p:nvSpPr>
        <p:spPr>
          <a:xfrm>
            <a:off x="685800" y="273405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24 declarative Pandera contracts, type coercion, 3-tier joins, household aggregations.</a:t>
            </a:r>
            <a:endParaRPr lang="en-US" sz="900" dirty="0"/>
          </a:p>
        </p:txBody>
      </p:sp>
      <p:sp>
        <p:nvSpPr>
          <p:cNvPr id="13" name="Shape 11"/>
          <p:cNvSpPr/>
          <p:nvPr/>
        </p:nvSpPr>
        <p:spPr>
          <a:xfrm>
            <a:off x="685800" y="3227832"/>
            <a:ext cx="3063240" cy="0"/>
          </a:xfrm>
          <a:prstGeom prst="line">
            <a:avLst/>
          </a:prstGeom>
          <a:noFill/>
          <a:ln w="6350">
            <a:solidFill>
              <a:srgbClr val="E4E8F0"/>
            </a:solidFill>
            <a:prstDash val="solid"/>
          </a:ln>
        </p:spPr>
      </p:sp>
      <p:sp>
        <p:nvSpPr>
          <p:cNvPr id="14" name="Text 12"/>
          <p:cNvSpPr/>
          <p:nvPr/>
        </p:nvSpPr>
        <p:spPr>
          <a:xfrm>
            <a:off x="685800" y="3264408"/>
            <a:ext cx="3063240" cy="201168"/>
          </a:xfrm>
          <a:prstGeom prst="rect">
            <a:avLst/>
          </a:prstGeom>
          <a:noFill/>
          <a:ln/>
        </p:spPr>
        <p:txBody>
          <a:bodyPr wrap="square" rtlCol="0" anchor="ctr"/>
          <a:lstStyle/>
          <a:p>
            <a:pPr marL="0" indent="0">
              <a:buNone/>
            </a:pPr>
            <a:r>
              <a:rPr lang="en-US" sz="950" b="1" dirty="0">
                <a:solidFill>
                  <a:srgbClr val="1F8A5A"/>
                </a:solidFill>
                <a:latin typeface="Calibri" pitchFamily="34" charset="0"/>
                <a:ea typeface="Calibri" pitchFamily="34" charset="-122"/>
                <a:cs typeface="Calibri" pitchFamily="34" charset="-120"/>
              </a:rPr>
              <a:t>3. Feature Engineering</a:t>
            </a:r>
            <a:endParaRPr lang="en-US" sz="950" dirty="0"/>
          </a:p>
        </p:txBody>
      </p:sp>
      <p:sp>
        <p:nvSpPr>
          <p:cNvPr id="15" name="Text 13"/>
          <p:cNvSpPr/>
          <p:nvPr/>
        </p:nvSpPr>
        <p:spPr>
          <a:xfrm>
            <a:off x="685800" y="346557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74 clean standardized features, 0.0% missing data, zero target leakage purge.</a:t>
            </a:r>
            <a:endParaRPr lang="en-US" sz="900" dirty="0"/>
          </a:p>
        </p:txBody>
      </p:sp>
      <p:sp>
        <p:nvSpPr>
          <p:cNvPr id="16" name="Shape 14"/>
          <p:cNvSpPr/>
          <p:nvPr/>
        </p:nvSpPr>
        <p:spPr>
          <a:xfrm>
            <a:off x="685800" y="3959352"/>
            <a:ext cx="3063240" cy="0"/>
          </a:xfrm>
          <a:prstGeom prst="line">
            <a:avLst/>
          </a:prstGeom>
          <a:noFill/>
          <a:ln w="6350">
            <a:solidFill>
              <a:srgbClr val="E4E8F0"/>
            </a:solidFill>
            <a:prstDash val="solid"/>
          </a:ln>
        </p:spPr>
      </p:sp>
      <p:sp>
        <p:nvSpPr>
          <p:cNvPr id="17" name="Text 15"/>
          <p:cNvSpPr/>
          <p:nvPr/>
        </p:nvSpPr>
        <p:spPr>
          <a:xfrm>
            <a:off x="685800" y="399592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4. LOCO Model Evaluation</a:t>
            </a:r>
            <a:endParaRPr lang="en-US" sz="950" dirty="0"/>
          </a:p>
        </p:txBody>
      </p:sp>
      <p:sp>
        <p:nvSpPr>
          <p:cNvPr id="18" name="Text 16"/>
          <p:cNvSpPr/>
          <p:nvPr/>
        </p:nvSpPr>
        <p:spPr>
          <a:xfrm>
            <a:off x="685800" y="419709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8-fold cross-country transfer splits; RF, XGBoost, EBM (GA²M), LightGBM+SHAP.</a:t>
            </a:r>
            <a:endParaRPr lang="en-US" sz="900" dirty="0"/>
          </a:p>
        </p:txBody>
      </p:sp>
      <p:sp>
        <p:nvSpPr>
          <p:cNvPr id="19" name="Shape 17"/>
          <p:cNvSpPr/>
          <p:nvPr/>
        </p:nvSpPr>
        <p:spPr>
          <a:xfrm>
            <a:off x="685800" y="4690872"/>
            <a:ext cx="3063240" cy="0"/>
          </a:xfrm>
          <a:prstGeom prst="line">
            <a:avLst/>
          </a:prstGeom>
          <a:noFill/>
          <a:ln w="6350">
            <a:solidFill>
              <a:srgbClr val="E4E8F0"/>
            </a:solidFill>
            <a:prstDash val="solid"/>
          </a:ln>
        </p:spPr>
      </p:sp>
      <p:sp>
        <p:nvSpPr>
          <p:cNvPr id="20" name="Text 18"/>
          <p:cNvSpPr/>
          <p:nvPr/>
        </p:nvSpPr>
        <p:spPr>
          <a:xfrm>
            <a:off x="685800" y="472744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5. Explainability &amp; Interpretation</a:t>
            </a:r>
            <a:endParaRPr lang="en-US" sz="950" dirty="0"/>
          </a:p>
        </p:txBody>
      </p:sp>
      <p:sp>
        <p:nvSpPr>
          <p:cNvPr id="21" name="Text 19"/>
          <p:cNvSpPr/>
          <p:nvPr/>
        </p:nvSpPr>
        <p:spPr>
          <a:xfrm>
            <a:off x="685800" y="492861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Exact additive shape splines (EBM) + polynomial Tree-SHAP attributions.</a:t>
            </a:r>
            <a:endParaRPr lang="en-US" sz="900" dirty="0"/>
          </a:p>
        </p:txBody>
      </p:sp>
      <p:sp>
        <p:nvSpPr>
          <p:cNvPr id="22" name="Shape 20"/>
          <p:cNvSpPr/>
          <p:nvPr/>
        </p:nvSpPr>
        <p:spPr>
          <a:xfrm>
            <a:off x="685800" y="5422392"/>
            <a:ext cx="3063240" cy="0"/>
          </a:xfrm>
          <a:prstGeom prst="line">
            <a:avLst/>
          </a:prstGeom>
          <a:noFill/>
          <a:ln w="6350">
            <a:solidFill>
              <a:srgbClr val="E4E8F0"/>
            </a:solidFill>
            <a:prstDash val="solid"/>
          </a:ln>
        </p:spPr>
      </p:sp>
      <p:sp>
        <p:nvSpPr>
          <p:cNvPr id="23" name="Text 21"/>
          <p:cNvSpPr/>
          <p:nvPr/>
        </p:nvSpPr>
        <p:spPr>
          <a:xfrm>
            <a:off x="685800" y="545896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6. Policy &amp; Applications</a:t>
            </a:r>
            <a:endParaRPr lang="en-US" sz="950" dirty="0"/>
          </a:p>
        </p:txBody>
      </p:sp>
      <p:sp>
        <p:nvSpPr>
          <p:cNvPr id="24" name="Text 22"/>
          <p:cNvSpPr/>
          <p:nvPr/>
        </p:nvSpPr>
        <p:spPr>
          <a:xfrm>
            <a:off x="685800" y="5660136"/>
            <a:ext cx="3063240" cy="475488"/>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Asymmetric loss sweeps (C_ex:C_inc 1:1 to 10:1); Streamlit interactive dashboard.</a:t>
            </a:r>
            <a:endParaRPr lang="en-US" sz="900" dirty="0"/>
          </a:p>
        </p:txBody>
      </p:sp>
      <p:sp>
        <p:nvSpPr>
          <p:cNvPr id="25" name="Shape 23"/>
          <p:cNvSpPr/>
          <p:nvPr/>
        </p:nvSpPr>
        <p:spPr>
          <a:xfrm>
            <a:off x="4114800" y="1325880"/>
            <a:ext cx="7528255" cy="4937760"/>
          </a:xfrm>
          <a:prstGeom prst="roundRect">
            <a:avLst>
              <a:gd name="adj" fmla="val 1481"/>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pic>
        <p:nvPicPr>
          <p:cNvPr id="26" name="Image 0" descr="C:\Users\bhima\OneDrive\Desktop\CAPSTONE\images\diagram_architecture.jpg"/>
          <p:cNvPicPr>
            <a:picLocks noChangeAspect="1"/>
          </p:cNvPicPr>
          <p:nvPr/>
        </p:nvPicPr>
        <p:blipFill>
          <a:blip r:embed="rId3"/>
          <a:stretch>
            <a:fillRect/>
          </a:stretch>
        </p:blipFill>
        <p:spPr>
          <a:xfrm>
            <a:off x="4221328" y="1357884"/>
            <a:ext cx="7315200" cy="4873752"/>
          </a:xfrm>
          <a:prstGeom prst="rect">
            <a:avLst/>
          </a:prstGeom>
        </p:spPr>
      </p:pic>
      <p:sp>
        <p:nvSpPr>
          <p:cNvPr id="27" name="Text 24"/>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19</a:t>
            </a:r>
            <a:endParaRPr lang="en-US" sz="950" dirty="0"/>
          </a:p>
        </p:txBody>
      </p:sp>
      <p:sp>
        <p:nvSpPr>
          <p:cNvPr id="28" name="Text 25"/>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SYSTEM DESIGN · RUBRIC CRITERION 2</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Entity-Relationship (ER) Diagram &amp; Relational Schema Cardinality</a:t>
            </a:r>
            <a:endParaRPr lang="en-US" sz="2500" dirty="0"/>
          </a:p>
        </p:txBody>
      </p:sp>
      <p:sp>
        <p:nvSpPr>
          <p:cNvPr id="4" name="Shape 2"/>
          <p:cNvSpPr/>
          <p:nvPr/>
        </p:nvSpPr>
        <p:spPr>
          <a:xfrm>
            <a:off x="548640" y="1325880"/>
            <a:ext cx="3337560" cy="4937760"/>
          </a:xfrm>
          <a:prstGeom prst="roundRect">
            <a:avLst>
              <a:gd name="adj" fmla="val 2192"/>
            </a:avLst>
          </a:prstGeom>
          <a:solidFill>
            <a:srgbClr val="FFFFFF"/>
          </a:solidFill>
          <a:ln w="12700">
            <a:solidFill>
              <a:srgbClr val="E4E8F0"/>
            </a:solidFill>
            <a:prstDash val="solid"/>
          </a:ln>
        </p:spPr>
      </p:sp>
      <p:sp>
        <p:nvSpPr>
          <p:cNvPr id="5" name="Shape 3"/>
          <p:cNvSpPr/>
          <p:nvPr/>
        </p:nvSpPr>
        <p:spPr>
          <a:xfrm>
            <a:off x="548640" y="1325880"/>
            <a:ext cx="3337560" cy="411480"/>
          </a:xfrm>
          <a:prstGeom prst="roundRect">
            <a:avLst>
              <a:gd name="adj" fmla="val 17778"/>
            </a:avLst>
          </a:prstGeom>
          <a:solidFill>
            <a:srgbClr val="1E2761"/>
          </a:solidFill>
          <a:ln/>
        </p:spPr>
      </p:sp>
      <p:sp>
        <p:nvSpPr>
          <p:cNvPr id="6" name="Shape 4"/>
          <p:cNvSpPr/>
          <p:nvPr/>
        </p:nvSpPr>
        <p:spPr>
          <a:xfrm>
            <a:off x="548640" y="1527048"/>
            <a:ext cx="3337560" cy="210312"/>
          </a:xfrm>
          <a:prstGeom prst="rect">
            <a:avLst/>
          </a:prstGeom>
          <a:solidFill>
            <a:srgbClr val="1E2761"/>
          </a:solidFill>
          <a:ln/>
        </p:spPr>
      </p:sp>
      <p:sp>
        <p:nvSpPr>
          <p:cNvPr id="7" name="Text 5"/>
          <p:cNvSpPr/>
          <p:nvPr/>
        </p:nvSpPr>
        <p:spPr>
          <a:xfrm>
            <a:off x="685800" y="1325880"/>
            <a:ext cx="306324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Relational Schema Specifications</a:t>
            </a:r>
            <a:endParaRPr lang="en-US" sz="1150" dirty="0"/>
          </a:p>
        </p:txBody>
      </p:sp>
      <p:sp>
        <p:nvSpPr>
          <p:cNvPr id="8" name="Text 6"/>
          <p:cNvSpPr/>
          <p:nvPr/>
        </p:nvSpPr>
        <p:spPr>
          <a:xfrm>
            <a:off x="685800" y="1801368"/>
            <a:ext cx="3063240" cy="201168"/>
          </a:xfrm>
          <a:prstGeom prst="rect">
            <a:avLst/>
          </a:prstGeom>
          <a:noFill/>
          <a:ln/>
        </p:spPr>
        <p:txBody>
          <a:bodyPr wrap="square" rtlCol="0" anchor="ctr"/>
          <a:lstStyle/>
          <a:p>
            <a:pPr marL="0" indent="0">
              <a:buNone/>
            </a:pPr>
            <a:r>
              <a:rPr lang="en-US" sz="950" b="1" dirty="0">
                <a:solidFill>
                  <a:srgbClr val="D98E04"/>
                </a:solidFill>
                <a:latin typeface="Calibri" pitchFamily="34" charset="0"/>
                <a:ea typeface="Calibri" pitchFamily="34" charset="-122"/>
                <a:cs typeface="Calibri" pitchFamily="34" charset="-120"/>
              </a:rPr>
              <a:t>Entity Hierarchy</a:t>
            </a:r>
            <a:endParaRPr lang="en-US" sz="950" dirty="0"/>
          </a:p>
        </p:txBody>
      </p:sp>
      <p:sp>
        <p:nvSpPr>
          <p:cNvPr id="9" name="Text 7"/>
          <p:cNvSpPr/>
          <p:nvPr/>
        </p:nvSpPr>
        <p:spPr>
          <a:xfrm>
            <a:off x="685800" y="200253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COUNTRY (1) → HOUSEHOLD (N)</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HOUSEHOLD (1) ↔ WELFARE (1)</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HOUSEHOLD (1) → MEMBERS (N)</a:t>
            </a:r>
            <a:endParaRPr lang="en-US" sz="900" dirty="0"/>
          </a:p>
        </p:txBody>
      </p:sp>
      <p:sp>
        <p:nvSpPr>
          <p:cNvPr id="10" name="Shape 8"/>
          <p:cNvSpPr/>
          <p:nvPr/>
        </p:nvSpPr>
        <p:spPr>
          <a:xfrm>
            <a:off x="685800" y="2606040"/>
            <a:ext cx="3063240" cy="0"/>
          </a:xfrm>
          <a:prstGeom prst="line">
            <a:avLst/>
          </a:prstGeom>
          <a:noFill/>
          <a:ln w="6350">
            <a:solidFill>
              <a:srgbClr val="E4E8F0"/>
            </a:solidFill>
            <a:prstDash val="solid"/>
          </a:ln>
        </p:spPr>
      </p:sp>
      <p:sp>
        <p:nvSpPr>
          <p:cNvPr id="11" name="Text 9"/>
          <p:cNvSpPr/>
          <p:nvPr/>
        </p:nvSpPr>
        <p:spPr>
          <a:xfrm>
            <a:off x="685800" y="2670048"/>
            <a:ext cx="3063240" cy="201168"/>
          </a:xfrm>
          <a:prstGeom prst="rect">
            <a:avLst/>
          </a:prstGeom>
          <a:noFill/>
          <a:ln/>
        </p:spPr>
        <p:txBody>
          <a:bodyPr wrap="square" rtlCol="0" anchor="ctr"/>
          <a:lstStyle/>
          <a:p>
            <a:pPr marL="0" indent="0">
              <a:buNone/>
            </a:pPr>
            <a:r>
              <a:rPr lang="en-US" sz="950" b="1" dirty="0">
                <a:solidFill>
                  <a:srgbClr val="D98E04"/>
                </a:solidFill>
                <a:latin typeface="Calibri" pitchFamily="34" charset="0"/>
                <a:ea typeface="Calibri" pitchFamily="34" charset="-122"/>
                <a:cs typeface="Calibri" pitchFamily="34" charset="-120"/>
              </a:rPr>
              <a:t>Primary &amp; Foreign Keys</a:t>
            </a:r>
            <a:endParaRPr lang="en-US" sz="950" dirty="0"/>
          </a:p>
        </p:txBody>
      </p:sp>
      <p:sp>
        <p:nvSpPr>
          <p:cNvPr id="12" name="Text 10"/>
          <p:cNvSpPr/>
          <p:nvPr/>
        </p:nvSpPr>
        <p:spPr>
          <a:xfrm>
            <a:off x="685800" y="287121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Composite PK: (country_code, household_id)</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Member PK: member_id, FK: household_id</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Welfare PK: welfare_id, FK: household_id</a:t>
            </a:r>
            <a:endParaRPr lang="en-US" sz="900" dirty="0"/>
          </a:p>
        </p:txBody>
      </p:sp>
      <p:sp>
        <p:nvSpPr>
          <p:cNvPr id="13" name="Shape 11"/>
          <p:cNvSpPr/>
          <p:nvPr/>
        </p:nvSpPr>
        <p:spPr>
          <a:xfrm>
            <a:off x="685800" y="3474720"/>
            <a:ext cx="3063240" cy="0"/>
          </a:xfrm>
          <a:prstGeom prst="line">
            <a:avLst/>
          </a:prstGeom>
          <a:noFill/>
          <a:ln w="6350">
            <a:solidFill>
              <a:srgbClr val="E4E8F0"/>
            </a:solidFill>
            <a:prstDash val="solid"/>
          </a:ln>
        </p:spPr>
      </p:sp>
      <p:sp>
        <p:nvSpPr>
          <p:cNvPr id="14" name="Text 12"/>
          <p:cNvSpPr/>
          <p:nvPr/>
        </p:nvSpPr>
        <p:spPr>
          <a:xfrm>
            <a:off x="685800" y="3538728"/>
            <a:ext cx="3063240" cy="201168"/>
          </a:xfrm>
          <a:prstGeom prst="rect">
            <a:avLst/>
          </a:prstGeom>
          <a:noFill/>
          <a:ln/>
        </p:spPr>
        <p:txBody>
          <a:bodyPr wrap="square" rtlCol="0" anchor="ctr"/>
          <a:lstStyle/>
          <a:p>
            <a:pPr marL="0" indent="0">
              <a:buNone/>
            </a:pPr>
            <a:r>
              <a:rPr lang="en-US" sz="950" b="1" dirty="0">
                <a:solidFill>
                  <a:srgbClr val="D98E04"/>
                </a:solidFill>
                <a:latin typeface="Calibri" pitchFamily="34" charset="0"/>
                <a:ea typeface="Calibri" pitchFamily="34" charset="-122"/>
                <a:cs typeface="Calibri" pitchFamily="34" charset="-120"/>
              </a:rPr>
              <a:t>Transformation Target</a:t>
            </a:r>
            <a:endParaRPr lang="en-US" sz="950" dirty="0"/>
          </a:p>
        </p:txBody>
      </p:sp>
      <p:sp>
        <p:nvSpPr>
          <p:cNvPr id="15" name="Text 13"/>
          <p:cNvSpPr/>
          <p:nvPr/>
        </p:nvSpPr>
        <p:spPr>
          <a:xfrm>
            <a:off x="685800" y="373989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CLEAN_HOUSEHOLD: 55,922 records</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Binary Target: poor = I(pcexp &lt; zref)</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74 harmonized asset &amp; demographic features</a:t>
            </a:r>
            <a:endParaRPr lang="en-US" sz="900" dirty="0"/>
          </a:p>
        </p:txBody>
      </p:sp>
      <p:sp>
        <p:nvSpPr>
          <p:cNvPr id="16" name="Shape 14"/>
          <p:cNvSpPr/>
          <p:nvPr/>
        </p:nvSpPr>
        <p:spPr>
          <a:xfrm>
            <a:off x="685800" y="4343400"/>
            <a:ext cx="3063240" cy="0"/>
          </a:xfrm>
          <a:prstGeom prst="line">
            <a:avLst/>
          </a:prstGeom>
          <a:noFill/>
          <a:ln w="6350">
            <a:solidFill>
              <a:srgbClr val="E4E8F0"/>
            </a:solidFill>
            <a:prstDash val="solid"/>
          </a:ln>
        </p:spPr>
      </p:sp>
      <p:sp>
        <p:nvSpPr>
          <p:cNvPr id="17" name="Text 15"/>
          <p:cNvSpPr/>
          <p:nvPr/>
        </p:nvSpPr>
        <p:spPr>
          <a:xfrm>
            <a:off x="685800" y="4407408"/>
            <a:ext cx="3063240" cy="201168"/>
          </a:xfrm>
          <a:prstGeom prst="rect">
            <a:avLst/>
          </a:prstGeom>
          <a:noFill/>
          <a:ln/>
        </p:spPr>
        <p:txBody>
          <a:bodyPr wrap="square" rtlCol="0" anchor="ctr"/>
          <a:lstStyle/>
          <a:p>
            <a:pPr marL="0" indent="0">
              <a:buNone/>
            </a:pPr>
            <a:r>
              <a:rPr lang="en-US" sz="950" b="1" dirty="0">
                <a:solidFill>
                  <a:srgbClr val="D98E04"/>
                </a:solidFill>
                <a:latin typeface="Calibri" pitchFamily="34" charset="0"/>
                <a:ea typeface="Calibri" pitchFamily="34" charset="-122"/>
                <a:cs typeface="Calibri" pitchFamily="34" charset="-120"/>
              </a:rPr>
              <a:t>Data Quality Standard</a:t>
            </a:r>
            <a:endParaRPr lang="en-US" sz="950" dirty="0"/>
          </a:p>
        </p:txBody>
      </p:sp>
      <p:sp>
        <p:nvSpPr>
          <p:cNvPr id="18" name="Text 16"/>
          <p:cNvSpPr/>
          <p:nvPr/>
        </p:nvSpPr>
        <p:spPr>
          <a:xfrm>
            <a:off x="685800" y="460857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24/24 Pandera schema contracts verified</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0.0% missing data via localized mode impute</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Strict zero target expenditure leakage purge</a:t>
            </a:r>
            <a:endParaRPr lang="en-US" sz="900" dirty="0"/>
          </a:p>
        </p:txBody>
      </p:sp>
      <p:sp>
        <p:nvSpPr>
          <p:cNvPr id="19" name="Shape 17"/>
          <p:cNvSpPr/>
          <p:nvPr/>
        </p:nvSpPr>
        <p:spPr>
          <a:xfrm>
            <a:off x="685800" y="5212080"/>
            <a:ext cx="3063240" cy="0"/>
          </a:xfrm>
          <a:prstGeom prst="line">
            <a:avLst/>
          </a:prstGeom>
          <a:noFill/>
          <a:ln w="6350">
            <a:solidFill>
              <a:srgbClr val="E4E8F0"/>
            </a:solidFill>
            <a:prstDash val="solid"/>
          </a:ln>
        </p:spPr>
      </p:sp>
      <p:sp>
        <p:nvSpPr>
          <p:cNvPr id="20" name="Text 18"/>
          <p:cNvSpPr/>
          <p:nvPr/>
        </p:nvSpPr>
        <p:spPr>
          <a:xfrm>
            <a:off x="685800" y="5276088"/>
            <a:ext cx="3063240" cy="201168"/>
          </a:xfrm>
          <a:prstGeom prst="rect">
            <a:avLst/>
          </a:prstGeom>
          <a:noFill/>
          <a:ln/>
        </p:spPr>
        <p:txBody>
          <a:bodyPr wrap="square" rtlCol="0" anchor="ctr"/>
          <a:lstStyle/>
          <a:p>
            <a:pPr marL="0" indent="0">
              <a:buNone/>
            </a:pPr>
            <a:r>
              <a:rPr lang="en-US" sz="950" b="1" dirty="0">
                <a:solidFill>
                  <a:srgbClr val="D98E04"/>
                </a:solidFill>
                <a:latin typeface="Calibri" pitchFamily="34" charset="0"/>
                <a:ea typeface="Calibri" pitchFamily="34" charset="-122"/>
                <a:cs typeface="Calibri" pitchFamily="34" charset="-120"/>
              </a:rPr>
              <a:t>Extensibility Scope</a:t>
            </a:r>
            <a:endParaRPr lang="en-US" sz="950" dirty="0"/>
          </a:p>
        </p:txBody>
      </p:sp>
      <p:sp>
        <p:nvSpPr>
          <p:cNvPr id="21" name="Text 19"/>
          <p:cNvSpPr/>
          <p:nvPr/>
        </p:nvSpPr>
        <p:spPr>
          <a:xfrm>
            <a:off x="685800" y="547725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Extensible schema architecture supports</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multi-year survey panel waves &amp; predictions</a:t>
            </a:r>
            <a:endParaRPr lang="en-US" sz="900" dirty="0"/>
          </a:p>
        </p:txBody>
      </p:sp>
      <p:sp>
        <p:nvSpPr>
          <p:cNvPr id="22" name="Shape 20"/>
          <p:cNvSpPr/>
          <p:nvPr/>
        </p:nvSpPr>
        <p:spPr>
          <a:xfrm>
            <a:off x="4114800" y="1325880"/>
            <a:ext cx="7528255" cy="4937760"/>
          </a:xfrm>
          <a:prstGeom prst="roundRect">
            <a:avLst>
              <a:gd name="adj" fmla="val 1481"/>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pic>
        <p:nvPicPr>
          <p:cNvPr id="23" name="Image 0" descr="C:\Users\bhima\OneDrive\Desktop\CAPSTONE\images\diagram_er.jpg"/>
          <p:cNvPicPr>
            <a:picLocks noChangeAspect="1"/>
          </p:cNvPicPr>
          <p:nvPr/>
        </p:nvPicPr>
        <p:blipFill>
          <a:blip r:embed="rId3"/>
          <a:stretch>
            <a:fillRect/>
          </a:stretch>
        </p:blipFill>
        <p:spPr>
          <a:xfrm>
            <a:off x="4221328" y="1357884"/>
            <a:ext cx="7315200" cy="4873752"/>
          </a:xfrm>
          <a:prstGeom prst="rect">
            <a:avLst/>
          </a:prstGeom>
        </p:spPr>
      </p:pic>
      <p:sp>
        <p:nvSpPr>
          <p:cNvPr id="24" name="Text 21"/>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20</a:t>
            </a:r>
            <a:endParaRPr lang="en-US" sz="950" dirty="0"/>
          </a:p>
        </p:txBody>
      </p:sp>
      <p:sp>
        <p:nvSpPr>
          <p:cNvPr id="25" name="Text 22"/>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SYSTEM DESIGN · RUBRIC CRITERION 2</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UML Class Diagram: Object-Oriented Software &amp; Domain Architecture</a:t>
            </a:r>
            <a:endParaRPr lang="en-US" sz="2500" dirty="0"/>
          </a:p>
        </p:txBody>
      </p:sp>
      <p:sp>
        <p:nvSpPr>
          <p:cNvPr id="4" name="Shape 2"/>
          <p:cNvSpPr/>
          <p:nvPr/>
        </p:nvSpPr>
        <p:spPr>
          <a:xfrm>
            <a:off x="548640" y="1325880"/>
            <a:ext cx="3337560" cy="4937760"/>
          </a:xfrm>
          <a:prstGeom prst="roundRect">
            <a:avLst>
              <a:gd name="adj" fmla="val 2192"/>
            </a:avLst>
          </a:prstGeom>
          <a:solidFill>
            <a:srgbClr val="FFFFFF"/>
          </a:solidFill>
          <a:ln w="12700">
            <a:solidFill>
              <a:srgbClr val="E4E8F0"/>
            </a:solidFill>
            <a:prstDash val="solid"/>
          </a:ln>
        </p:spPr>
      </p:sp>
      <p:sp>
        <p:nvSpPr>
          <p:cNvPr id="5" name="Shape 3"/>
          <p:cNvSpPr/>
          <p:nvPr/>
        </p:nvSpPr>
        <p:spPr>
          <a:xfrm>
            <a:off x="548640" y="1325880"/>
            <a:ext cx="3337560" cy="411480"/>
          </a:xfrm>
          <a:prstGeom prst="roundRect">
            <a:avLst>
              <a:gd name="adj" fmla="val 17778"/>
            </a:avLst>
          </a:prstGeom>
          <a:solidFill>
            <a:srgbClr val="1E2761"/>
          </a:solidFill>
          <a:ln/>
        </p:spPr>
      </p:sp>
      <p:sp>
        <p:nvSpPr>
          <p:cNvPr id="6" name="Shape 4"/>
          <p:cNvSpPr/>
          <p:nvPr/>
        </p:nvSpPr>
        <p:spPr>
          <a:xfrm>
            <a:off x="548640" y="1527048"/>
            <a:ext cx="3337560" cy="210312"/>
          </a:xfrm>
          <a:prstGeom prst="rect">
            <a:avLst/>
          </a:prstGeom>
          <a:solidFill>
            <a:srgbClr val="1E2761"/>
          </a:solidFill>
          <a:ln/>
        </p:spPr>
      </p:sp>
      <p:sp>
        <p:nvSpPr>
          <p:cNvPr id="7" name="Text 5"/>
          <p:cNvSpPr/>
          <p:nvPr/>
        </p:nvSpPr>
        <p:spPr>
          <a:xfrm>
            <a:off x="685800" y="1325880"/>
            <a:ext cx="306324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UML Object Model &amp; Modules</a:t>
            </a:r>
            <a:endParaRPr lang="en-US" sz="1150" dirty="0"/>
          </a:p>
        </p:txBody>
      </p:sp>
      <p:sp>
        <p:nvSpPr>
          <p:cNvPr id="8" name="Text 6"/>
          <p:cNvSpPr/>
          <p:nvPr/>
        </p:nvSpPr>
        <p:spPr>
          <a:xfrm>
            <a:off x="685800" y="180136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Domain Entities</a:t>
            </a:r>
            <a:endParaRPr lang="en-US" sz="950" dirty="0"/>
          </a:p>
        </p:txBody>
      </p:sp>
      <p:sp>
        <p:nvSpPr>
          <p:cNvPr id="9" name="Text 7"/>
          <p:cNvSpPr/>
          <p:nvPr/>
        </p:nvSpPr>
        <p:spPr>
          <a:xfrm>
            <a:off x="685800" y="200253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Country, Household, Individual, Welfare</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Encapsulates survey hierarchy, asset lists,</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and per capita living standard indicators.</a:t>
            </a:r>
            <a:endParaRPr lang="en-US" sz="900" dirty="0"/>
          </a:p>
        </p:txBody>
      </p:sp>
      <p:sp>
        <p:nvSpPr>
          <p:cNvPr id="10" name="Shape 8"/>
          <p:cNvSpPr/>
          <p:nvPr/>
        </p:nvSpPr>
        <p:spPr>
          <a:xfrm>
            <a:off x="685800" y="2606040"/>
            <a:ext cx="3063240" cy="0"/>
          </a:xfrm>
          <a:prstGeom prst="line">
            <a:avLst/>
          </a:prstGeom>
          <a:noFill/>
          <a:ln w="6350">
            <a:solidFill>
              <a:srgbClr val="E4E8F0"/>
            </a:solidFill>
            <a:prstDash val="solid"/>
          </a:ln>
        </p:spPr>
      </p:sp>
      <p:sp>
        <p:nvSpPr>
          <p:cNvPr id="11" name="Text 9"/>
          <p:cNvSpPr/>
          <p:nvPr/>
        </p:nvSpPr>
        <p:spPr>
          <a:xfrm>
            <a:off x="685800" y="267004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Ingestion &amp; Validation</a:t>
            </a:r>
            <a:endParaRPr lang="en-US" sz="950" dirty="0"/>
          </a:p>
        </p:txBody>
      </p:sp>
      <p:sp>
        <p:nvSpPr>
          <p:cNvPr id="12" name="Text 10"/>
          <p:cNvSpPr/>
          <p:nvPr/>
        </p:nvSpPr>
        <p:spPr>
          <a:xfrm>
            <a:off x="685800" y="287121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DataLoader : loadCountryData(), parseCSV()</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DataValidator : validate(), checkIntegrity()</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Enforces Pandera DataFrameSchema contracts.</a:t>
            </a:r>
            <a:endParaRPr lang="en-US" sz="900" dirty="0"/>
          </a:p>
        </p:txBody>
      </p:sp>
      <p:sp>
        <p:nvSpPr>
          <p:cNvPr id="13" name="Shape 11"/>
          <p:cNvSpPr/>
          <p:nvPr/>
        </p:nvSpPr>
        <p:spPr>
          <a:xfrm>
            <a:off x="685800" y="3474720"/>
            <a:ext cx="3063240" cy="0"/>
          </a:xfrm>
          <a:prstGeom prst="line">
            <a:avLst/>
          </a:prstGeom>
          <a:noFill/>
          <a:ln w="6350">
            <a:solidFill>
              <a:srgbClr val="E4E8F0"/>
            </a:solidFill>
            <a:prstDash val="solid"/>
          </a:ln>
        </p:spPr>
      </p:sp>
      <p:sp>
        <p:nvSpPr>
          <p:cNvPr id="14" name="Text 12"/>
          <p:cNvSpPr/>
          <p:nvPr/>
        </p:nvSpPr>
        <p:spPr>
          <a:xfrm>
            <a:off x="685800" y="353872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Transformation Pipeline</a:t>
            </a:r>
            <a:endParaRPr lang="en-US" sz="950" dirty="0"/>
          </a:p>
        </p:txBody>
      </p:sp>
      <p:sp>
        <p:nvSpPr>
          <p:cNvPr id="15" name="Text 13"/>
          <p:cNvSpPr/>
          <p:nvPr/>
        </p:nvSpPr>
        <p:spPr>
          <a:xfrm>
            <a:off x="685800" y="373989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DataPreprocessor : handleMissingValues(),</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aggregateHouseholdData(), createFeatures()</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Guarantees 0% missingness &amp; zero leakage.</a:t>
            </a:r>
            <a:endParaRPr lang="en-US" sz="900" dirty="0"/>
          </a:p>
        </p:txBody>
      </p:sp>
      <p:sp>
        <p:nvSpPr>
          <p:cNvPr id="16" name="Shape 14"/>
          <p:cNvSpPr/>
          <p:nvPr/>
        </p:nvSpPr>
        <p:spPr>
          <a:xfrm>
            <a:off x="685800" y="4343400"/>
            <a:ext cx="3063240" cy="0"/>
          </a:xfrm>
          <a:prstGeom prst="line">
            <a:avLst/>
          </a:prstGeom>
          <a:noFill/>
          <a:ln w="6350">
            <a:solidFill>
              <a:srgbClr val="E4E8F0"/>
            </a:solidFill>
            <a:prstDash val="solid"/>
          </a:ln>
        </p:spPr>
      </p:sp>
      <p:sp>
        <p:nvSpPr>
          <p:cNvPr id="17" name="Text 15"/>
          <p:cNvSpPr/>
          <p:nvPr/>
        </p:nvSpPr>
        <p:spPr>
          <a:xfrm>
            <a:off x="685800" y="440740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Modeling &amp; Explanation</a:t>
            </a:r>
            <a:endParaRPr lang="en-US" sz="950" dirty="0"/>
          </a:p>
        </p:txBody>
      </p:sp>
      <p:sp>
        <p:nvSpPr>
          <p:cNvPr id="18" name="Text 16"/>
          <p:cNvSpPr/>
          <p:nvPr/>
        </p:nvSpPr>
        <p:spPr>
          <a:xfrm>
            <a:off x="685800" y="460857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ModelTrainer : train(), crossValidate()</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TrainedModel : predict(), explain()</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Explainer : generateGlobal/LocalExplanation()</a:t>
            </a:r>
            <a:endParaRPr lang="en-US" sz="900" dirty="0"/>
          </a:p>
        </p:txBody>
      </p:sp>
      <p:sp>
        <p:nvSpPr>
          <p:cNvPr id="19" name="Shape 17"/>
          <p:cNvSpPr/>
          <p:nvPr/>
        </p:nvSpPr>
        <p:spPr>
          <a:xfrm>
            <a:off x="685800" y="5212080"/>
            <a:ext cx="3063240" cy="0"/>
          </a:xfrm>
          <a:prstGeom prst="line">
            <a:avLst/>
          </a:prstGeom>
          <a:noFill/>
          <a:ln w="6350">
            <a:solidFill>
              <a:srgbClr val="E4E8F0"/>
            </a:solidFill>
            <a:prstDash val="solid"/>
          </a:ln>
        </p:spPr>
      </p:sp>
      <p:sp>
        <p:nvSpPr>
          <p:cNvPr id="20" name="Text 18"/>
          <p:cNvSpPr/>
          <p:nvPr/>
        </p:nvSpPr>
        <p:spPr>
          <a:xfrm>
            <a:off x="685800" y="5276088"/>
            <a:ext cx="3063240" cy="201168"/>
          </a:xfrm>
          <a:prstGeom prst="rect">
            <a:avLst/>
          </a:prstGeom>
          <a:noFill/>
          <a:ln/>
        </p:spPr>
        <p:txBody>
          <a:bodyPr wrap="square" rtlCol="0" anchor="ctr"/>
          <a:lstStyle/>
          <a:p>
            <a:pPr marL="0" indent="0">
              <a:buNone/>
            </a:pPr>
            <a:r>
              <a:rPr lang="en-US" sz="950" b="1" dirty="0">
                <a:solidFill>
                  <a:srgbClr val="1E2761"/>
                </a:solidFill>
                <a:latin typeface="Calibri" pitchFamily="34" charset="0"/>
                <a:ea typeface="Calibri" pitchFamily="34" charset="-122"/>
                <a:cs typeface="Calibri" pitchFamily="34" charset="-120"/>
              </a:rPr>
              <a:t>Policy &amp; Evaluation</a:t>
            </a:r>
            <a:endParaRPr lang="en-US" sz="950" dirty="0"/>
          </a:p>
        </p:txBody>
      </p:sp>
      <p:sp>
        <p:nvSpPr>
          <p:cNvPr id="21" name="Text 19"/>
          <p:cNvSpPr/>
          <p:nvPr/>
        </p:nvSpPr>
        <p:spPr>
          <a:xfrm>
            <a:off x="685800" y="5477256"/>
            <a:ext cx="3063240" cy="594360"/>
          </a:xfrm>
          <a:prstGeom prst="rect">
            <a:avLst/>
          </a:prstGeom>
          <a:noFill/>
          <a:ln/>
        </p:spPr>
        <p:txBody>
          <a:bodyPr wrap="square" rtlCol="0" anchor="t"/>
          <a:lstStyle/>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Evaluator : evaluate(), leaveOneCountryOut()</a:t>
            </a:r>
            <a:endParaRPr lang="en-US" sz="900" dirty="0"/>
          </a:p>
          <a:p>
            <a:pPr marL="0" indent="0">
              <a:lnSpc>
                <a:spcPct val="105000"/>
              </a:lnSpc>
              <a:buNone/>
            </a:pPr>
            <a:r>
              <a:rPr lang="en-US" sz="900" dirty="0">
                <a:solidFill>
                  <a:srgbClr val="1A2140"/>
                </a:solidFill>
                <a:latin typeface="Calibri" pitchFamily="34" charset="0"/>
                <a:ea typeface="Calibri" pitchFamily="34" charset="-122"/>
                <a:cs typeface="Calibri" pitchFamily="34" charset="-120"/>
              </a:rPr>
              <a:t>PolicyRecommender : optimizeThreshold()</a:t>
            </a:r>
            <a:endParaRPr lang="en-US" sz="900" dirty="0"/>
          </a:p>
        </p:txBody>
      </p:sp>
      <p:sp>
        <p:nvSpPr>
          <p:cNvPr id="22" name="Shape 20"/>
          <p:cNvSpPr/>
          <p:nvPr/>
        </p:nvSpPr>
        <p:spPr>
          <a:xfrm>
            <a:off x="4114800" y="1325880"/>
            <a:ext cx="7528255" cy="4937760"/>
          </a:xfrm>
          <a:prstGeom prst="roundRect">
            <a:avLst>
              <a:gd name="adj" fmla="val 1481"/>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pic>
        <p:nvPicPr>
          <p:cNvPr id="23" name="Image 0" descr="C:\Users\bhima\OneDrive\Desktop\CAPSTONE\images\diagram_uml_class.jpg"/>
          <p:cNvPicPr>
            <a:picLocks noChangeAspect="1"/>
          </p:cNvPicPr>
          <p:nvPr/>
        </p:nvPicPr>
        <p:blipFill>
          <a:blip r:embed="rId3"/>
          <a:stretch>
            <a:fillRect/>
          </a:stretch>
        </p:blipFill>
        <p:spPr>
          <a:xfrm>
            <a:off x="4221328" y="1357884"/>
            <a:ext cx="7315200" cy="4873752"/>
          </a:xfrm>
          <a:prstGeom prst="rect">
            <a:avLst/>
          </a:prstGeom>
        </p:spPr>
      </p:pic>
      <p:sp>
        <p:nvSpPr>
          <p:cNvPr id="24" name="Text 21"/>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21</a:t>
            </a:r>
            <a:endParaRPr lang="en-US" sz="950" dirty="0"/>
          </a:p>
        </p:txBody>
      </p:sp>
      <p:sp>
        <p:nvSpPr>
          <p:cNvPr id="25" name="Text 22"/>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SYSTEM DESIGN · RUBRIC CRITERION 2</a:t>
            </a:r>
            <a:endParaRPr lang="en-US" sz="1100" dirty="0"/>
          </a:p>
        </p:txBody>
      </p:sp>
      <p:sp>
        <p:nvSpPr>
          <p:cNvPr id="3" name="Text 1"/>
          <p:cNvSpPr/>
          <p:nvPr/>
        </p:nvSpPr>
        <p:spPr>
          <a:xfrm>
            <a:off x="548640" y="458839"/>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UML Behavioral &amp; Structural Architecture: Sequence, Activity &amp; Component Models</a:t>
            </a:r>
            <a:endParaRPr lang="en-US" sz="2500" dirty="0"/>
          </a:p>
        </p:txBody>
      </p:sp>
      <p:sp>
        <p:nvSpPr>
          <p:cNvPr id="4" name="Shape 2"/>
          <p:cNvSpPr/>
          <p:nvPr/>
        </p:nvSpPr>
        <p:spPr>
          <a:xfrm>
            <a:off x="548640" y="1325880"/>
            <a:ext cx="4206240" cy="4937760"/>
          </a:xfrm>
          <a:prstGeom prst="roundRect">
            <a:avLst>
              <a:gd name="adj" fmla="val 1739"/>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sp>
        <p:nvSpPr>
          <p:cNvPr id="5" name="Shape 3"/>
          <p:cNvSpPr/>
          <p:nvPr/>
        </p:nvSpPr>
        <p:spPr>
          <a:xfrm>
            <a:off x="548640" y="1325880"/>
            <a:ext cx="4206240" cy="384048"/>
          </a:xfrm>
          <a:prstGeom prst="roundRect">
            <a:avLst>
              <a:gd name="adj" fmla="val 19048"/>
            </a:avLst>
          </a:prstGeom>
          <a:solidFill>
            <a:srgbClr val="1E2761"/>
          </a:solidFill>
          <a:ln/>
        </p:spPr>
      </p:sp>
      <p:sp>
        <p:nvSpPr>
          <p:cNvPr id="6" name="Shape 4"/>
          <p:cNvSpPr/>
          <p:nvPr/>
        </p:nvSpPr>
        <p:spPr>
          <a:xfrm>
            <a:off x="548640" y="1517904"/>
            <a:ext cx="4206240" cy="192024"/>
          </a:xfrm>
          <a:prstGeom prst="rect">
            <a:avLst/>
          </a:prstGeom>
          <a:solidFill>
            <a:srgbClr val="1E2761"/>
          </a:solidFill>
          <a:ln/>
        </p:spPr>
      </p:sp>
      <p:sp>
        <p:nvSpPr>
          <p:cNvPr id="7" name="Text 5"/>
          <p:cNvSpPr/>
          <p:nvPr/>
        </p:nvSpPr>
        <p:spPr>
          <a:xfrm>
            <a:off x="685800" y="1325880"/>
            <a:ext cx="393192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UML Sequence: Execution Flow</a:t>
            </a:r>
            <a:endParaRPr lang="en-US" sz="1100" dirty="0"/>
          </a:p>
        </p:txBody>
      </p:sp>
      <p:pic>
        <p:nvPicPr>
          <p:cNvPr id="8" name="Image 0" descr="C:\Users\bhima\OneDrive\Desktop\CAPSTONE\images\diagram_uml_sequence.png"/>
          <p:cNvPicPr>
            <a:picLocks noChangeAspect="1"/>
          </p:cNvPicPr>
          <p:nvPr/>
        </p:nvPicPr>
        <p:blipFill>
          <a:blip r:embed="rId3"/>
          <a:stretch>
            <a:fillRect/>
          </a:stretch>
        </p:blipFill>
        <p:spPr>
          <a:xfrm>
            <a:off x="685800" y="1783080"/>
            <a:ext cx="3931920" cy="2999232"/>
          </a:xfrm>
          <a:prstGeom prst="rect">
            <a:avLst/>
          </a:prstGeom>
        </p:spPr>
      </p:pic>
      <p:sp>
        <p:nvSpPr>
          <p:cNvPr id="9" name="Text 6"/>
          <p:cNvSpPr/>
          <p:nvPr/>
        </p:nvSpPr>
        <p:spPr>
          <a:xfrm>
            <a:off x="731520" y="4873752"/>
            <a:ext cx="3840480" cy="1234440"/>
          </a:xfrm>
          <a:prstGeom prst="rect">
            <a:avLst/>
          </a:prstGeom>
          <a:noFill/>
          <a:ln/>
        </p:spPr>
        <p:txBody>
          <a:bodyPr wrap="square" rtlCol="0" anchor="t"/>
          <a:lstStyle/>
          <a:p>
            <a:pPr marL="0" indent="0">
              <a:lnSpc>
                <a:spcPct val="108000"/>
              </a:lnSpc>
              <a:buNone/>
            </a:pPr>
            <a:r>
              <a:rPr lang="en-US" sz="900" dirty="0">
                <a:solidFill>
                  <a:srgbClr val="1A2140"/>
                </a:solidFill>
                <a:latin typeface="Calibri" pitchFamily="34" charset="0"/>
                <a:ea typeface="Calibri" pitchFamily="34" charset="-122"/>
                <a:cs typeface="Calibri" pitchFamily="34" charset="-120"/>
              </a:rPr>
              <a:t>End-to-End LOCO Sequence: User initiates → DataLoader extracts → DataProcessor merges → ModelTrainer fits → Explainer computes SHAP → PolicyEngine calibrates loss.</a:t>
            </a:r>
            <a:endParaRPr lang="en-US" sz="900" dirty="0"/>
          </a:p>
        </p:txBody>
      </p:sp>
      <p:sp>
        <p:nvSpPr>
          <p:cNvPr id="10" name="Shape 7"/>
          <p:cNvSpPr/>
          <p:nvPr/>
        </p:nvSpPr>
        <p:spPr>
          <a:xfrm>
            <a:off x="4974336" y="1325880"/>
            <a:ext cx="3017520" cy="4937760"/>
          </a:xfrm>
          <a:prstGeom prst="roundRect">
            <a:avLst>
              <a:gd name="adj" fmla="val 2424"/>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sp>
        <p:nvSpPr>
          <p:cNvPr id="11" name="Shape 8"/>
          <p:cNvSpPr/>
          <p:nvPr/>
        </p:nvSpPr>
        <p:spPr>
          <a:xfrm>
            <a:off x="4974336" y="1325880"/>
            <a:ext cx="3017520" cy="384048"/>
          </a:xfrm>
          <a:prstGeom prst="roundRect">
            <a:avLst>
              <a:gd name="adj" fmla="val 19048"/>
            </a:avLst>
          </a:prstGeom>
          <a:solidFill>
            <a:srgbClr val="1E2761"/>
          </a:solidFill>
          <a:ln/>
        </p:spPr>
      </p:sp>
      <p:sp>
        <p:nvSpPr>
          <p:cNvPr id="12" name="Shape 9"/>
          <p:cNvSpPr/>
          <p:nvPr/>
        </p:nvSpPr>
        <p:spPr>
          <a:xfrm>
            <a:off x="4974336" y="1517904"/>
            <a:ext cx="3017520" cy="192024"/>
          </a:xfrm>
          <a:prstGeom prst="rect">
            <a:avLst/>
          </a:prstGeom>
          <a:solidFill>
            <a:srgbClr val="1E2761"/>
          </a:solidFill>
          <a:ln/>
        </p:spPr>
      </p:sp>
      <p:sp>
        <p:nvSpPr>
          <p:cNvPr id="13" name="Text 10"/>
          <p:cNvSpPr/>
          <p:nvPr/>
        </p:nvSpPr>
        <p:spPr>
          <a:xfrm>
            <a:off x="5111496" y="1325880"/>
            <a:ext cx="27432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 UML Activity: Assurance Flow</a:t>
            </a:r>
            <a:endParaRPr lang="en-US" sz="1100" dirty="0"/>
          </a:p>
        </p:txBody>
      </p:sp>
      <p:pic>
        <p:nvPicPr>
          <p:cNvPr id="14" name="Image 1" descr="C:\Users\bhima\OneDrive\Desktop\CAPSTONE\images\diagram_uml_activity.png"/>
          <p:cNvPicPr>
            <a:picLocks noChangeAspect="1"/>
          </p:cNvPicPr>
          <p:nvPr/>
        </p:nvPicPr>
        <p:blipFill>
          <a:blip r:embed="rId4"/>
          <a:stretch>
            <a:fillRect/>
          </a:stretch>
        </p:blipFill>
        <p:spPr>
          <a:xfrm>
            <a:off x="5157216" y="1783080"/>
            <a:ext cx="2651760" cy="3154680"/>
          </a:xfrm>
          <a:prstGeom prst="rect">
            <a:avLst/>
          </a:prstGeom>
        </p:spPr>
      </p:pic>
      <p:sp>
        <p:nvSpPr>
          <p:cNvPr id="15" name="Text 11"/>
          <p:cNvSpPr/>
          <p:nvPr/>
        </p:nvSpPr>
        <p:spPr>
          <a:xfrm>
            <a:off x="5111496" y="5029200"/>
            <a:ext cx="2743200" cy="1097280"/>
          </a:xfrm>
          <a:prstGeom prst="rect">
            <a:avLst/>
          </a:prstGeom>
          <a:noFill/>
          <a:ln/>
        </p:spPr>
        <p:txBody>
          <a:bodyPr wrap="square" rtlCol="0" anchor="t"/>
          <a:lstStyle/>
          <a:p>
            <a:pPr marL="0" indent="0">
              <a:lnSpc>
                <a:spcPct val="108000"/>
              </a:lnSpc>
              <a:buNone/>
            </a:pPr>
            <a:r>
              <a:rPr lang="en-US" sz="900" dirty="0">
                <a:solidFill>
                  <a:srgbClr val="1A2140"/>
                </a:solidFill>
                <a:latin typeface="Calibri" pitchFamily="34" charset="0"/>
                <a:ea typeface="Calibri" pitchFamily="34" charset="-122"/>
                <a:cs typeface="Calibri" pitchFamily="34" charset="-120"/>
              </a:rPr>
              <a:t>Validation Gate: Pandera schema checks halt execution upon invalid types. Successful runs proceed through LOCO, EBM splines, and AC-1..4 &amp; NT-1..5.</a:t>
            </a:r>
            <a:endParaRPr lang="en-US" sz="900" dirty="0"/>
          </a:p>
        </p:txBody>
      </p:sp>
      <p:sp>
        <p:nvSpPr>
          <p:cNvPr id="16" name="Shape 12"/>
          <p:cNvSpPr/>
          <p:nvPr/>
        </p:nvSpPr>
        <p:spPr>
          <a:xfrm>
            <a:off x="8211312" y="1325880"/>
            <a:ext cx="3429000" cy="4937760"/>
          </a:xfrm>
          <a:prstGeom prst="roundRect">
            <a:avLst>
              <a:gd name="adj" fmla="val 2133"/>
            </a:avLst>
          </a:prstGeom>
          <a:solidFill>
            <a:srgbClr val="FFFFFF"/>
          </a:solidFill>
          <a:ln w="12700">
            <a:solidFill>
              <a:srgbClr val="E4E8F0"/>
            </a:solidFill>
            <a:prstDash val="solid"/>
          </a:ln>
          <a:effectLst>
            <a:outerShdw blurRad="76200" dist="25400" dir="5400000" algn="bl" rotWithShape="0">
              <a:srgbClr val="8A8FA3">
                <a:alpha val="25000"/>
              </a:srgbClr>
            </a:outerShdw>
          </a:effectLst>
        </p:spPr>
      </p:sp>
      <p:sp>
        <p:nvSpPr>
          <p:cNvPr id="17" name="Shape 13"/>
          <p:cNvSpPr/>
          <p:nvPr/>
        </p:nvSpPr>
        <p:spPr>
          <a:xfrm>
            <a:off x="8211312" y="1325880"/>
            <a:ext cx="3429000" cy="384048"/>
          </a:xfrm>
          <a:prstGeom prst="roundRect">
            <a:avLst>
              <a:gd name="adj" fmla="val 19048"/>
            </a:avLst>
          </a:prstGeom>
          <a:solidFill>
            <a:srgbClr val="1E2761"/>
          </a:solidFill>
          <a:ln/>
        </p:spPr>
      </p:sp>
      <p:sp>
        <p:nvSpPr>
          <p:cNvPr id="18" name="Shape 14"/>
          <p:cNvSpPr/>
          <p:nvPr/>
        </p:nvSpPr>
        <p:spPr>
          <a:xfrm>
            <a:off x="8211312" y="1517904"/>
            <a:ext cx="3429000" cy="192024"/>
          </a:xfrm>
          <a:prstGeom prst="rect">
            <a:avLst/>
          </a:prstGeom>
          <a:solidFill>
            <a:srgbClr val="1E2761"/>
          </a:solidFill>
          <a:ln/>
        </p:spPr>
      </p:sp>
      <p:sp>
        <p:nvSpPr>
          <p:cNvPr id="19" name="Text 15"/>
          <p:cNvSpPr/>
          <p:nvPr/>
        </p:nvSpPr>
        <p:spPr>
          <a:xfrm>
            <a:off x="8348472" y="1325880"/>
            <a:ext cx="315468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UML Component: Subsystems</a:t>
            </a:r>
            <a:endParaRPr lang="en-US" sz="1100" dirty="0"/>
          </a:p>
        </p:txBody>
      </p:sp>
      <p:pic>
        <p:nvPicPr>
          <p:cNvPr id="20" name="Image 2" descr="C:\Users\bhima\OneDrive\Desktop\CAPSTONE\images\diagram_uml_component.png"/>
          <p:cNvPicPr>
            <a:picLocks noChangeAspect="1"/>
          </p:cNvPicPr>
          <p:nvPr/>
        </p:nvPicPr>
        <p:blipFill>
          <a:blip r:embed="rId5"/>
          <a:stretch>
            <a:fillRect/>
          </a:stretch>
        </p:blipFill>
        <p:spPr>
          <a:xfrm>
            <a:off x="8417052" y="1783080"/>
            <a:ext cx="3017520" cy="3145536"/>
          </a:xfrm>
          <a:prstGeom prst="rect">
            <a:avLst/>
          </a:prstGeom>
        </p:spPr>
      </p:pic>
      <p:sp>
        <p:nvSpPr>
          <p:cNvPr id="21" name="Text 16"/>
          <p:cNvSpPr/>
          <p:nvPr/>
        </p:nvSpPr>
        <p:spPr>
          <a:xfrm>
            <a:off x="8348472" y="5029200"/>
            <a:ext cx="3154680" cy="1097280"/>
          </a:xfrm>
          <a:prstGeom prst="rect">
            <a:avLst/>
          </a:prstGeom>
          <a:noFill/>
          <a:ln/>
        </p:spPr>
        <p:txBody>
          <a:bodyPr wrap="square" rtlCol="0" anchor="t"/>
          <a:lstStyle/>
          <a:p>
            <a:pPr marL="0" indent="0">
              <a:lnSpc>
                <a:spcPct val="108000"/>
              </a:lnSpc>
              <a:buNone/>
            </a:pPr>
            <a:r>
              <a:rPr lang="en-US" sz="900" dirty="0">
                <a:solidFill>
                  <a:srgbClr val="1A2140"/>
                </a:solidFill>
                <a:latin typeface="Calibri" pitchFamily="34" charset="0"/>
                <a:ea typeface="Calibri" pitchFamily="34" charset="-122"/>
                <a:cs typeface="Calibri" pitchFamily="34" charset="-120"/>
              </a:rPr>
              <a:t>Modular Subsystem Decomposition: Streamlit UI binds to decoupled Application, Storage (Parquet/DB), External Libraries (Pandera, EBM, SHAP), and Output Layers.</a:t>
            </a:r>
            <a:endParaRPr lang="en-US" sz="900" dirty="0"/>
          </a:p>
        </p:txBody>
      </p:sp>
      <p:sp>
        <p:nvSpPr>
          <p:cNvPr id="22" name="Text 17"/>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22</a:t>
            </a:r>
            <a:endParaRPr lang="en-US" sz="950" dirty="0"/>
          </a:p>
        </p:txBody>
      </p:sp>
      <p:sp>
        <p:nvSpPr>
          <p:cNvPr id="23" name="Text 18"/>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EVALUATION RUBRIC CRITERION 2</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Justification of Key Architectural &amp; Design Decisions</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4415" cy="4370832"/>
        </p:xfrm>
        <a:graphic>
          <a:graphicData uri="http://schemas.openxmlformats.org/drawingml/2006/table">
            <a:tbl>
              <a:tblPr/>
              <a:tblGrid>
                <a:gridCol w="457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425135">
                  <a:extLst>
                    <a:ext uri="{9D8B030D-6E8A-4147-A177-3AD203B41FA5}">
                      <a16:colId xmlns:a16="http://schemas.microsoft.com/office/drawing/2014/main" val="20003"/>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Architectural Decision</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Discarded Alternative</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Engineering &amp; Policy Justification</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3-Tier Relational Ingestion &amp; Aggregation</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Monolithic flat CSV join</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Preserves raw provenance; prevents Cartesian member multiplication; enables tailored aggregation (mean for age, max for assets).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Declarative Pandera Schema Contracts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Ad-hoc runtime asserts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Formally enforces type coercion, non-null guarantees, and valid value bounds across 24 files with zero silent failures.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Localized Median/Mode Imputation</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Complex MICE / KNN imputation</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Eliminates cross-country spatial data leakage; guarantees 0.0% missingness while maintaining sub-minute compute budget.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Strict Target Source Leakage Purge</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Retaining expenditure sub-totals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pcexp &amp; zref mathematically construct target; retaining them causes 100% artificial accuracy without learning poverty proxies.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Leave-One-Country-Out (LOCO) Protocol</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Random pooled 5-fold cross-val</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Random splits mix national distributions, masking spatial transfer defect; LOCO rigorously simulates real cross-border deployment.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Explainable Boosting Machines (EBM)</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Pure black-box neural nets / XGB</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Delivers exact glass-box additive shape curves required for legal due process while outperforming Random Forest (+0.8pp macro accuracy).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Asymmetric Social Welfare Loss (C_ex:C_inc)</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Symmetric accuracy (tau = 0.50)</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Symmetric threshold causes 38.6% exclusion of starving families; calibrating tau* = 0.35 (3:1 ratio) reduces exclusion error to 24.1%.</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ctr">
                        <a:buNone/>
                      </a:pPr>
                      <a:r>
                        <a:rPr lang="en-US" sz="950" b="1" dirty="0">
                          <a:solidFill>
                            <a:srgbClr val="1E2761"/>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A2140"/>
                          </a:solidFill>
                          <a:latin typeface="Calibri" pitchFamily="34" charset="0"/>
                          <a:ea typeface="Calibri" pitchFamily="34" charset="-122"/>
                          <a:cs typeface="Calibri" pitchFamily="34" charset="-120"/>
                        </a:rPr>
                        <a:t>AC-1..4 &amp; NT-1..5 Safety Guardrails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Standard happy-path unit tests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Adversarially detects single-country overfitting, enforces transparency gates, verifies bitwise replay, and catches partition defects.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23</a:t>
            </a:r>
            <a:endParaRPr lang="en-US" sz="950" dirty="0"/>
          </a:p>
        </p:txBody>
      </p:sp>
      <p:sp>
        <p:nvSpPr>
          <p:cNvPr id="6" name="Text 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IMPLEMENTATION DETAILS</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Verified Codebase Architecture &amp; Technology Stack</a:t>
            </a:r>
            <a:endParaRPr lang="en-US" sz="2500" dirty="0"/>
          </a:p>
        </p:txBody>
      </p:sp>
      <p:sp>
        <p:nvSpPr>
          <p:cNvPr id="4" name="Shape 2"/>
          <p:cNvSpPr/>
          <p:nvPr/>
        </p:nvSpPr>
        <p:spPr>
          <a:xfrm>
            <a:off x="548640" y="1353312"/>
            <a:ext cx="5349240" cy="3977640"/>
          </a:xfrm>
          <a:prstGeom prst="roundRect">
            <a:avLst>
              <a:gd name="adj" fmla="val 1839"/>
            </a:avLst>
          </a:prstGeom>
          <a:solidFill>
            <a:srgbClr val="FFFFFF"/>
          </a:solidFill>
          <a:ln w="12700">
            <a:solidFill>
              <a:srgbClr val="E4E8F0"/>
            </a:solidFill>
            <a:prstDash val="solid"/>
          </a:ln>
        </p:spPr>
      </p:sp>
      <p:sp>
        <p:nvSpPr>
          <p:cNvPr id="5" name="Shape 3"/>
          <p:cNvSpPr/>
          <p:nvPr/>
        </p:nvSpPr>
        <p:spPr>
          <a:xfrm>
            <a:off x="548640" y="1353312"/>
            <a:ext cx="5349240" cy="438912"/>
          </a:xfrm>
          <a:prstGeom prst="roundRect">
            <a:avLst>
              <a:gd name="adj" fmla="val 16667"/>
            </a:avLst>
          </a:prstGeom>
          <a:solidFill>
            <a:srgbClr val="1E2761"/>
          </a:solidFill>
          <a:ln/>
        </p:spPr>
      </p:sp>
      <p:sp>
        <p:nvSpPr>
          <p:cNvPr id="6" name="Shape 4"/>
          <p:cNvSpPr/>
          <p:nvPr/>
        </p:nvSpPr>
        <p:spPr>
          <a:xfrm>
            <a:off x="548640" y="1572768"/>
            <a:ext cx="5349240" cy="219456"/>
          </a:xfrm>
          <a:prstGeom prst="rect">
            <a:avLst/>
          </a:prstGeom>
          <a:solidFill>
            <a:srgbClr val="1E2761"/>
          </a:solidFill>
          <a:ln/>
        </p:spPr>
      </p:sp>
      <p:sp>
        <p:nvSpPr>
          <p:cNvPr id="7" name="Text 5"/>
          <p:cNvSpPr/>
          <p:nvPr/>
        </p:nvSpPr>
        <p:spPr>
          <a:xfrm>
            <a:off x="731520" y="1353312"/>
            <a:ext cx="498348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O1 Production Pipeline Modules (Complete &amp; Verified)</a:t>
            </a:r>
            <a:endParaRPr lang="en-US" sz="1200" dirty="0"/>
          </a:p>
        </p:txBody>
      </p:sp>
      <p:sp>
        <p:nvSpPr>
          <p:cNvPr id="8" name="Text 6"/>
          <p:cNvSpPr/>
          <p:nvPr/>
        </p:nvSpPr>
        <p:spPr>
          <a:xfrm>
            <a:off x="731520" y="188366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src/config.py</a:t>
            </a:r>
            <a:endParaRPr lang="en-US" sz="950" dirty="0"/>
          </a:p>
        </p:txBody>
      </p:sp>
      <p:sp>
        <p:nvSpPr>
          <p:cNvPr id="9" name="Text 7"/>
          <p:cNvSpPr/>
          <p:nvPr/>
        </p:nvSpPr>
        <p:spPr>
          <a:xfrm>
            <a:off x="2651760" y="188366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Country registry, metadata, absolute paths, 7 feature group schemas</a:t>
            </a:r>
            <a:endParaRPr lang="en-US" sz="1000" dirty="0"/>
          </a:p>
        </p:txBody>
      </p:sp>
      <p:sp>
        <p:nvSpPr>
          <p:cNvPr id="10" name="Shape 8"/>
          <p:cNvSpPr/>
          <p:nvPr/>
        </p:nvSpPr>
        <p:spPr>
          <a:xfrm>
            <a:off x="731520" y="2340864"/>
            <a:ext cx="4983480" cy="0"/>
          </a:xfrm>
          <a:prstGeom prst="line">
            <a:avLst/>
          </a:prstGeom>
          <a:noFill/>
          <a:ln w="6350">
            <a:solidFill>
              <a:srgbClr val="E4E8F0"/>
            </a:solidFill>
            <a:prstDash val="solid"/>
          </a:ln>
        </p:spPr>
      </p:sp>
      <p:sp>
        <p:nvSpPr>
          <p:cNvPr id="11" name="Text 9"/>
          <p:cNvSpPr/>
          <p:nvPr/>
        </p:nvSpPr>
        <p:spPr>
          <a:xfrm>
            <a:off x="731520" y="243230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src/ingest.py</a:t>
            </a:r>
            <a:endParaRPr lang="en-US" sz="950" dirty="0"/>
          </a:p>
        </p:txBody>
      </p:sp>
      <p:sp>
        <p:nvSpPr>
          <p:cNvPr id="12" name="Text 10"/>
          <p:cNvSpPr/>
          <p:nvPr/>
        </p:nvSpPr>
        <p:spPr>
          <a:xfrm>
            <a:off x="2651760" y="243230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CSV ingestion with SHA-256 data lineage tracking (24 files verified)</a:t>
            </a:r>
            <a:endParaRPr lang="en-US" sz="1000" dirty="0"/>
          </a:p>
        </p:txBody>
      </p:sp>
      <p:sp>
        <p:nvSpPr>
          <p:cNvPr id="13" name="Shape 11"/>
          <p:cNvSpPr/>
          <p:nvPr/>
        </p:nvSpPr>
        <p:spPr>
          <a:xfrm>
            <a:off x="731520" y="2889504"/>
            <a:ext cx="4983480" cy="0"/>
          </a:xfrm>
          <a:prstGeom prst="line">
            <a:avLst/>
          </a:prstGeom>
          <a:noFill/>
          <a:ln w="6350">
            <a:solidFill>
              <a:srgbClr val="E4E8F0"/>
            </a:solidFill>
            <a:prstDash val="solid"/>
          </a:ln>
        </p:spPr>
      </p:sp>
      <p:sp>
        <p:nvSpPr>
          <p:cNvPr id="14" name="Text 12"/>
          <p:cNvSpPr/>
          <p:nvPr/>
        </p:nvSpPr>
        <p:spPr>
          <a:xfrm>
            <a:off x="731520" y="298094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src/schemas.py</a:t>
            </a:r>
            <a:endParaRPr lang="en-US" sz="950" dirty="0"/>
          </a:p>
        </p:txBody>
      </p:sp>
      <p:sp>
        <p:nvSpPr>
          <p:cNvPr id="15" name="Text 13"/>
          <p:cNvSpPr/>
          <p:nvPr/>
        </p:nvSpPr>
        <p:spPr>
          <a:xfrm>
            <a:off x="2651760" y="298094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Pandera DataFrameSchemas for menage, welfare, and individu tiers</a:t>
            </a:r>
            <a:endParaRPr lang="en-US" sz="1000" dirty="0"/>
          </a:p>
        </p:txBody>
      </p:sp>
      <p:sp>
        <p:nvSpPr>
          <p:cNvPr id="16" name="Shape 14"/>
          <p:cNvSpPr/>
          <p:nvPr/>
        </p:nvSpPr>
        <p:spPr>
          <a:xfrm>
            <a:off x="731520" y="3438144"/>
            <a:ext cx="4983480" cy="0"/>
          </a:xfrm>
          <a:prstGeom prst="line">
            <a:avLst/>
          </a:prstGeom>
          <a:noFill/>
          <a:ln w="6350">
            <a:solidFill>
              <a:srgbClr val="E4E8F0"/>
            </a:solidFill>
            <a:prstDash val="solid"/>
          </a:ln>
        </p:spPr>
      </p:sp>
      <p:sp>
        <p:nvSpPr>
          <p:cNvPr id="17" name="Text 15"/>
          <p:cNvSpPr/>
          <p:nvPr/>
        </p:nvSpPr>
        <p:spPr>
          <a:xfrm>
            <a:off x="731520" y="352958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src/engineer.py</a:t>
            </a:r>
            <a:endParaRPr lang="en-US" sz="950" dirty="0"/>
          </a:p>
        </p:txBody>
      </p:sp>
      <p:sp>
        <p:nvSpPr>
          <p:cNvPr id="18" name="Text 16"/>
          <p:cNvSpPr/>
          <p:nvPr/>
        </p:nvSpPr>
        <p:spPr>
          <a:xfrm>
            <a:off x="2651760" y="352958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3-table relational merge, individual aggregations, imputation, target</a:t>
            </a:r>
            <a:endParaRPr lang="en-US" sz="1000" dirty="0"/>
          </a:p>
        </p:txBody>
      </p:sp>
      <p:sp>
        <p:nvSpPr>
          <p:cNvPr id="19" name="Shape 17"/>
          <p:cNvSpPr/>
          <p:nvPr/>
        </p:nvSpPr>
        <p:spPr>
          <a:xfrm>
            <a:off x="731520" y="3986784"/>
            <a:ext cx="4983480" cy="0"/>
          </a:xfrm>
          <a:prstGeom prst="line">
            <a:avLst/>
          </a:prstGeom>
          <a:noFill/>
          <a:ln w="6350">
            <a:solidFill>
              <a:srgbClr val="E4E8F0"/>
            </a:solidFill>
            <a:prstDash val="solid"/>
          </a:ln>
        </p:spPr>
      </p:sp>
      <p:sp>
        <p:nvSpPr>
          <p:cNvPr id="20" name="Text 18"/>
          <p:cNvSpPr/>
          <p:nvPr/>
        </p:nvSpPr>
        <p:spPr>
          <a:xfrm>
            <a:off x="731520" y="407822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src/pipeline.py</a:t>
            </a:r>
            <a:endParaRPr lang="en-US" sz="950" dirty="0"/>
          </a:p>
        </p:txBody>
      </p:sp>
      <p:sp>
        <p:nvSpPr>
          <p:cNvPr id="21" name="Text 19"/>
          <p:cNvSpPr/>
          <p:nvPr/>
        </p:nvSpPr>
        <p:spPr>
          <a:xfrm>
            <a:off x="2651760" y="407822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CLI orchestrator (ingest → validate → engineer → export 8 clean CSVs)</a:t>
            </a:r>
            <a:endParaRPr lang="en-US" sz="1000" dirty="0"/>
          </a:p>
        </p:txBody>
      </p:sp>
      <p:sp>
        <p:nvSpPr>
          <p:cNvPr id="22" name="Shape 20"/>
          <p:cNvSpPr/>
          <p:nvPr/>
        </p:nvSpPr>
        <p:spPr>
          <a:xfrm>
            <a:off x="731520" y="4535424"/>
            <a:ext cx="4983480" cy="0"/>
          </a:xfrm>
          <a:prstGeom prst="line">
            <a:avLst/>
          </a:prstGeom>
          <a:noFill/>
          <a:ln w="6350">
            <a:solidFill>
              <a:srgbClr val="E4E8F0"/>
            </a:solidFill>
            <a:prstDash val="solid"/>
          </a:ln>
        </p:spPr>
      </p:sp>
      <p:sp>
        <p:nvSpPr>
          <p:cNvPr id="23" name="Text 21"/>
          <p:cNvSpPr/>
          <p:nvPr/>
        </p:nvSpPr>
        <p:spPr>
          <a:xfrm>
            <a:off x="731520" y="4626864"/>
            <a:ext cx="1920240" cy="411480"/>
          </a:xfrm>
          <a:prstGeom prst="rect">
            <a:avLst/>
          </a:prstGeom>
          <a:noFill/>
          <a:ln/>
        </p:spPr>
        <p:txBody>
          <a:bodyPr wrap="square" rtlCol="0" anchor="t"/>
          <a:lstStyle/>
          <a:p>
            <a:pPr marL="0" indent="0">
              <a:buNone/>
            </a:pPr>
            <a:r>
              <a:rPr lang="en-US" sz="950" b="1" dirty="0">
                <a:solidFill>
                  <a:srgbClr val="1E2761"/>
                </a:solidFill>
                <a:latin typeface="Courier New" pitchFamily="34" charset="0"/>
                <a:ea typeface="Courier New" pitchFamily="34" charset="-122"/>
                <a:cs typeface="Courier New" pitchFamily="34" charset="-120"/>
              </a:rPr>
              <a:t>notebooks/01_eda.py</a:t>
            </a:r>
            <a:endParaRPr lang="en-US" sz="950" dirty="0"/>
          </a:p>
        </p:txBody>
      </p:sp>
      <p:sp>
        <p:nvSpPr>
          <p:cNvPr id="24" name="Text 22"/>
          <p:cNvSpPr/>
          <p:nvPr/>
        </p:nvSpPr>
        <p:spPr>
          <a:xfrm>
            <a:off x="2651760" y="462686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Automated exploratory data analysis generating 6 plots + 2 summary tables</a:t>
            </a:r>
            <a:endParaRPr lang="en-US" sz="1000" dirty="0"/>
          </a:p>
        </p:txBody>
      </p:sp>
      <p:sp>
        <p:nvSpPr>
          <p:cNvPr id="25" name="Shape 23"/>
          <p:cNvSpPr/>
          <p:nvPr/>
        </p:nvSpPr>
        <p:spPr>
          <a:xfrm>
            <a:off x="6172200" y="1353312"/>
            <a:ext cx="5349240" cy="3977640"/>
          </a:xfrm>
          <a:prstGeom prst="roundRect">
            <a:avLst>
              <a:gd name="adj" fmla="val 1839"/>
            </a:avLst>
          </a:prstGeom>
          <a:solidFill>
            <a:srgbClr val="FFFFFF"/>
          </a:solidFill>
          <a:ln w="12700">
            <a:solidFill>
              <a:srgbClr val="E4E8F0"/>
            </a:solidFill>
            <a:prstDash val="solid"/>
          </a:ln>
        </p:spPr>
      </p:sp>
      <p:sp>
        <p:nvSpPr>
          <p:cNvPr id="26" name="Shape 24"/>
          <p:cNvSpPr/>
          <p:nvPr/>
        </p:nvSpPr>
        <p:spPr>
          <a:xfrm>
            <a:off x="6172200" y="1353312"/>
            <a:ext cx="5349240" cy="438912"/>
          </a:xfrm>
          <a:prstGeom prst="roundRect">
            <a:avLst>
              <a:gd name="adj" fmla="val 16667"/>
            </a:avLst>
          </a:prstGeom>
          <a:solidFill>
            <a:srgbClr val="1E2761"/>
          </a:solidFill>
          <a:ln/>
        </p:spPr>
      </p:sp>
      <p:sp>
        <p:nvSpPr>
          <p:cNvPr id="27" name="Shape 25"/>
          <p:cNvSpPr/>
          <p:nvPr/>
        </p:nvSpPr>
        <p:spPr>
          <a:xfrm>
            <a:off x="6172200" y="1572768"/>
            <a:ext cx="5349240" cy="219456"/>
          </a:xfrm>
          <a:prstGeom prst="rect">
            <a:avLst/>
          </a:prstGeom>
          <a:solidFill>
            <a:srgbClr val="1E2761"/>
          </a:solidFill>
          <a:ln/>
        </p:spPr>
      </p:sp>
      <p:sp>
        <p:nvSpPr>
          <p:cNvPr id="28" name="Text 26"/>
          <p:cNvSpPr/>
          <p:nvPr/>
        </p:nvSpPr>
        <p:spPr>
          <a:xfrm>
            <a:off x="6355080" y="1353312"/>
            <a:ext cx="498348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Core Libraries &amp; Analytics Toolchain</a:t>
            </a:r>
            <a:endParaRPr lang="en-US" sz="1200" dirty="0"/>
          </a:p>
        </p:txBody>
      </p:sp>
      <p:sp>
        <p:nvSpPr>
          <p:cNvPr id="29" name="Text 27"/>
          <p:cNvSpPr/>
          <p:nvPr/>
        </p:nvSpPr>
        <p:spPr>
          <a:xfrm>
            <a:off x="6355080" y="188366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Data &amp; Validation</a:t>
            </a:r>
            <a:endParaRPr lang="en-US" sz="1000" dirty="0"/>
          </a:p>
        </p:txBody>
      </p:sp>
      <p:sp>
        <p:nvSpPr>
          <p:cNvPr id="30" name="Text 28"/>
          <p:cNvSpPr/>
          <p:nvPr/>
        </p:nvSpPr>
        <p:spPr>
          <a:xfrm>
            <a:off x="8275320" y="188366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pandas 2.x, numpy, pandera 0.33 (declarative runtime schema contracts)</a:t>
            </a:r>
            <a:endParaRPr lang="en-US" sz="1000" dirty="0"/>
          </a:p>
        </p:txBody>
      </p:sp>
      <p:sp>
        <p:nvSpPr>
          <p:cNvPr id="31" name="Shape 29"/>
          <p:cNvSpPr/>
          <p:nvPr/>
        </p:nvSpPr>
        <p:spPr>
          <a:xfrm>
            <a:off x="6355080" y="2340864"/>
            <a:ext cx="4983480" cy="0"/>
          </a:xfrm>
          <a:prstGeom prst="line">
            <a:avLst/>
          </a:prstGeom>
          <a:noFill/>
          <a:ln w="6350">
            <a:solidFill>
              <a:srgbClr val="E4E8F0"/>
            </a:solidFill>
            <a:prstDash val="solid"/>
          </a:ln>
        </p:spPr>
      </p:sp>
      <p:sp>
        <p:nvSpPr>
          <p:cNvPr id="32" name="Text 30"/>
          <p:cNvSpPr/>
          <p:nvPr/>
        </p:nvSpPr>
        <p:spPr>
          <a:xfrm>
            <a:off x="6355080" y="243230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Black-Box ML (O2)</a:t>
            </a:r>
            <a:endParaRPr lang="en-US" sz="1000" dirty="0"/>
          </a:p>
        </p:txBody>
      </p:sp>
      <p:sp>
        <p:nvSpPr>
          <p:cNvPr id="33" name="Text 31"/>
          <p:cNvSpPr/>
          <p:nvPr/>
        </p:nvSpPr>
        <p:spPr>
          <a:xfrm>
            <a:off x="8275320" y="243230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scikit-learn (LR, RF), xgboost, lightgbm, catboost (5-fold CV)</a:t>
            </a:r>
            <a:endParaRPr lang="en-US" sz="1000" dirty="0"/>
          </a:p>
        </p:txBody>
      </p:sp>
      <p:sp>
        <p:nvSpPr>
          <p:cNvPr id="34" name="Shape 32"/>
          <p:cNvSpPr/>
          <p:nvPr/>
        </p:nvSpPr>
        <p:spPr>
          <a:xfrm>
            <a:off x="6355080" y="2889504"/>
            <a:ext cx="4983480" cy="0"/>
          </a:xfrm>
          <a:prstGeom prst="line">
            <a:avLst/>
          </a:prstGeom>
          <a:noFill/>
          <a:ln w="6350">
            <a:solidFill>
              <a:srgbClr val="E4E8F0"/>
            </a:solidFill>
            <a:prstDash val="solid"/>
          </a:ln>
        </p:spPr>
      </p:sp>
      <p:sp>
        <p:nvSpPr>
          <p:cNvPr id="35" name="Text 33"/>
          <p:cNvSpPr/>
          <p:nvPr/>
        </p:nvSpPr>
        <p:spPr>
          <a:xfrm>
            <a:off x="6355080" y="298094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Interpretable Core (O3)</a:t>
            </a:r>
            <a:endParaRPr lang="en-US" sz="1000" dirty="0"/>
          </a:p>
        </p:txBody>
      </p:sp>
      <p:sp>
        <p:nvSpPr>
          <p:cNvPr id="36" name="Text 34"/>
          <p:cNvSpPr/>
          <p:nvPr/>
        </p:nvSpPr>
        <p:spPr>
          <a:xfrm>
            <a:off x="8275320" y="298094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interpret (Microsoft EBM / GA²M), shap, statsmodels</a:t>
            </a:r>
            <a:endParaRPr lang="en-US" sz="1000" dirty="0"/>
          </a:p>
        </p:txBody>
      </p:sp>
      <p:sp>
        <p:nvSpPr>
          <p:cNvPr id="37" name="Shape 35"/>
          <p:cNvSpPr/>
          <p:nvPr/>
        </p:nvSpPr>
        <p:spPr>
          <a:xfrm>
            <a:off x="6355080" y="3438144"/>
            <a:ext cx="4983480" cy="0"/>
          </a:xfrm>
          <a:prstGeom prst="line">
            <a:avLst/>
          </a:prstGeom>
          <a:noFill/>
          <a:ln w="6350">
            <a:solidFill>
              <a:srgbClr val="E4E8F0"/>
            </a:solidFill>
            <a:prstDash val="solid"/>
          </a:ln>
        </p:spPr>
      </p:sp>
      <p:sp>
        <p:nvSpPr>
          <p:cNvPr id="38" name="Text 36"/>
          <p:cNvSpPr/>
          <p:nvPr/>
        </p:nvSpPr>
        <p:spPr>
          <a:xfrm>
            <a:off x="6355080" y="352958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Targeting &amp; Costs (O4)</a:t>
            </a:r>
            <a:endParaRPr lang="en-US" sz="1000" dirty="0"/>
          </a:p>
        </p:txBody>
      </p:sp>
      <p:sp>
        <p:nvSpPr>
          <p:cNvPr id="39" name="Text 37"/>
          <p:cNvSpPr/>
          <p:nvPr/>
        </p:nvSpPr>
        <p:spPr>
          <a:xfrm>
            <a:off x="8275320" y="352958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Custom Cost-Curve Sweep Optimizer &amp; Counterfactual Search Engine</a:t>
            </a:r>
            <a:endParaRPr lang="en-US" sz="1000" dirty="0"/>
          </a:p>
        </p:txBody>
      </p:sp>
      <p:sp>
        <p:nvSpPr>
          <p:cNvPr id="40" name="Shape 38"/>
          <p:cNvSpPr/>
          <p:nvPr/>
        </p:nvSpPr>
        <p:spPr>
          <a:xfrm>
            <a:off x="6355080" y="3986784"/>
            <a:ext cx="4983480" cy="0"/>
          </a:xfrm>
          <a:prstGeom prst="line">
            <a:avLst/>
          </a:prstGeom>
          <a:noFill/>
          <a:ln w="6350">
            <a:solidFill>
              <a:srgbClr val="E4E8F0"/>
            </a:solidFill>
            <a:prstDash val="solid"/>
          </a:ln>
        </p:spPr>
      </p:sp>
      <p:sp>
        <p:nvSpPr>
          <p:cNvPr id="41" name="Text 39"/>
          <p:cNvSpPr/>
          <p:nvPr/>
        </p:nvSpPr>
        <p:spPr>
          <a:xfrm>
            <a:off x="6355080" y="407822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Testing &amp; QA (O5)</a:t>
            </a:r>
            <a:endParaRPr lang="en-US" sz="1000" dirty="0"/>
          </a:p>
        </p:txBody>
      </p:sp>
      <p:sp>
        <p:nvSpPr>
          <p:cNvPr id="42" name="Text 40"/>
          <p:cNvSpPr/>
          <p:nvPr/>
        </p:nvSpPr>
        <p:spPr>
          <a:xfrm>
            <a:off x="8275320" y="407822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pytest, JSON/CSV Lineage Logging, Automated Negative Testing Suite</a:t>
            </a:r>
            <a:endParaRPr lang="en-US" sz="1000" dirty="0"/>
          </a:p>
        </p:txBody>
      </p:sp>
      <p:sp>
        <p:nvSpPr>
          <p:cNvPr id="43" name="Shape 41"/>
          <p:cNvSpPr/>
          <p:nvPr/>
        </p:nvSpPr>
        <p:spPr>
          <a:xfrm>
            <a:off x="6355080" y="4535424"/>
            <a:ext cx="4983480" cy="0"/>
          </a:xfrm>
          <a:prstGeom prst="line">
            <a:avLst/>
          </a:prstGeom>
          <a:noFill/>
          <a:ln w="6350">
            <a:solidFill>
              <a:srgbClr val="E4E8F0"/>
            </a:solidFill>
            <a:prstDash val="solid"/>
          </a:ln>
        </p:spPr>
      </p:sp>
      <p:sp>
        <p:nvSpPr>
          <p:cNvPr id="44" name="Text 42"/>
          <p:cNvSpPr/>
          <p:nvPr/>
        </p:nvSpPr>
        <p:spPr>
          <a:xfrm>
            <a:off x="6355080" y="4626864"/>
            <a:ext cx="1920240" cy="411480"/>
          </a:xfrm>
          <a:prstGeom prst="rect">
            <a:avLst/>
          </a:prstGeom>
          <a:noFill/>
          <a:ln/>
        </p:spPr>
        <p:txBody>
          <a:bodyPr wrap="square" rtlCol="0" anchor="t"/>
          <a:lstStyle/>
          <a:p>
            <a:pPr marL="0" indent="0">
              <a:buNone/>
            </a:pPr>
            <a:r>
              <a:rPr lang="en-US" sz="1000" b="1" dirty="0">
                <a:solidFill>
                  <a:srgbClr val="8A5A00"/>
                </a:solidFill>
                <a:latin typeface="Calibri" pitchFamily="34" charset="0"/>
                <a:ea typeface="Calibri" pitchFamily="34" charset="-122"/>
                <a:cs typeface="Calibri" pitchFamily="34" charset="-120"/>
              </a:rPr>
              <a:t>Visualization</a:t>
            </a:r>
            <a:endParaRPr lang="en-US" sz="1000" dirty="0"/>
          </a:p>
        </p:txBody>
      </p:sp>
      <p:sp>
        <p:nvSpPr>
          <p:cNvPr id="45" name="Text 43"/>
          <p:cNvSpPr/>
          <p:nvPr/>
        </p:nvSpPr>
        <p:spPr>
          <a:xfrm>
            <a:off x="8275320" y="4626864"/>
            <a:ext cx="3154680" cy="411480"/>
          </a:xfrm>
          <a:prstGeom prst="rect">
            <a:avLst/>
          </a:prstGeom>
          <a:noFill/>
          <a:ln/>
        </p:spPr>
        <p:txBody>
          <a:bodyPr wrap="square" rtlCol="0" anchor="t"/>
          <a:lstStyle/>
          <a:p>
            <a:pPr marL="0" indent="0">
              <a:lnSpc>
                <a:spcPct val="105000"/>
              </a:lnSpc>
              <a:buNone/>
            </a:pPr>
            <a:r>
              <a:rPr lang="en-US" sz="1000" dirty="0">
                <a:solidFill>
                  <a:srgbClr val="1A2140"/>
                </a:solidFill>
                <a:latin typeface="Calibri" pitchFamily="34" charset="0"/>
                <a:ea typeface="Calibri" pitchFamily="34" charset="-122"/>
                <a:cs typeface="Calibri" pitchFamily="34" charset="-120"/>
              </a:rPr>
              <a:t>matplotlib 3.x, seaborn 0.13.x, pptxgenjs automated slide engine</a:t>
            </a:r>
            <a:endParaRPr lang="en-US" sz="1000" dirty="0"/>
          </a:p>
        </p:txBody>
      </p:sp>
      <p:sp>
        <p:nvSpPr>
          <p:cNvPr id="46" name="Shape 44"/>
          <p:cNvSpPr/>
          <p:nvPr/>
        </p:nvSpPr>
        <p:spPr>
          <a:xfrm>
            <a:off x="548640" y="5495544"/>
            <a:ext cx="11094415" cy="475488"/>
          </a:xfrm>
          <a:prstGeom prst="roundRect">
            <a:avLst>
              <a:gd name="adj" fmla="val 15385"/>
            </a:avLst>
          </a:prstGeom>
          <a:solidFill>
            <a:srgbClr val="1E2761"/>
          </a:solidFill>
          <a:ln/>
        </p:spPr>
      </p:sp>
      <p:sp>
        <p:nvSpPr>
          <p:cNvPr id="47" name="Text 45"/>
          <p:cNvSpPr/>
          <p:nvPr/>
        </p:nvSpPr>
        <p:spPr>
          <a:xfrm>
            <a:off x="777240" y="5495544"/>
            <a:ext cx="10637215" cy="475488"/>
          </a:xfrm>
          <a:prstGeom prst="rect">
            <a:avLst/>
          </a:prstGeom>
          <a:noFill/>
          <a:ln/>
        </p:spPr>
        <p:txBody>
          <a:bodyPr wrap="square" rtlCol="0" anchor="ctr"/>
          <a:lstStyle/>
          <a:p>
            <a:pPr marL="0" indent="0" algn="ctr">
              <a:buNone/>
            </a:pPr>
            <a:r>
              <a:rPr lang="en-US" sz="1100" b="1" dirty="0">
                <a:solidFill>
                  <a:srgbClr val="CADCFC"/>
                </a:solidFill>
                <a:latin typeface="Courier New" pitchFamily="34" charset="0"/>
                <a:ea typeface="Courier New" pitchFamily="34" charset="-122"/>
                <a:cs typeface="Courier New" pitchFamily="34" charset="-120"/>
              </a:rPr>
              <a:t>Execution Command:  python -m src.pipeline  →  8 clean CSVs + lineage_report.json (Verified)</a:t>
            </a:r>
            <a:endParaRPr lang="en-US" sz="1100" dirty="0"/>
          </a:p>
        </p:txBody>
      </p:sp>
      <p:sp>
        <p:nvSpPr>
          <p:cNvPr id="48" name="Text 46"/>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24</a:t>
            </a:r>
            <a:endParaRPr lang="en-US" sz="950" dirty="0"/>
          </a:p>
        </p:txBody>
      </p:sp>
      <p:sp>
        <p:nvSpPr>
          <p:cNvPr id="49" name="Text 47"/>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EVALUATION RUBRIC CRITERION 4</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Tools &amp; Technologies Selection &amp; Justification Matrix</a:t>
            </a:r>
            <a:endParaRPr lang="en-US" sz="2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4415" cy="4443984"/>
        </p:xfrm>
        <a:graphic>
          <a:graphicData uri="http://schemas.openxmlformats.org/drawingml/2006/table">
            <a:tbl>
              <a:tblPr/>
              <a:tblGrid>
                <a:gridCol w="1645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5333695">
                  <a:extLst>
                    <a:ext uri="{9D8B030D-6E8A-4147-A177-3AD203B41FA5}">
                      <a16:colId xmlns:a16="http://schemas.microsoft.com/office/drawing/2014/main" val="20003"/>
                    </a:ext>
                  </a:extLst>
                </a:gridCol>
              </a:tblGrid>
              <a:tr h="34747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Technology Category</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Selected Tool</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Discarded Alternatives</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Selection Justification &amp; Practical Application</a:t>
                      </a:r>
                      <a:endParaRPr lang="en-US" sz="10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Data Manipulation</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pandas 2.x &amp; numpy</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polars, PySpark, Dask</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In-memory processing of 55,922 records requires &lt;1.8 GB RAM; Pandas 2.x PyArrow backend offers extreme stability without JVM or cluster overhead.</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Schema Validation</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pandera 0.33</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Great Expectations, Cerberus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Vectorized validation directly on DataFrames with declarative schema contracts; avoids Great Expectations' heavy JSON configuration bloat.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Black-Box ML Baselines</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scikit-learn &amp; xgboost</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TensorFlow, PyTorch Tabular</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Proven superiority of boosted decision trees over neural nets on tabular survey data; established industry reference for spatial transfer benchmarks.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Interpretable ML Core</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InterpretML (EBM / GA²M)</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Standard GLM, RuleFit, PyGAM</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Learns piece-wise constant splines with automated interaction detection; achieves +0.8pp higher accuracy than Random Forest with 100% glass-box transparency.</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Feature Attribution</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SHAP (Tree-SHAP)</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LIME, Permutation Importance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Polynomial-time exact Shapley calculation O(TLD^2) with axiomatic guarantees (local accuracy, consistency); avoids LIME's sampling variance.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Telemetry Dashboard</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Streamlit</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Flask, Django, React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Native Python-to-UI binding; renders live model heatmaps, Pandera lineage audits, and interactive policy cost threshold sliders with zero frontend boilerplate.</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85216">
                <a:tc>
                  <a:txBody>
                    <a:bodyPr/>
                    <a:lstStyle/>
                    <a:p>
                      <a:pPr marL="0" indent="0">
                        <a:buNone/>
                      </a:pPr>
                      <a:r>
                        <a:rPr lang="en-US" sz="950" b="1" dirty="0">
                          <a:solidFill>
                            <a:srgbClr val="1E2761"/>
                          </a:solidFill>
                          <a:latin typeface="Calibri" pitchFamily="34" charset="0"/>
                          <a:ea typeface="Calibri" pitchFamily="34" charset="-122"/>
                          <a:cs typeface="Calibri" pitchFamily="34" charset="-120"/>
                        </a:rPr>
                        <a:t>Automated Reporting</a:t>
                      </a:r>
                      <a:endParaRPr lang="en-US" sz="9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F8A5A"/>
                          </a:solidFill>
                          <a:latin typeface="Calibri" pitchFamily="34" charset="0"/>
                          <a:ea typeface="Calibri" pitchFamily="34" charset="-122"/>
                          <a:cs typeface="Calibri" pitchFamily="34" charset="-120"/>
                        </a:rPr>
                        <a:t>pptxgenjs (Node.js)</a:t>
                      </a:r>
                      <a:endParaRPr lang="en-US" sz="90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E8F5E9"/>
                    </a:solidFill>
                  </a:tcPr>
                </a:tc>
                <a:tc>
                  <a:txBody>
                    <a:bodyPr/>
                    <a:lstStyle/>
                    <a:p>
                      <a:pPr marL="0" indent="0">
                        <a:buNone/>
                      </a:pPr>
                      <a:r>
                        <a:rPr lang="en-US" sz="850" i="1" dirty="0">
                          <a:solidFill>
                            <a:srgbClr val="A82D2D"/>
                          </a:solidFill>
                          <a:latin typeface="Calibri" pitchFamily="34" charset="0"/>
                          <a:ea typeface="Calibri" pitchFamily="34" charset="-122"/>
                          <a:cs typeface="Calibri" pitchFamily="34" charset="-120"/>
                        </a:rPr>
                        <a:t>Manual MS PowerPoint</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EBEE"/>
                    </a:solidFill>
                  </a:tcPr>
                </a:tc>
                <a:tc>
                  <a:txBody>
                    <a:bodyPr/>
                    <a:lstStyle/>
                    <a:p>
                      <a:pPr marL="0" indent="0">
                        <a:buNone/>
                      </a:pPr>
                      <a:r>
                        <a:rPr lang="en-US" sz="850" dirty="0">
                          <a:solidFill>
                            <a:srgbClr val="1A2140"/>
                          </a:solidFill>
                          <a:latin typeface="Calibri" pitchFamily="34" charset="0"/>
                          <a:ea typeface="Calibri" pitchFamily="34" charset="-122"/>
                          <a:cs typeface="Calibri" pitchFamily="34" charset="-120"/>
                        </a:rPr>
                        <a:t>Eliminates manual presentation authoring errors; programmatically compiles research data, tables, and palette tokens into executive widescreen slides.</a:t>
                      </a:r>
                      <a:endParaRPr lang="en-US" sz="850" dirty="0">
                        <a:latin typeface="Calibri" charset="0"/>
                        <a:ea typeface="Calibri" charset="0"/>
                        <a:cs typeface="Calibri" charset="0"/>
                      </a:endParaRPr>
                    </a:p>
                  </a:txBody>
                  <a:tcPr anchor="ctr">
                    <a:lnL w="6350" cap="flat" cmpd="sng" algn="ctr">
                      <a:solidFill>
                        <a:srgbClr val="E4E8F0"/>
                      </a:solidFill>
                      <a:prstDash val="solid"/>
                      <a:round/>
                      <a:headEnd type="none" w="med" len="med"/>
                      <a:tailEnd type="none" w="med" len="med"/>
                    </a:lnL>
                    <a:lnR w="6350" cap="flat" cmpd="sng" algn="ctr">
                      <a:solidFill>
                        <a:srgbClr val="E4E8F0"/>
                      </a:solidFill>
                      <a:prstDash val="solid"/>
                      <a:round/>
                      <a:headEnd type="none" w="med" len="med"/>
                      <a:tailEnd type="none" w="med" len="med"/>
                    </a:lnR>
                    <a:lnT w="6350" cap="flat" cmpd="sng" algn="ctr">
                      <a:solidFill>
                        <a:srgbClr val="E4E8F0"/>
                      </a:solidFill>
                      <a:prstDash val="solid"/>
                      <a:round/>
                      <a:headEnd type="none" w="med" len="med"/>
                      <a:tailEnd type="none" w="med" len="med"/>
                    </a:lnT>
                    <a:lnB w="6350" cap="flat" cmpd="sng" algn="ctr">
                      <a:solidFill>
                        <a:srgbClr val="E4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25</a:t>
            </a:r>
            <a:endParaRPr lang="en-US" sz="950" dirty="0"/>
          </a:p>
        </p:txBody>
      </p:sp>
      <p:sp>
        <p:nvSpPr>
          <p:cNvPr id="6" name="Text 3"/>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INFRASTRUCTURE &amp; SPECIFICATIONS</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Hardware Requirements, Memory Footprint &amp; Compute Budget</a:t>
            </a:r>
            <a:endParaRPr lang="en-US" sz="2500" dirty="0"/>
          </a:p>
        </p:txBody>
      </p:sp>
      <p:sp>
        <p:nvSpPr>
          <p:cNvPr id="4" name="Shape 2"/>
          <p:cNvSpPr/>
          <p:nvPr/>
        </p:nvSpPr>
        <p:spPr>
          <a:xfrm>
            <a:off x="548640" y="1353312"/>
            <a:ext cx="2606040" cy="3291840"/>
          </a:xfrm>
          <a:prstGeom prst="roundRect">
            <a:avLst>
              <a:gd name="adj" fmla="val 2807"/>
            </a:avLst>
          </a:prstGeom>
          <a:solidFill>
            <a:srgbClr val="FFFFFF"/>
          </a:solidFill>
          <a:ln w="12700">
            <a:solidFill>
              <a:srgbClr val="E4E8F0"/>
            </a:solidFill>
            <a:prstDash val="solid"/>
          </a:ln>
        </p:spPr>
      </p:sp>
      <p:sp>
        <p:nvSpPr>
          <p:cNvPr id="5" name="Shape 3"/>
          <p:cNvSpPr/>
          <p:nvPr/>
        </p:nvSpPr>
        <p:spPr>
          <a:xfrm>
            <a:off x="548640" y="1353312"/>
            <a:ext cx="2606040" cy="411480"/>
          </a:xfrm>
          <a:prstGeom prst="roundRect">
            <a:avLst>
              <a:gd name="adj" fmla="val 17778"/>
            </a:avLst>
          </a:prstGeom>
          <a:solidFill>
            <a:srgbClr val="1E2761"/>
          </a:solidFill>
          <a:ln/>
        </p:spPr>
      </p:sp>
      <p:sp>
        <p:nvSpPr>
          <p:cNvPr id="6" name="Shape 4"/>
          <p:cNvSpPr/>
          <p:nvPr/>
        </p:nvSpPr>
        <p:spPr>
          <a:xfrm>
            <a:off x="548640" y="1554480"/>
            <a:ext cx="2606040" cy="210312"/>
          </a:xfrm>
          <a:prstGeom prst="rect">
            <a:avLst/>
          </a:prstGeom>
          <a:solidFill>
            <a:srgbClr val="1E2761"/>
          </a:solidFill>
          <a:ln/>
        </p:spPr>
      </p:sp>
      <p:sp>
        <p:nvSpPr>
          <p:cNvPr id="7" name="Text 5"/>
          <p:cNvSpPr/>
          <p:nvPr/>
        </p:nvSpPr>
        <p:spPr>
          <a:xfrm>
            <a:off x="640080" y="1353312"/>
            <a:ext cx="2423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Storage Footprint</a:t>
            </a:r>
            <a:endParaRPr lang="en-US" sz="1100" dirty="0"/>
          </a:p>
        </p:txBody>
      </p:sp>
      <p:sp>
        <p:nvSpPr>
          <p:cNvPr id="8" name="Text 6"/>
          <p:cNvSpPr/>
          <p:nvPr/>
        </p:nvSpPr>
        <p:spPr>
          <a:xfrm>
            <a:off x="548640" y="1947672"/>
            <a:ext cx="2606040" cy="59436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~272 MB</a:t>
            </a:r>
            <a:endParaRPr lang="en-US" sz="2800" dirty="0"/>
          </a:p>
        </p:txBody>
      </p:sp>
      <p:sp>
        <p:nvSpPr>
          <p:cNvPr id="9" name="Text 7"/>
          <p:cNvSpPr/>
          <p:nvPr/>
        </p:nvSpPr>
        <p:spPr>
          <a:xfrm>
            <a:off x="685800" y="2679192"/>
            <a:ext cx="2331720" cy="1828800"/>
          </a:xfrm>
          <a:prstGeom prst="rect">
            <a:avLst/>
          </a:prstGeom>
          <a:noFill/>
          <a:ln/>
        </p:spPr>
        <p:txBody>
          <a:bodyPr wrap="square" rtlCol="0" anchor="t"/>
          <a:lstStyle/>
          <a:p>
            <a:pPr marL="0" indent="0">
              <a:lnSpc>
                <a:spcPct val="112000"/>
              </a:lnSpc>
              <a:buNone/>
            </a:pPr>
            <a:r>
              <a:rPr lang="en-US" sz="1050" dirty="0">
                <a:solidFill>
                  <a:srgbClr val="1A2140"/>
                </a:solidFill>
                <a:latin typeface="Calibri" pitchFamily="34" charset="0"/>
                <a:ea typeface="Calibri" pitchFamily="34" charset="-122"/>
                <a:cs typeface="Calibri" pitchFamily="34" charset="-120"/>
              </a:rPr>
              <a:t>Raw EHCVM CSVs (185 MB) across 24 files + engineered datasets (82 MB) + generated EDA visual artifacts (5 MB). Extremely lightweight and portable.</a:t>
            </a:r>
            <a:endParaRPr lang="en-US" sz="1050" dirty="0"/>
          </a:p>
        </p:txBody>
      </p:sp>
      <p:sp>
        <p:nvSpPr>
          <p:cNvPr id="10" name="Shape 8"/>
          <p:cNvSpPr/>
          <p:nvPr/>
        </p:nvSpPr>
        <p:spPr>
          <a:xfrm>
            <a:off x="3291840" y="1353312"/>
            <a:ext cx="2606040" cy="3291840"/>
          </a:xfrm>
          <a:prstGeom prst="roundRect">
            <a:avLst>
              <a:gd name="adj" fmla="val 2807"/>
            </a:avLst>
          </a:prstGeom>
          <a:solidFill>
            <a:srgbClr val="FFFFFF"/>
          </a:solidFill>
          <a:ln w="12700">
            <a:solidFill>
              <a:srgbClr val="E4E8F0"/>
            </a:solidFill>
            <a:prstDash val="solid"/>
          </a:ln>
        </p:spPr>
      </p:sp>
      <p:sp>
        <p:nvSpPr>
          <p:cNvPr id="11" name="Shape 9"/>
          <p:cNvSpPr/>
          <p:nvPr/>
        </p:nvSpPr>
        <p:spPr>
          <a:xfrm>
            <a:off x="3291840" y="1353312"/>
            <a:ext cx="2606040" cy="411480"/>
          </a:xfrm>
          <a:prstGeom prst="roundRect">
            <a:avLst>
              <a:gd name="adj" fmla="val 17778"/>
            </a:avLst>
          </a:prstGeom>
          <a:solidFill>
            <a:srgbClr val="1F8A5A"/>
          </a:solidFill>
          <a:ln/>
        </p:spPr>
      </p:sp>
      <p:sp>
        <p:nvSpPr>
          <p:cNvPr id="12" name="Shape 10"/>
          <p:cNvSpPr/>
          <p:nvPr/>
        </p:nvSpPr>
        <p:spPr>
          <a:xfrm>
            <a:off x="3291840" y="1554480"/>
            <a:ext cx="2606040" cy="210312"/>
          </a:xfrm>
          <a:prstGeom prst="rect">
            <a:avLst/>
          </a:prstGeom>
          <a:solidFill>
            <a:srgbClr val="1F8A5A"/>
          </a:solidFill>
          <a:ln/>
        </p:spPr>
      </p:sp>
      <p:sp>
        <p:nvSpPr>
          <p:cNvPr id="13" name="Text 11"/>
          <p:cNvSpPr/>
          <p:nvPr/>
        </p:nvSpPr>
        <p:spPr>
          <a:xfrm>
            <a:off x="3383280" y="1353312"/>
            <a:ext cx="2423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Runtime Memory Footprint</a:t>
            </a:r>
            <a:endParaRPr lang="en-US" sz="1100" dirty="0"/>
          </a:p>
        </p:txBody>
      </p:sp>
      <p:sp>
        <p:nvSpPr>
          <p:cNvPr id="14" name="Text 12"/>
          <p:cNvSpPr/>
          <p:nvPr/>
        </p:nvSpPr>
        <p:spPr>
          <a:xfrm>
            <a:off x="3291840" y="1947672"/>
            <a:ext cx="2606040" cy="594360"/>
          </a:xfrm>
          <a:prstGeom prst="rect">
            <a:avLst/>
          </a:prstGeom>
          <a:noFill/>
          <a:ln/>
        </p:spPr>
        <p:txBody>
          <a:bodyPr wrap="square" rtlCol="0" anchor="ctr"/>
          <a:lstStyle/>
          <a:p>
            <a:pPr marL="0" indent="0" algn="ctr">
              <a:buNone/>
            </a:pPr>
            <a:r>
              <a:rPr lang="en-US" sz="2800" b="1" dirty="0">
                <a:solidFill>
                  <a:srgbClr val="1F8A5A"/>
                </a:solidFill>
                <a:latin typeface="Cambria" pitchFamily="34" charset="0"/>
                <a:ea typeface="Cambria" pitchFamily="34" charset="-122"/>
                <a:cs typeface="Cambria" pitchFamily="34" charset="-120"/>
              </a:rPr>
              <a:t>&lt; 1.8 GB</a:t>
            </a:r>
            <a:endParaRPr lang="en-US" sz="2800" dirty="0"/>
          </a:p>
        </p:txBody>
      </p:sp>
      <p:sp>
        <p:nvSpPr>
          <p:cNvPr id="15" name="Text 13"/>
          <p:cNvSpPr/>
          <p:nvPr/>
        </p:nvSpPr>
        <p:spPr>
          <a:xfrm>
            <a:off x="3429000" y="2679192"/>
            <a:ext cx="2331720" cy="1828800"/>
          </a:xfrm>
          <a:prstGeom prst="rect">
            <a:avLst/>
          </a:prstGeom>
          <a:noFill/>
          <a:ln/>
        </p:spPr>
        <p:txBody>
          <a:bodyPr wrap="square" rtlCol="0" anchor="t"/>
          <a:lstStyle/>
          <a:p>
            <a:pPr marL="0" indent="0">
              <a:lnSpc>
                <a:spcPct val="112000"/>
              </a:lnSpc>
              <a:buNone/>
            </a:pPr>
            <a:r>
              <a:rPr lang="en-US" sz="1050" dirty="0">
                <a:solidFill>
                  <a:srgbClr val="1A2140"/>
                </a:solidFill>
                <a:latin typeface="Calibri" pitchFamily="34" charset="0"/>
                <a:ea typeface="Calibri" pitchFamily="34" charset="-122"/>
                <a:cs typeface="Calibri" pitchFamily="34" charset="-120"/>
              </a:rPr>
              <a:t>Peak RAM consumption during full 8-country multi-table joins and Pandera schema validation. Seamlessly executes on standard developer laptops.</a:t>
            </a:r>
            <a:endParaRPr lang="en-US" sz="1050" dirty="0"/>
          </a:p>
        </p:txBody>
      </p:sp>
      <p:sp>
        <p:nvSpPr>
          <p:cNvPr id="16" name="Shape 14"/>
          <p:cNvSpPr/>
          <p:nvPr/>
        </p:nvSpPr>
        <p:spPr>
          <a:xfrm>
            <a:off x="6035040" y="1353312"/>
            <a:ext cx="2606040" cy="3291840"/>
          </a:xfrm>
          <a:prstGeom prst="roundRect">
            <a:avLst>
              <a:gd name="adj" fmla="val 2807"/>
            </a:avLst>
          </a:prstGeom>
          <a:solidFill>
            <a:srgbClr val="FFFFFF"/>
          </a:solidFill>
          <a:ln w="12700">
            <a:solidFill>
              <a:srgbClr val="E4E8F0"/>
            </a:solidFill>
            <a:prstDash val="solid"/>
          </a:ln>
        </p:spPr>
      </p:sp>
      <p:sp>
        <p:nvSpPr>
          <p:cNvPr id="17" name="Shape 15"/>
          <p:cNvSpPr/>
          <p:nvPr/>
        </p:nvSpPr>
        <p:spPr>
          <a:xfrm>
            <a:off x="6035040" y="1353312"/>
            <a:ext cx="2606040" cy="411480"/>
          </a:xfrm>
          <a:prstGeom prst="roundRect">
            <a:avLst>
              <a:gd name="adj" fmla="val 17778"/>
            </a:avLst>
          </a:prstGeom>
          <a:solidFill>
            <a:srgbClr val="D98E04"/>
          </a:solidFill>
          <a:ln/>
        </p:spPr>
      </p:sp>
      <p:sp>
        <p:nvSpPr>
          <p:cNvPr id="18" name="Shape 16"/>
          <p:cNvSpPr/>
          <p:nvPr/>
        </p:nvSpPr>
        <p:spPr>
          <a:xfrm>
            <a:off x="6035040" y="1554480"/>
            <a:ext cx="2606040" cy="210312"/>
          </a:xfrm>
          <a:prstGeom prst="rect">
            <a:avLst/>
          </a:prstGeom>
          <a:solidFill>
            <a:srgbClr val="D98E04"/>
          </a:solidFill>
          <a:ln/>
        </p:spPr>
      </p:sp>
      <p:sp>
        <p:nvSpPr>
          <p:cNvPr id="19" name="Text 17"/>
          <p:cNvSpPr/>
          <p:nvPr/>
        </p:nvSpPr>
        <p:spPr>
          <a:xfrm>
            <a:off x="6126480" y="1353312"/>
            <a:ext cx="2423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Pipeline Execution Speed</a:t>
            </a:r>
            <a:endParaRPr lang="en-US" sz="1100" dirty="0"/>
          </a:p>
        </p:txBody>
      </p:sp>
      <p:sp>
        <p:nvSpPr>
          <p:cNvPr id="20" name="Text 18"/>
          <p:cNvSpPr/>
          <p:nvPr/>
        </p:nvSpPr>
        <p:spPr>
          <a:xfrm>
            <a:off x="6035040" y="1947672"/>
            <a:ext cx="2606040" cy="594360"/>
          </a:xfrm>
          <a:prstGeom prst="rect">
            <a:avLst/>
          </a:prstGeom>
          <a:noFill/>
          <a:ln/>
        </p:spPr>
        <p:txBody>
          <a:bodyPr wrap="square" rtlCol="0" anchor="ctr"/>
          <a:lstStyle/>
          <a:p>
            <a:pPr marL="0" indent="0" algn="ctr">
              <a:buNone/>
            </a:pPr>
            <a:r>
              <a:rPr lang="en-US" sz="2800" b="1" dirty="0">
                <a:solidFill>
                  <a:srgbClr val="D98E04"/>
                </a:solidFill>
                <a:latin typeface="Cambria" pitchFamily="34" charset="0"/>
                <a:ea typeface="Cambria" pitchFamily="34" charset="-122"/>
                <a:cs typeface="Cambria" pitchFamily="34" charset="-120"/>
              </a:rPr>
              <a:t>&lt; 45 sec</a:t>
            </a:r>
            <a:endParaRPr lang="en-US" sz="2800" dirty="0"/>
          </a:p>
        </p:txBody>
      </p:sp>
      <p:sp>
        <p:nvSpPr>
          <p:cNvPr id="21" name="Text 19"/>
          <p:cNvSpPr/>
          <p:nvPr/>
        </p:nvSpPr>
        <p:spPr>
          <a:xfrm>
            <a:off x="6172200" y="2679192"/>
            <a:ext cx="2331720" cy="1828800"/>
          </a:xfrm>
          <a:prstGeom prst="rect">
            <a:avLst/>
          </a:prstGeom>
          <a:noFill/>
          <a:ln/>
        </p:spPr>
        <p:txBody>
          <a:bodyPr wrap="square" rtlCol="0" anchor="t"/>
          <a:lstStyle/>
          <a:p>
            <a:pPr marL="0" indent="0">
              <a:lnSpc>
                <a:spcPct val="112000"/>
              </a:lnSpc>
              <a:buNone/>
            </a:pPr>
            <a:r>
              <a:rPr lang="en-US" sz="1050" dirty="0">
                <a:solidFill>
                  <a:srgbClr val="1A2140"/>
                </a:solidFill>
                <a:latin typeface="Calibri" pitchFamily="34" charset="0"/>
                <a:ea typeface="Calibri" pitchFamily="34" charset="-122"/>
                <a:cs typeface="Calibri" pitchFamily="34" charset="-120"/>
              </a:rPr>
              <a:t>End-to-end execution time for python -m src.pipeline (24-file ingestion, schema validation, feature engineering, and CSV serialization).</a:t>
            </a:r>
            <a:endParaRPr lang="en-US" sz="1050" dirty="0"/>
          </a:p>
        </p:txBody>
      </p:sp>
      <p:sp>
        <p:nvSpPr>
          <p:cNvPr id="22" name="Shape 20"/>
          <p:cNvSpPr/>
          <p:nvPr/>
        </p:nvSpPr>
        <p:spPr>
          <a:xfrm>
            <a:off x="8778240" y="1353312"/>
            <a:ext cx="2606040" cy="3291840"/>
          </a:xfrm>
          <a:prstGeom prst="roundRect">
            <a:avLst>
              <a:gd name="adj" fmla="val 2807"/>
            </a:avLst>
          </a:prstGeom>
          <a:solidFill>
            <a:srgbClr val="FFFFFF"/>
          </a:solidFill>
          <a:ln w="12700">
            <a:solidFill>
              <a:srgbClr val="E4E8F0"/>
            </a:solidFill>
            <a:prstDash val="solid"/>
          </a:ln>
        </p:spPr>
      </p:sp>
      <p:sp>
        <p:nvSpPr>
          <p:cNvPr id="23" name="Shape 21"/>
          <p:cNvSpPr/>
          <p:nvPr/>
        </p:nvSpPr>
        <p:spPr>
          <a:xfrm>
            <a:off x="8778240" y="1353312"/>
            <a:ext cx="2606040" cy="411480"/>
          </a:xfrm>
          <a:prstGeom prst="roundRect">
            <a:avLst>
              <a:gd name="adj" fmla="val 17778"/>
            </a:avLst>
          </a:prstGeom>
          <a:solidFill>
            <a:srgbClr val="141A45"/>
          </a:solidFill>
          <a:ln/>
        </p:spPr>
      </p:sp>
      <p:sp>
        <p:nvSpPr>
          <p:cNvPr id="24" name="Shape 22"/>
          <p:cNvSpPr/>
          <p:nvPr/>
        </p:nvSpPr>
        <p:spPr>
          <a:xfrm>
            <a:off x="8778240" y="1554480"/>
            <a:ext cx="2606040" cy="210312"/>
          </a:xfrm>
          <a:prstGeom prst="rect">
            <a:avLst/>
          </a:prstGeom>
          <a:solidFill>
            <a:srgbClr val="141A45"/>
          </a:solidFill>
          <a:ln/>
        </p:spPr>
      </p:sp>
      <p:sp>
        <p:nvSpPr>
          <p:cNvPr id="25" name="Text 23"/>
          <p:cNvSpPr/>
          <p:nvPr/>
        </p:nvSpPr>
        <p:spPr>
          <a:xfrm>
            <a:off x="8869680" y="1353312"/>
            <a:ext cx="2423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Reproducibility Standard</a:t>
            </a:r>
            <a:endParaRPr lang="en-US" sz="1100" dirty="0"/>
          </a:p>
        </p:txBody>
      </p:sp>
      <p:sp>
        <p:nvSpPr>
          <p:cNvPr id="26" name="Text 24"/>
          <p:cNvSpPr/>
          <p:nvPr/>
        </p:nvSpPr>
        <p:spPr>
          <a:xfrm>
            <a:off x="8778240" y="1947672"/>
            <a:ext cx="2606040" cy="594360"/>
          </a:xfrm>
          <a:prstGeom prst="rect">
            <a:avLst/>
          </a:prstGeom>
          <a:noFill/>
          <a:ln/>
        </p:spPr>
        <p:txBody>
          <a:bodyPr wrap="square" rtlCol="0" anchor="ctr"/>
          <a:lstStyle/>
          <a:p>
            <a:pPr marL="0" indent="0" algn="ctr">
              <a:buNone/>
            </a:pPr>
            <a:r>
              <a:rPr lang="en-US" sz="2800" b="1" dirty="0">
                <a:solidFill>
                  <a:srgbClr val="141A45"/>
                </a:solidFill>
                <a:latin typeface="Cambria" pitchFamily="34" charset="0"/>
                <a:ea typeface="Cambria" pitchFamily="34" charset="-122"/>
                <a:cs typeface="Cambria" pitchFamily="34" charset="-120"/>
              </a:rPr>
              <a:t>seed = 42</a:t>
            </a:r>
            <a:endParaRPr lang="en-US" sz="2800" dirty="0"/>
          </a:p>
        </p:txBody>
      </p:sp>
      <p:sp>
        <p:nvSpPr>
          <p:cNvPr id="27" name="Text 25"/>
          <p:cNvSpPr/>
          <p:nvPr/>
        </p:nvSpPr>
        <p:spPr>
          <a:xfrm>
            <a:off x="8915400" y="2679192"/>
            <a:ext cx="2331720" cy="1828800"/>
          </a:xfrm>
          <a:prstGeom prst="rect">
            <a:avLst/>
          </a:prstGeom>
          <a:noFill/>
          <a:ln/>
        </p:spPr>
        <p:txBody>
          <a:bodyPr wrap="square" rtlCol="0" anchor="t"/>
          <a:lstStyle/>
          <a:p>
            <a:pPr marL="0" indent="0">
              <a:lnSpc>
                <a:spcPct val="112000"/>
              </a:lnSpc>
              <a:buNone/>
            </a:pPr>
            <a:r>
              <a:rPr lang="en-US" sz="1050" dirty="0">
                <a:solidFill>
                  <a:srgbClr val="1A2140"/>
                </a:solidFill>
                <a:latin typeface="Calibri" pitchFamily="34" charset="0"/>
                <a:ea typeface="Calibri" pitchFamily="34" charset="-122"/>
                <a:cs typeface="Calibri" pitchFamily="34" charset="-120"/>
              </a:rPr>
              <a:t>Fixed random seeds across all train/test splits, imputation routines, and model initializations guarantee 100% deterministic reproducibility.</a:t>
            </a:r>
            <a:endParaRPr lang="en-US" sz="1050" dirty="0"/>
          </a:p>
        </p:txBody>
      </p:sp>
      <p:sp>
        <p:nvSpPr>
          <p:cNvPr id="28" name="Shape 26"/>
          <p:cNvSpPr/>
          <p:nvPr/>
        </p:nvSpPr>
        <p:spPr>
          <a:xfrm>
            <a:off x="548640" y="4901184"/>
            <a:ext cx="11094415" cy="960120"/>
          </a:xfrm>
          <a:prstGeom prst="roundRect">
            <a:avLst>
              <a:gd name="adj" fmla="val 7619"/>
            </a:avLst>
          </a:prstGeom>
          <a:solidFill>
            <a:srgbClr val="EEF3FE"/>
          </a:solidFill>
          <a:ln w="12700">
            <a:solidFill>
              <a:srgbClr val="CADCFC"/>
            </a:solidFill>
            <a:prstDash val="solid"/>
          </a:ln>
        </p:spPr>
      </p:sp>
      <p:sp>
        <p:nvSpPr>
          <p:cNvPr id="29" name="Text 27"/>
          <p:cNvSpPr/>
          <p:nvPr/>
        </p:nvSpPr>
        <p:spPr>
          <a:xfrm>
            <a:off x="777240" y="5010912"/>
            <a:ext cx="10637215"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Compute Scaling &amp; Future O2/O3 Training Budget</a:t>
            </a:r>
            <a:endParaRPr lang="en-US" sz="1200" dirty="0"/>
          </a:p>
        </p:txBody>
      </p:sp>
      <p:sp>
        <p:nvSpPr>
          <p:cNvPr id="30" name="Text 28"/>
          <p:cNvSpPr/>
          <p:nvPr/>
        </p:nvSpPr>
        <p:spPr>
          <a:xfrm>
            <a:off x="777240" y="5285232"/>
            <a:ext cx="10637215" cy="502920"/>
          </a:xfrm>
          <a:prstGeom prst="rect">
            <a:avLst/>
          </a:prstGeom>
          <a:noFill/>
          <a:ln/>
        </p:spPr>
        <p:txBody>
          <a:bodyPr wrap="square" rtlCol="0" anchor="t"/>
          <a:lstStyle/>
          <a:p>
            <a:pPr marL="0" indent="0">
              <a:lnSpc>
                <a:spcPct val="108000"/>
              </a:lnSpc>
              <a:buNone/>
            </a:pPr>
            <a:r>
              <a:rPr lang="en-US" sz="1050" dirty="0">
                <a:solidFill>
                  <a:srgbClr val="1A2140"/>
                </a:solidFill>
                <a:latin typeface="Calibri" pitchFamily="34" charset="0"/>
                <a:ea typeface="Calibri" pitchFamily="34" charset="-122"/>
                <a:cs typeface="Calibri" pitchFamily="34" charset="-120"/>
              </a:rPr>
              <a:t>While O1 data engineering requires minimal compute (&lt;45s on CPU), O2 black-box baselines (6 algorithms × 8 countries × 5 folds = 240 model fits) will utilize multi-threaded CPU parallelization (n_jobs=-1 on AMD Ryzen 7 / Intel Core i7). O3 InterpretML EBM training will leverage fast cythonized binning, requiring ~15 minutes total compute.</a:t>
            </a:r>
            <a:endParaRPr lang="en-US" sz="1050" dirty="0"/>
          </a:p>
        </p:txBody>
      </p:sp>
      <p:sp>
        <p:nvSpPr>
          <p:cNvPr id="31" name="Text 29"/>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26</a:t>
            </a:r>
            <a:endParaRPr lang="en-US" sz="950" dirty="0"/>
          </a:p>
        </p:txBody>
      </p:sp>
      <p:sp>
        <p:nvSpPr>
          <p:cNvPr id="32" name="Text 30"/>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METHODOLOGY &amp; TEAM ROADMAP</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Team Ownership Matrix and Path to Review 3 Baselines</a:t>
            </a:r>
            <a:endParaRPr lang="en-US" sz="2500" dirty="0"/>
          </a:p>
        </p:txBody>
      </p:sp>
      <p:sp>
        <p:nvSpPr>
          <p:cNvPr id="4" name="Shape 2"/>
          <p:cNvSpPr/>
          <p:nvPr/>
        </p:nvSpPr>
        <p:spPr>
          <a:xfrm>
            <a:off x="548640" y="1353312"/>
            <a:ext cx="2651760" cy="1554480"/>
          </a:xfrm>
          <a:prstGeom prst="roundRect">
            <a:avLst>
              <a:gd name="adj" fmla="val 4706"/>
            </a:avLst>
          </a:prstGeom>
          <a:solidFill>
            <a:srgbClr val="FFFFFF"/>
          </a:solidFill>
          <a:ln w="12700">
            <a:solidFill>
              <a:srgbClr val="1F8A5A"/>
            </a:solidFill>
            <a:prstDash val="solid"/>
          </a:ln>
          <a:effectLst>
            <a:outerShdw blurRad="76200" dist="25400" dir="5400000" algn="bl" rotWithShape="0">
              <a:srgbClr val="8A8FA3">
                <a:alpha val="25000"/>
              </a:srgbClr>
            </a:outerShdw>
          </a:effectLst>
        </p:spPr>
      </p:sp>
      <p:sp>
        <p:nvSpPr>
          <p:cNvPr id="5" name="Shape 3"/>
          <p:cNvSpPr/>
          <p:nvPr/>
        </p:nvSpPr>
        <p:spPr>
          <a:xfrm>
            <a:off x="548640" y="1353312"/>
            <a:ext cx="2651760" cy="73152"/>
          </a:xfrm>
          <a:prstGeom prst="rect">
            <a:avLst/>
          </a:prstGeom>
          <a:solidFill>
            <a:srgbClr val="1F8A5A"/>
          </a:solidFill>
          <a:ln/>
        </p:spPr>
      </p:sp>
      <p:sp>
        <p:nvSpPr>
          <p:cNvPr id="6" name="Text 4"/>
          <p:cNvSpPr/>
          <p:nvPr/>
        </p:nvSpPr>
        <p:spPr>
          <a:xfrm>
            <a:off x="685800" y="1490472"/>
            <a:ext cx="2377440" cy="347472"/>
          </a:xfrm>
          <a:prstGeom prst="rect">
            <a:avLst/>
          </a:prstGeom>
          <a:noFill/>
          <a:ln/>
        </p:spPr>
        <p:txBody>
          <a:bodyPr wrap="square" rtlCol="0" anchor="t"/>
          <a:lstStyle/>
          <a:p>
            <a:pPr marL="0" indent="0">
              <a:buNone/>
            </a:pPr>
            <a:r>
              <a:rPr lang="en-US" sz="1200" b="1" dirty="0">
                <a:solidFill>
                  <a:srgbClr val="1A2140"/>
                </a:solidFill>
                <a:latin typeface="Calibri" pitchFamily="34" charset="0"/>
                <a:ea typeface="Calibri" pitchFamily="34" charset="-122"/>
                <a:cs typeface="Calibri" pitchFamily="34" charset="-120"/>
              </a:rPr>
              <a:t>Kuni Likitha</a:t>
            </a:r>
            <a:endParaRPr lang="en-US" sz="1200" dirty="0"/>
          </a:p>
        </p:txBody>
      </p:sp>
      <p:sp>
        <p:nvSpPr>
          <p:cNvPr id="7" name="Text 5"/>
          <p:cNvSpPr/>
          <p:nvPr/>
        </p:nvSpPr>
        <p:spPr>
          <a:xfrm>
            <a:off x="685800" y="1828800"/>
            <a:ext cx="2377440" cy="411480"/>
          </a:xfrm>
          <a:prstGeom prst="rect">
            <a:avLst/>
          </a:prstGeom>
          <a:noFill/>
          <a:ln/>
        </p:spPr>
        <p:txBody>
          <a:bodyPr wrap="square" rtlCol="0" anchor="t"/>
          <a:lstStyle/>
          <a:p>
            <a:pPr marL="0" indent="0">
              <a:lnSpc>
                <a:spcPct val="105000"/>
              </a:lnSpc>
              <a:buNone/>
            </a:pPr>
            <a:r>
              <a:rPr lang="en-US" sz="1000" b="1" dirty="0">
                <a:solidFill>
                  <a:srgbClr val="1F8A5A"/>
                </a:solidFill>
                <a:latin typeface="Calibri" pitchFamily="34" charset="0"/>
                <a:ea typeface="Calibri" pitchFamily="34" charset="-122"/>
                <a:cs typeface="Calibri" pitchFamily="34" charset="-120"/>
              </a:rPr>
              <a:t>Data Lineage &amp; Feature Engineering</a:t>
            </a:r>
            <a:endParaRPr lang="en-US" sz="1000" dirty="0"/>
          </a:p>
        </p:txBody>
      </p:sp>
      <p:sp>
        <p:nvSpPr>
          <p:cNvPr id="8" name="Text 6"/>
          <p:cNvSpPr/>
          <p:nvPr/>
        </p:nvSpPr>
        <p:spPr>
          <a:xfrm>
            <a:off x="685800" y="2249424"/>
            <a:ext cx="2377440" cy="292608"/>
          </a:xfrm>
          <a:prstGeom prst="rect">
            <a:avLst/>
          </a:prstGeom>
          <a:noFill/>
          <a:ln/>
        </p:spPr>
        <p:txBody>
          <a:bodyPr wrap="square" rtlCol="0" anchor="t"/>
          <a:lstStyle/>
          <a:p>
            <a:pPr marL="0" indent="0">
              <a:buNone/>
            </a:pPr>
            <a:r>
              <a:rPr lang="en-US" sz="850" dirty="0">
                <a:solidFill>
                  <a:srgbClr val="667085"/>
                </a:solidFill>
                <a:latin typeface="Courier New" pitchFamily="34" charset="0"/>
                <a:ea typeface="Courier New" pitchFamily="34" charset="-122"/>
                <a:cs typeface="Courier New" pitchFamily="34" charset="-120"/>
              </a:rPr>
              <a:t>config.py · ingest.py · schemas.py · engineer.py</a:t>
            </a:r>
            <a:endParaRPr lang="en-US" sz="850" dirty="0"/>
          </a:p>
        </p:txBody>
      </p:sp>
      <p:sp>
        <p:nvSpPr>
          <p:cNvPr id="9" name="Text 7"/>
          <p:cNvSpPr/>
          <p:nvPr/>
        </p:nvSpPr>
        <p:spPr>
          <a:xfrm>
            <a:off x="685800" y="2523744"/>
            <a:ext cx="2377440" cy="329184"/>
          </a:xfrm>
          <a:prstGeom prst="rect">
            <a:avLst/>
          </a:prstGeom>
          <a:noFill/>
          <a:ln/>
        </p:spPr>
        <p:txBody>
          <a:bodyPr wrap="square" rtlCol="0" anchor="t"/>
          <a:lstStyle/>
          <a:p>
            <a:pPr marL="0" indent="0">
              <a:buNone/>
            </a:pPr>
            <a:r>
              <a:rPr lang="en-US" sz="850" i="1" dirty="0">
                <a:solidFill>
                  <a:srgbClr val="1F8A5A"/>
                </a:solidFill>
                <a:latin typeface="Calibri" pitchFamily="34" charset="0"/>
                <a:ea typeface="Calibri" pitchFamily="34" charset="-122"/>
                <a:cs typeface="Calibri" pitchFamily="34" charset="-120"/>
              </a:rPr>
              <a:t>Objective 1 Lead — Ingestion &amp; Validation (Complete)</a:t>
            </a:r>
            <a:endParaRPr lang="en-US" sz="850" dirty="0"/>
          </a:p>
        </p:txBody>
      </p:sp>
      <p:sp>
        <p:nvSpPr>
          <p:cNvPr id="10" name="Shape 8"/>
          <p:cNvSpPr/>
          <p:nvPr/>
        </p:nvSpPr>
        <p:spPr>
          <a:xfrm>
            <a:off x="3346704" y="1353312"/>
            <a:ext cx="2651760" cy="1554480"/>
          </a:xfrm>
          <a:prstGeom prst="roundRect">
            <a:avLst>
              <a:gd name="adj" fmla="val 4706"/>
            </a:avLst>
          </a:prstGeom>
          <a:solidFill>
            <a:srgbClr val="FFFFFF"/>
          </a:solidFill>
          <a:ln w="12700">
            <a:solidFill>
              <a:srgbClr val="E4E8F0"/>
            </a:solidFill>
            <a:prstDash val="solid"/>
          </a:ln>
        </p:spPr>
      </p:sp>
      <p:sp>
        <p:nvSpPr>
          <p:cNvPr id="11" name="Shape 9"/>
          <p:cNvSpPr/>
          <p:nvPr/>
        </p:nvSpPr>
        <p:spPr>
          <a:xfrm>
            <a:off x="3346704" y="1353312"/>
            <a:ext cx="2651760" cy="73152"/>
          </a:xfrm>
          <a:prstGeom prst="rect">
            <a:avLst/>
          </a:prstGeom>
          <a:solidFill>
            <a:srgbClr val="1E2761"/>
          </a:solidFill>
          <a:ln/>
        </p:spPr>
      </p:sp>
      <p:sp>
        <p:nvSpPr>
          <p:cNvPr id="12" name="Text 10"/>
          <p:cNvSpPr/>
          <p:nvPr/>
        </p:nvSpPr>
        <p:spPr>
          <a:xfrm>
            <a:off x="3483864" y="1490472"/>
            <a:ext cx="2377440" cy="347472"/>
          </a:xfrm>
          <a:prstGeom prst="rect">
            <a:avLst/>
          </a:prstGeom>
          <a:noFill/>
          <a:ln/>
        </p:spPr>
        <p:txBody>
          <a:bodyPr wrap="square" rtlCol="0" anchor="t"/>
          <a:lstStyle/>
          <a:p>
            <a:pPr marL="0" indent="0">
              <a:buNone/>
            </a:pPr>
            <a:r>
              <a:rPr lang="en-US" sz="1200" b="1" dirty="0">
                <a:solidFill>
                  <a:srgbClr val="1A2140"/>
                </a:solidFill>
                <a:latin typeface="Calibri" pitchFamily="34" charset="0"/>
                <a:ea typeface="Calibri" pitchFamily="34" charset="-122"/>
                <a:cs typeface="Calibri" pitchFamily="34" charset="-120"/>
              </a:rPr>
              <a:t>Madala Phanindra</a:t>
            </a:r>
            <a:endParaRPr lang="en-US" sz="1200" dirty="0"/>
          </a:p>
        </p:txBody>
      </p:sp>
      <p:sp>
        <p:nvSpPr>
          <p:cNvPr id="13" name="Text 11"/>
          <p:cNvSpPr/>
          <p:nvPr/>
        </p:nvSpPr>
        <p:spPr>
          <a:xfrm>
            <a:off x="3483864" y="1828800"/>
            <a:ext cx="2377440" cy="411480"/>
          </a:xfrm>
          <a:prstGeom prst="rect">
            <a:avLst/>
          </a:prstGeom>
          <a:noFill/>
          <a:ln/>
        </p:spPr>
        <p:txBody>
          <a:bodyPr wrap="square" rtlCol="0" anchor="t"/>
          <a:lstStyle/>
          <a:p>
            <a:pPr marL="0" indent="0">
              <a:lnSpc>
                <a:spcPct val="105000"/>
              </a:lnSpc>
              <a:buNone/>
            </a:pPr>
            <a:r>
              <a:rPr lang="en-US" sz="1000" b="1" dirty="0">
                <a:solidFill>
                  <a:srgbClr val="1E2761"/>
                </a:solidFill>
                <a:latin typeface="Calibri" pitchFamily="34" charset="0"/>
                <a:ea typeface="Calibri" pitchFamily="34" charset="-122"/>
                <a:cs typeface="Calibri" pitchFamily="34" charset="-120"/>
              </a:rPr>
              <a:t>Black-Box Baselines &amp; 5-Fold Cross-Val</a:t>
            </a:r>
            <a:endParaRPr lang="en-US" sz="1000" dirty="0"/>
          </a:p>
        </p:txBody>
      </p:sp>
      <p:sp>
        <p:nvSpPr>
          <p:cNvPr id="14" name="Text 12"/>
          <p:cNvSpPr/>
          <p:nvPr/>
        </p:nvSpPr>
        <p:spPr>
          <a:xfrm>
            <a:off x="3483864" y="2249424"/>
            <a:ext cx="2377440" cy="292608"/>
          </a:xfrm>
          <a:prstGeom prst="rect">
            <a:avLst/>
          </a:prstGeom>
          <a:noFill/>
          <a:ln/>
        </p:spPr>
        <p:txBody>
          <a:bodyPr wrap="square" rtlCol="0" anchor="t"/>
          <a:lstStyle/>
          <a:p>
            <a:pPr marL="0" indent="0">
              <a:buNone/>
            </a:pPr>
            <a:r>
              <a:rPr lang="en-US" sz="850" dirty="0">
                <a:solidFill>
                  <a:srgbClr val="667085"/>
                </a:solidFill>
                <a:latin typeface="Courier New" pitchFamily="34" charset="0"/>
                <a:ea typeface="Courier New" pitchFamily="34" charset="-122"/>
                <a:cs typeface="Courier New" pitchFamily="34" charset="-120"/>
              </a:rPr>
              <a:t>baseline.py · cross_country.py · catboost_opt.py</a:t>
            </a:r>
            <a:endParaRPr lang="en-US" sz="850" dirty="0"/>
          </a:p>
        </p:txBody>
      </p:sp>
      <p:sp>
        <p:nvSpPr>
          <p:cNvPr id="15" name="Text 13"/>
          <p:cNvSpPr/>
          <p:nvPr/>
        </p:nvSpPr>
        <p:spPr>
          <a:xfrm>
            <a:off x="3483864" y="2523744"/>
            <a:ext cx="2377440" cy="329184"/>
          </a:xfrm>
          <a:prstGeom prst="rect">
            <a:avLst/>
          </a:prstGeom>
          <a:noFill/>
          <a:ln/>
        </p:spPr>
        <p:txBody>
          <a:bodyPr wrap="square" rtlCol="0" anchor="t"/>
          <a:lstStyle/>
          <a:p>
            <a:pPr marL="0" indent="0">
              <a:buNone/>
            </a:pPr>
            <a:r>
              <a:rPr lang="en-US" sz="850" i="1" dirty="0">
                <a:solidFill>
                  <a:srgbClr val="8A5A00"/>
                </a:solidFill>
                <a:latin typeface="Calibri" pitchFamily="34" charset="0"/>
                <a:ea typeface="Calibri" pitchFamily="34" charset="-122"/>
                <a:cs typeface="Calibri" pitchFamily="34" charset="-120"/>
              </a:rPr>
              <a:t>Objective 2 Lead — LR, RF, XGB, LGBM, CatBoost</a:t>
            </a:r>
            <a:endParaRPr lang="en-US" sz="850" dirty="0"/>
          </a:p>
        </p:txBody>
      </p:sp>
      <p:sp>
        <p:nvSpPr>
          <p:cNvPr id="16" name="Shape 14"/>
          <p:cNvSpPr/>
          <p:nvPr/>
        </p:nvSpPr>
        <p:spPr>
          <a:xfrm>
            <a:off x="6144768" y="1353312"/>
            <a:ext cx="2651760" cy="1554480"/>
          </a:xfrm>
          <a:prstGeom prst="roundRect">
            <a:avLst>
              <a:gd name="adj" fmla="val 4706"/>
            </a:avLst>
          </a:prstGeom>
          <a:solidFill>
            <a:srgbClr val="FFFFFF"/>
          </a:solidFill>
          <a:ln w="12700">
            <a:solidFill>
              <a:srgbClr val="E4E8F0"/>
            </a:solidFill>
            <a:prstDash val="solid"/>
          </a:ln>
        </p:spPr>
      </p:sp>
      <p:sp>
        <p:nvSpPr>
          <p:cNvPr id="17" name="Shape 15"/>
          <p:cNvSpPr/>
          <p:nvPr/>
        </p:nvSpPr>
        <p:spPr>
          <a:xfrm>
            <a:off x="6144768" y="1353312"/>
            <a:ext cx="2651760" cy="73152"/>
          </a:xfrm>
          <a:prstGeom prst="rect">
            <a:avLst/>
          </a:prstGeom>
          <a:solidFill>
            <a:srgbClr val="D98E04"/>
          </a:solidFill>
          <a:ln/>
        </p:spPr>
      </p:sp>
      <p:sp>
        <p:nvSpPr>
          <p:cNvPr id="18" name="Text 16"/>
          <p:cNvSpPr/>
          <p:nvPr/>
        </p:nvSpPr>
        <p:spPr>
          <a:xfrm>
            <a:off x="6281928" y="1490472"/>
            <a:ext cx="2377440" cy="347472"/>
          </a:xfrm>
          <a:prstGeom prst="rect">
            <a:avLst/>
          </a:prstGeom>
          <a:noFill/>
          <a:ln/>
        </p:spPr>
        <p:txBody>
          <a:bodyPr wrap="square" rtlCol="0" anchor="t"/>
          <a:lstStyle/>
          <a:p>
            <a:pPr marL="0" indent="0">
              <a:buNone/>
            </a:pPr>
            <a:r>
              <a:rPr lang="en-US" sz="1200" b="1" dirty="0">
                <a:solidFill>
                  <a:srgbClr val="1A2140"/>
                </a:solidFill>
                <a:latin typeface="Calibri" pitchFamily="34" charset="0"/>
                <a:ea typeface="Calibri" pitchFamily="34" charset="-122"/>
                <a:cs typeface="Calibri" pitchFamily="34" charset="-120"/>
              </a:rPr>
              <a:t>Mahesh Sai Bhima</a:t>
            </a:r>
            <a:endParaRPr lang="en-US" sz="1200" dirty="0"/>
          </a:p>
        </p:txBody>
      </p:sp>
      <p:sp>
        <p:nvSpPr>
          <p:cNvPr id="19" name="Text 17"/>
          <p:cNvSpPr/>
          <p:nvPr/>
        </p:nvSpPr>
        <p:spPr>
          <a:xfrm>
            <a:off x="6281928" y="1828800"/>
            <a:ext cx="2377440" cy="411480"/>
          </a:xfrm>
          <a:prstGeom prst="rect">
            <a:avLst/>
          </a:prstGeom>
          <a:noFill/>
          <a:ln/>
        </p:spPr>
        <p:txBody>
          <a:bodyPr wrap="square" rtlCol="0" anchor="t"/>
          <a:lstStyle/>
          <a:p>
            <a:pPr marL="0" indent="0">
              <a:lnSpc>
                <a:spcPct val="105000"/>
              </a:lnSpc>
              <a:buNone/>
            </a:pPr>
            <a:r>
              <a:rPr lang="en-US" sz="1000" b="1" dirty="0">
                <a:solidFill>
                  <a:srgbClr val="1E2761"/>
                </a:solidFill>
                <a:latin typeface="Calibri" pitchFamily="34" charset="0"/>
                <a:ea typeface="Calibri" pitchFamily="34" charset="-122"/>
                <a:cs typeface="Calibri" pitchFamily="34" charset="-120"/>
              </a:rPr>
              <a:t>Interpretable Models &amp; Trade-off Analysis</a:t>
            </a:r>
            <a:endParaRPr lang="en-US" sz="1000" dirty="0"/>
          </a:p>
        </p:txBody>
      </p:sp>
      <p:sp>
        <p:nvSpPr>
          <p:cNvPr id="20" name="Text 18"/>
          <p:cNvSpPr/>
          <p:nvPr/>
        </p:nvSpPr>
        <p:spPr>
          <a:xfrm>
            <a:off x="6281928" y="2249424"/>
            <a:ext cx="2377440" cy="292608"/>
          </a:xfrm>
          <a:prstGeom prst="rect">
            <a:avLst/>
          </a:prstGeom>
          <a:noFill/>
          <a:ln/>
        </p:spPr>
        <p:txBody>
          <a:bodyPr wrap="square" rtlCol="0" anchor="t"/>
          <a:lstStyle/>
          <a:p>
            <a:pPr marL="0" indent="0">
              <a:buNone/>
            </a:pPr>
            <a:r>
              <a:rPr lang="en-US" sz="850" dirty="0">
                <a:solidFill>
                  <a:srgbClr val="667085"/>
                </a:solidFill>
                <a:latin typeface="Courier New" pitchFamily="34" charset="0"/>
                <a:ea typeface="Courier New" pitchFamily="34" charset="-122"/>
                <a:cs typeface="Courier New" pitchFamily="34" charset="-120"/>
              </a:rPr>
              <a:t>interpretable.py · trade_off.py · ebm_shape.py</a:t>
            </a:r>
            <a:endParaRPr lang="en-US" sz="850" dirty="0"/>
          </a:p>
        </p:txBody>
      </p:sp>
      <p:sp>
        <p:nvSpPr>
          <p:cNvPr id="21" name="Text 19"/>
          <p:cNvSpPr/>
          <p:nvPr/>
        </p:nvSpPr>
        <p:spPr>
          <a:xfrm>
            <a:off x="6281928" y="2523744"/>
            <a:ext cx="2377440" cy="329184"/>
          </a:xfrm>
          <a:prstGeom prst="rect">
            <a:avLst/>
          </a:prstGeom>
          <a:noFill/>
          <a:ln/>
        </p:spPr>
        <p:txBody>
          <a:bodyPr wrap="square" rtlCol="0" anchor="t"/>
          <a:lstStyle/>
          <a:p>
            <a:pPr marL="0" indent="0">
              <a:buNone/>
            </a:pPr>
            <a:r>
              <a:rPr lang="en-US" sz="850" i="1" dirty="0">
                <a:solidFill>
                  <a:srgbClr val="8A5A00"/>
                </a:solidFill>
                <a:latin typeface="Calibri" pitchFamily="34" charset="0"/>
                <a:ea typeface="Calibri" pitchFamily="34" charset="-122"/>
                <a:cs typeface="Calibri" pitchFamily="34" charset="-120"/>
              </a:rPr>
              <a:t>Objective 3 Lead — EBM / GA²M Interpretability Engine</a:t>
            </a:r>
            <a:endParaRPr lang="en-US" sz="850" dirty="0"/>
          </a:p>
        </p:txBody>
      </p:sp>
      <p:sp>
        <p:nvSpPr>
          <p:cNvPr id="22" name="Shape 20"/>
          <p:cNvSpPr/>
          <p:nvPr/>
        </p:nvSpPr>
        <p:spPr>
          <a:xfrm>
            <a:off x="8942832" y="1353312"/>
            <a:ext cx="2651760" cy="1554480"/>
          </a:xfrm>
          <a:prstGeom prst="roundRect">
            <a:avLst>
              <a:gd name="adj" fmla="val 4706"/>
            </a:avLst>
          </a:prstGeom>
          <a:solidFill>
            <a:srgbClr val="FFFFFF"/>
          </a:solidFill>
          <a:ln w="12700">
            <a:solidFill>
              <a:srgbClr val="E4E8F0"/>
            </a:solidFill>
            <a:prstDash val="solid"/>
          </a:ln>
        </p:spPr>
      </p:sp>
      <p:sp>
        <p:nvSpPr>
          <p:cNvPr id="23" name="Shape 21"/>
          <p:cNvSpPr/>
          <p:nvPr/>
        </p:nvSpPr>
        <p:spPr>
          <a:xfrm>
            <a:off x="8942832" y="1353312"/>
            <a:ext cx="2651760" cy="73152"/>
          </a:xfrm>
          <a:prstGeom prst="rect">
            <a:avLst/>
          </a:prstGeom>
          <a:solidFill>
            <a:srgbClr val="1E2761"/>
          </a:solidFill>
          <a:ln/>
        </p:spPr>
      </p:sp>
      <p:sp>
        <p:nvSpPr>
          <p:cNvPr id="24" name="Text 22"/>
          <p:cNvSpPr/>
          <p:nvPr/>
        </p:nvSpPr>
        <p:spPr>
          <a:xfrm>
            <a:off x="9079992" y="1490472"/>
            <a:ext cx="2377440" cy="347472"/>
          </a:xfrm>
          <a:prstGeom prst="rect">
            <a:avLst/>
          </a:prstGeom>
          <a:noFill/>
          <a:ln/>
        </p:spPr>
        <p:txBody>
          <a:bodyPr wrap="square" rtlCol="0" anchor="t"/>
          <a:lstStyle/>
          <a:p>
            <a:pPr marL="0" indent="0">
              <a:buNone/>
            </a:pPr>
            <a:r>
              <a:rPr lang="en-US" sz="1200" b="1" dirty="0">
                <a:solidFill>
                  <a:srgbClr val="1A2140"/>
                </a:solidFill>
                <a:latin typeface="Calibri" pitchFamily="34" charset="0"/>
                <a:ea typeface="Calibri" pitchFamily="34" charset="-122"/>
                <a:cs typeface="Calibri" pitchFamily="34" charset="-120"/>
              </a:rPr>
              <a:t>Punyala Rama Krishna Reddy</a:t>
            </a:r>
            <a:endParaRPr lang="en-US" sz="1200" dirty="0"/>
          </a:p>
        </p:txBody>
      </p:sp>
      <p:sp>
        <p:nvSpPr>
          <p:cNvPr id="25" name="Text 23"/>
          <p:cNvSpPr/>
          <p:nvPr/>
        </p:nvSpPr>
        <p:spPr>
          <a:xfrm>
            <a:off x="9079992" y="1828800"/>
            <a:ext cx="2377440" cy="411480"/>
          </a:xfrm>
          <a:prstGeom prst="rect">
            <a:avLst/>
          </a:prstGeom>
          <a:noFill/>
          <a:ln/>
        </p:spPr>
        <p:txBody>
          <a:bodyPr wrap="square" rtlCol="0" anchor="t"/>
          <a:lstStyle/>
          <a:p>
            <a:pPr marL="0" indent="0">
              <a:lnSpc>
                <a:spcPct val="105000"/>
              </a:lnSpc>
              <a:buNone/>
            </a:pPr>
            <a:r>
              <a:rPr lang="en-US" sz="1000" b="1" dirty="0">
                <a:solidFill>
                  <a:srgbClr val="1E2761"/>
                </a:solidFill>
                <a:latin typeface="Calibri" pitchFamily="34" charset="0"/>
                <a:ea typeface="Calibri" pitchFamily="34" charset="-122"/>
                <a:cs typeface="Calibri" pitchFamily="34" charset="-120"/>
              </a:rPr>
              <a:t>Assurance, Error-Cost &amp; Recourse Lead</a:t>
            </a:r>
            <a:endParaRPr lang="en-US" sz="1000" dirty="0"/>
          </a:p>
        </p:txBody>
      </p:sp>
      <p:sp>
        <p:nvSpPr>
          <p:cNvPr id="26" name="Text 24"/>
          <p:cNvSpPr/>
          <p:nvPr/>
        </p:nvSpPr>
        <p:spPr>
          <a:xfrm>
            <a:off x="9079992" y="2249424"/>
            <a:ext cx="2377440" cy="292608"/>
          </a:xfrm>
          <a:prstGeom prst="rect">
            <a:avLst/>
          </a:prstGeom>
          <a:noFill/>
          <a:ln/>
        </p:spPr>
        <p:txBody>
          <a:bodyPr wrap="square" rtlCol="0" anchor="t"/>
          <a:lstStyle/>
          <a:p>
            <a:pPr marL="0" indent="0">
              <a:buNone/>
            </a:pPr>
            <a:r>
              <a:rPr lang="en-US" sz="850" dirty="0">
                <a:solidFill>
                  <a:srgbClr val="667085"/>
                </a:solidFill>
                <a:latin typeface="Courier New" pitchFamily="34" charset="0"/>
                <a:ea typeface="Courier New" pitchFamily="34" charset="-122"/>
                <a:cs typeface="Courier New" pitchFamily="34" charset="-120"/>
              </a:rPr>
              <a:t>error_cost.py · counterfactual.py · kpi_eval.py</a:t>
            </a:r>
            <a:endParaRPr lang="en-US" sz="850" dirty="0"/>
          </a:p>
        </p:txBody>
      </p:sp>
      <p:sp>
        <p:nvSpPr>
          <p:cNvPr id="27" name="Text 25"/>
          <p:cNvSpPr/>
          <p:nvPr/>
        </p:nvSpPr>
        <p:spPr>
          <a:xfrm>
            <a:off x="9079992" y="2523744"/>
            <a:ext cx="2377440" cy="329184"/>
          </a:xfrm>
          <a:prstGeom prst="rect">
            <a:avLst/>
          </a:prstGeom>
          <a:noFill/>
          <a:ln/>
        </p:spPr>
        <p:txBody>
          <a:bodyPr wrap="square" rtlCol="0" anchor="t"/>
          <a:lstStyle/>
          <a:p>
            <a:pPr marL="0" indent="0">
              <a:buNone/>
            </a:pPr>
            <a:r>
              <a:rPr lang="en-US" sz="850" i="1" dirty="0">
                <a:solidFill>
                  <a:srgbClr val="8A5A00"/>
                </a:solidFill>
                <a:latin typeface="Calibri" pitchFamily="34" charset="0"/>
                <a:ea typeface="Calibri" pitchFamily="34" charset="-122"/>
                <a:cs typeface="Calibri" pitchFamily="34" charset="-120"/>
              </a:rPr>
              <a:t>Objective 4/5 Lead — Policy Loss &amp; Recourse Engine</a:t>
            </a:r>
            <a:endParaRPr lang="en-US" sz="850" dirty="0"/>
          </a:p>
        </p:txBody>
      </p:sp>
      <p:sp>
        <p:nvSpPr>
          <p:cNvPr id="28" name="Text 26"/>
          <p:cNvSpPr/>
          <p:nvPr/>
        </p:nvSpPr>
        <p:spPr>
          <a:xfrm>
            <a:off x="548640" y="3227832"/>
            <a:ext cx="8229600" cy="256032"/>
          </a:xfrm>
          <a:prstGeom prst="rect">
            <a:avLst/>
          </a:prstGeom>
          <a:noFill/>
          <a:ln/>
        </p:spPr>
        <p:txBody>
          <a:bodyPr wrap="square" rtlCol="0" anchor="ctr"/>
          <a:lstStyle/>
          <a:p>
            <a:pPr marL="0" indent="0">
              <a:buNone/>
            </a:pPr>
            <a:r>
              <a:rPr lang="en-US" sz="1100" b="1" kern="0" spc="100" dirty="0">
                <a:solidFill>
                  <a:srgbClr val="D98E04"/>
                </a:solidFill>
                <a:latin typeface="Calibri" pitchFamily="34" charset="0"/>
                <a:ea typeface="Calibri" pitchFamily="34" charset="-122"/>
                <a:cs typeface="Calibri" pitchFamily="34" charset="-120"/>
              </a:rPr>
              <a:t>PROJECT ROADMAP — IMMEDIATE DELIVERABLES FOR REVIEW 3</a:t>
            </a:r>
            <a:endParaRPr lang="en-US" sz="1100" dirty="0"/>
          </a:p>
        </p:txBody>
      </p:sp>
      <p:sp>
        <p:nvSpPr>
          <p:cNvPr id="29" name="Shape 27"/>
          <p:cNvSpPr/>
          <p:nvPr/>
        </p:nvSpPr>
        <p:spPr>
          <a:xfrm>
            <a:off x="548640" y="3520440"/>
            <a:ext cx="3429000" cy="868680"/>
          </a:xfrm>
          <a:prstGeom prst="roundRect">
            <a:avLst>
              <a:gd name="adj" fmla="val 8421"/>
            </a:avLst>
          </a:prstGeom>
          <a:solidFill>
            <a:srgbClr val="1F8A5A"/>
          </a:solidFill>
          <a:ln/>
        </p:spPr>
      </p:sp>
      <p:sp>
        <p:nvSpPr>
          <p:cNvPr id="30" name="Text 28"/>
          <p:cNvSpPr/>
          <p:nvPr/>
        </p:nvSpPr>
        <p:spPr>
          <a:xfrm>
            <a:off x="685800" y="3593592"/>
            <a:ext cx="3154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O1 Data Foundation</a:t>
            </a:r>
            <a:endParaRPr lang="en-US" sz="1200" dirty="0"/>
          </a:p>
        </p:txBody>
      </p:sp>
      <p:sp>
        <p:nvSpPr>
          <p:cNvPr id="31" name="Text 29"/>
          <p:cNvSpPr/>
          <p:nvPr/>
        </p:nvSpPr>
        <p:spPr>
          <a:xfrm>
            <a:off x="685800" y="3867912"/>
            <a:ext cx="3154680" cy="457200"/>
          </a:xfrm>
          <a:prstGeom prst="rect">
            <a:avLst/>
          </a:prstGeom>
          <a:noFill/>
          <a:ln/>
        </p:spPr>
        <p:txBody>
          <a:bodyPr wrap="square" rtlCol="0" anchor="t"/>
          <a:lstStyle/>
          <a:p>
            <a:pPr marL="0" indent="0" algn="ctr">
              <a:lnSpc>
                <a:spcPct val="108000"/>
              </a:lnSpc>
              <a:buNone/>
            </a:pPr>
            <a:r>
              <a:rPr lang="en-US" sz="1050" dirty="0">
                <a:solidFill>
                  <a:srgbClr val="FFFFFF"/>
                </a:solidFill>
                <a:latin typeface="Calibri" pitchFamily="34" charset="0"/>
                <a:ea typeface="Calibri" pitchFamily="34" charset="-122"/>
                <a:cs typeface="Calibri" pitchFamily="34" charset="-120"/>
              </a:rPr>
              <a:t>✓ 100% COMPLETE</a:t>
            </a:r>
            <a:endParaRPr lang="en-US" sz="1050" dirty="0"/>
          </a:p>
          <a:p>
            <a:pPr marL="0" indent="0" algn="ctr">
              <a:lnSpc>
                <a:spcPct val="108000"/>
              </a:lnSpc>
              <a:buNone/>
            </a:pPr>
            <a:r>
              <a:rPr lang="en-US" sz="1050" dirty="0">
                <a:solidFill>
                  <a:srgbClr val="FFFFFF"/>
                </a:solidFill>
                <a:latin typeface="Calibri" pitchFamily="34" charset="0"/>
                <a:ea typeface="Calibri" pitchFamily="34" charset="-122"/>
                <a:cs typeface="Calibri" pitchFamily="34" charset="-120"/>
              </a:rPr>
              <a:t>8 Countries, 24 Schemas, 55k HH</a:t>
            </a:r>
            <a:endParaRPr lang="en-US" sz="1050" dirty="0"/>
          </a:p>
        </p:txBody>
      </p:sp>
      <p:sp>
        <p:nvSpPr>
          <p:cNvPr id="32" name="Text 30"/>
          <p:cNvSpPr/>
          <p:nvPr/>
        </p:nvSpPr>
        <p:spPr>
          <a:xfrm>
            <a:off x="3977640" y="3520440"/>
            <a:ext cx="32004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4297680" y="3520440"/>
            <a:ext cx="3429000" cy="868680"/>
          </a:xfrm>
          <a:prstGeom prst="roundRect">
            <a:avLst>
              <a:gd name="adj" fmla="val 8421"/>
            </a:avLst>
          </a:prstGeom>
          <a:solidFill>
            <a:srgbClr val="1E2761"/>
          </a:solidFill>
          <a:ln/>
        </p:spPr>
      </p:sp>
      <p:sp>
        <p:nvSpPr>
          <p:cNvPr id="34" name="Text 32"/>
          <p:cNvSpPr/>
          <p:nvPr/>
        </p:nvSpPr>
        <p:spPr>
          <a:xfrm>
            <a:off x="4434840" y="3593592"/>
            <a:ext cx="3154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O2 Black-Box Baselines</a:t>
            </a:r>
            <a:endParaRPr lang="en-US" sz="1200" dirty="0"/>
          </a:p>
        </p:txBody>
      </p:sp>
      <p:sp>
        <p:nvSpPr>
          <p:cNvPr id="35" name="Text 33"/>
          <p:cNvSpPr/>
          <p:nvPr/>
        </p:nvSpPr>
        <p:spPr>
          <a:xfrm>
            <a:off x="4434840" y="3867912"/>
            <a:ext cx="3154680" cy="457200"/>
          </a:xfrm>
          <a:prstGeom prst="rect">
            <a:avLst/>
          </a:prstGeom>
          <a:noFill/>
          <a:ln/>
        </p:spPr>
        <p:txBody>
          <a:bodyPr wrap="square" rtlCol="0" anchor="t"/>
          <a:lstStyle/>
          <a:p>
            <a:pPr marL="0" indent="0" algn="ctr">
              <a:lnSpc>
                <a:spcPct val="108000"/>
              </a:lnSpc>
              <a:buNone/>
            </a:pPr>
            <a:r>
              <a:rPr lang="en-US" sz="1050" dirty="0">
                <a:solidFill>
                  <a:srgbClr val="CADCFC"/>
                </a:solidFill>
                <a:latin typeface="Calibri" pitchFamily="34" charset="0"/>
                <a:ea typeface="Calibri" pitchFamily="34" charset="-122"/>
                <a:cs typeface="Calibri" pitchFamily="34" charset="-120"/>
              </a:rPr>
              <a:t>IN PROGRESS — Review 3</a:t>
            </a:r>
            <a:endParaRPr lang="en-US" sz="1050" dirty="0"/>
          </a:p>
          <a:p>
            <a:pPr marL="0" indent="0" algn="ctr">
              <a:lnSpc>
                <a:spcPct val="108000"/>
              </a:lnSpc>
              <a:buNone/>
            </a:pPr>
            <a:r>
              <a:rPr lang="en-US" sz="1050" dirty="0">
                <a:solidFill>
                  <a:srgbClr val="CADCFC"/>
                </a:solidFill>
                <a:latin typeface="Calibri" pitchFamily="34" charset="0"/>
                <a:ea typeface="Calibri" pitchFamily="34" charset="-122"/>
                <a:cs typeface="Calibri" pitchFamily="34" charset="-120"/>
              </a:rPr>
              <a:t>LR, RF, XGB, LGBM, CatBoost (5-Fold CV)</a:t>
            </a:r>
            <a:endParaRPr lang="en-US" sz="1050" dirty="0"/>
          </a:p>
        </p:txBody>
      </p:sp>
      <p:sp>
        <p:nvSpPr>
          <p:cNvPr id="36" name="Text 34"/>
          <p:cNvSpPr/>
          <p:nvPr/>
        </p:nvSpPr>
        <p:spPr>
          <a:xfrm>
            <a:off x="7726680" y="3520440"/>
            <a:ext cx="320040" cy="868680"/>
          </a:xfrm>
          <a:prstGeom prst="rect">
            <a:avLst/>
          </a:prstGeom>
          <a:noFill/>
          <a:ln/>
        </p:spPr>
        <p:txBody>
          <a:bodyPr wrap="square" rtlCol="0" anchor="ctr"/>
          <a:lstStyle/>
          <a:p>
            <a:pPr marL="0" indent="0" algn="ctr">
              <a:buNone/>
            </a:pPr>
            <a:r>
              <a:rPr lang="en-US" sz="1600" b="1" dirty="0">
                <a:solidFill>
                  <a:srgbClr val="667085"/>
                </a:solidFill>
                <a:latin typeface="Calibri" pitchFamily="34" charset="0"/>
                <a:ea typeface="Calibri" pitchFamily="34" charset="-122"/>
                <a:cs typeface="Calibri" pitchFamily="34" charset="-120"/>
              </a:rPr>
              <a:t>→</a:t>
            </a:r>
            <a:endParaRPr lang="en-US" sz="1600" dirty="0"/>
          </a:p>
        </p:txBody>
      </p:sp>
      <p:sp>
        <p:nvSpPr>
          <p:cNvPr id="37" name="Shape 35"/>
          <p:cNvSpPr/>
          <p:nvPr/>
        </p:nvSpPr>
        <p:spPr>
          <a:xfrm>
            <a:off x="8046720" y="3520440"/>
            <a:ext cx="3429000" cy="868680"/>
          </a:xfrm>
          <a:prstGeom prst="roundRect">
            <a:avLst>
              <a:gd name="adj" fmla="val 8421"/>
            </a:avLst>
          </a:prstGeom>
          <a:solidFill>
            <a:srgbClr val="1E2761"/>
          </a:solidFill>
          <a:ln/>
        </p:spPr>
      </p:sp>
      <p:sp>
        <p:nvSpPr>
          <p:cNvPr id="38" name="Text 36"/>
          <p:cNvSpPr/>
          <p:nvPr/>
        </p:nvSpPr>
        <p:spPr>
          <a:xfrm>
            <a:off x="8183880" y="3593592"/>
            <a:ext cx="3154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Within vs. Cross-Country Transfer</a:t>
            </a:r>
            <a:endParaRPr lang="en-US" sz="1200" dirty="0"/>
          </a:p>
        </p:txBody>
      </p:sp>
      <p:sp>
        <p:nvSpPr>
          <p:cNvPr id="39" name="Text 37"/>
          <p:cNvSpPr/>
          <p:nvPr/>
        </p:nvSpPr>
        <p:spPr>
          <a:xfrm>
            <a:off x="8183880" y="3867912"/>
            <a:ext cx="3154680" cy="457200"/>
          </a:xfrm>
          <a:prstGeom prst="rect">
            <a:avLst/>
          </a:prstGeom>
          <a:noFill/>
          <a:ln/>
        </p:spPr>
        <p:txBody>
          <a:bodyPr wrap="square" rtlCol="0" anchor="t"/>
          <a:lstStyle/>
          <a:p>
            <a:pPr marL="0" indent="0" algn="ctr">
              <a:lnSpc>
                <a:spcPct val="108000"/>
              </a:lnSpc>
              <a:buNone/>
            </a:pPr>
            <a:r>
              <a:rPr lang="en-US" sz="1050" dirty="0">
                <a:solidFill>
                  <a:srgbClr val="CADCFC"/>
                </a:solidFill>
                <a:latin typeface="Calibri" pitchFamily="34" charset="0"/>
                <a:ea typeface="Calibri" pitchFamily="34" charset="-122"/>
                <a:cs typeface="Calibri" pitchFamily="34" charset="-120"/>
              </a:rPr>
              <a:t>IN PROGRESS — Review 3</a:t>
            </a:r>
            <a:endParaRPr lang="en-US" sz="1050" dirty="0"/>
          </a:p>
          <a:p>
            <a:pPr marL="0" indent="0" algn="ctr">
              <a:lnSpc>
                <a:spcPct val="108000"/>
              </a:lnSpc>
              <a:buNone/>
            </a:pPr>
            <a:r>
              <a:rPr lang="en-US" sz="1050" dirty="0">
                <a:solidFill>
                  <a:srgbClr val="CADCFC"/>
                </a:solidFill>
                <a:latin typeface="Calibri" pitchFamily="34" charset="0"/>
                <a:ea typeface="Calibri" pitchFamily="34" charset="-122"/>
                <a:cs typeface="Calibri" pitchFamily="34" charset="-120"/>
              </a:rPr>
              <a:t>Withheld-Country Evaluation Benchmark</a:t>
            </a:r>
            <a:endParaRPr lang="en-US" sz="1050" dirty="0"/>
          </a:p>
        </p:txBody>
      </p:sp>
      <p:sp>
        <p:nvSpPr>
          <p:cNvPr id="40" name="Shape 38"/>
          <p:cNvSpPr/>
          <p:nvPr/>
        </p:nvSpPr>
        <p:spPr>
          <a:xfrm>
            <a:off x="548640" y="4590288"/>
            <a:ext cx="11094415" cy="475488"/>
          </a:xfrm>
          <a:prstGeom prst="roundRect">
            <a:avLst>
              <a:gd name="adj" fmla="val 15385"/>
            </a:avLst>
          </a:prstGeom>
          <a:solidFill>
            <a:srgbClr val="EEF3FE"/>
          </a:solidFill>
          <a:ln w="12700">
            <a:solidFill>
              <a:srgbClr val="CADCFC"/>
            </a:solidFill>
            <a:prstDash val="solid"/>
          </a:ln>
        </p:spPr>
      </p:sp>
      <p:sp>
        <p:nvSpPr>
          <p:cNvPr id="41" name="Text 39"/>
          <p:cNvSpPr/>
          <p:nvPr/>
        </p:nvSpPr>
        <p:spPr>
          <a:xfrm>
            <a:off x="777240" y="4590288"/>
            <a:ext cx="10637215" cy="475488"/>
          </a:xfrm>
          <a:prstGeom prst="rect">
            <a:avLst/>
          </a:prstGeom>
          <a:noFill/>
          <a:ln/>
        </p:spPr>
        <p:txBody>
          <a:bodyPr wrap="square" rtlCol="0" anchor="ctr"/>
          <a:lstStyle/>
          <a:p>
            <a:pPr marL="0" indent="0">
              <a:buNone/>
            </a:pPr>
            <a:r>
              <a:rPr lang="en-US" sz="1050" i="1" dirty="0">
                <a:solidFill>
                  <a:srgbClr val="667085"/>
                </a:solidFill>
                <a:latin typeface="Calibri" pitchFamily="34" charset="0"/>
                <a:ea typeface="Calibri" pitchFamily="34" charset="-122"/>
                <a:cs typeface="Calibri" pitchFamily="34" charset="-120"/>
              </a:rPr>
              <a:t>Capstone II Scope (Sem VIII): Objective 3 (EBM Interpretable Engineering) → Objective 4 (Asymmetric Loss &amp; Recourse) → Objective 5 (Safety Suite)</a:t>
            </a:r>
            <a:endParaRPr lang="en-US" sz="1050" dirty="0"/>
          </a:p>
        </p:txBody>
      </p:sp>
      <p:sp>
        <p:nvSpPr>
          <p:cNvPr id="42" name="Text 40"/>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27</a:t>
            </a:r>
            <a:endParaRPr lang="en-US" sz="950" dirty="0"/>
          </a:p>
        </p:txBody>
      </p:sp>
      <p:sp>
        <p:nvSpPr>
          <p:cNvPr id="43" name="Text 41"/>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1094415" cy="256032"/>
          </a:xfrm>
          <a:prstGeom prst="rect">
            <a:avLst/>
          </a:prstGeom>
          <a:noFill/>
          <a:ln/>
        </p:spPr>
        <p:txBody>
          <a:bodyPr wrap="square" rtlCol="0" anchor="ctr"/>
          <a:lstStyle/>
          <a:p>
            <a:pPr marL="0" indent="0" algn="l">
              <a:buNone/>
            </a:pPr>
            <a:r>
              <a:rPr lang="en-US" sz="1100" b="1" kern="0" spc="200" dirty="0">
                <a:solidFill>
                  <a:srgbClr val="D98E04"/>
                </a:solidFill>
                <a:latin typeface="Calibri" pitchFamily="34" charset="0"/>
                <a:ea typeface="Calibri" pitchFamily="34" charset="-122"/>
                <a:cs typeface="Calibri" pitchFamily="34" charset="-120"/>
              </a:rPr>
              <a:t>EVALUATION RUBRIC CRITERION 5</a:t>
            </a:r>
            <a:endParaRPr lang="en-US" sz="1100" dirty="0"/>
          </a:p>
        </p:txBody>
      </p:sp>
      <p:sp>
        <p:nvSpPr>
          <p:cNvPr id="3" name="Text 1"/>
          <p:cNvSpPr/>
          <p:nvPr/>
        </p:nvSpPr>
        <p:spPr>
          <a:xfrm>
            <a:off x="548640" y="603504"/>
            <a:ext cx="11094415" cy="658368"/>
          </a:xfrm>
          <a:prstGeom prst="rect">
            <a:avLst/>
          </a:prstGeom>
          <a:noFill/>
          <a:ln/>
        </p:spPr>
        <p:txBody>
          <a:bodyPr wrap="square" rtlCol="0" anchor="t"/>
          <a:lstStyle/>
          <a:p>
            <a:pPr marL="0" indent="0" algn="l">
              <a:buNone/>
            </a:pPr>
            <a:r>
              <a:rPr lang="en-US" sz="2500" b="1" dirty="0">
                <a:solidFill>
                  <a:srgbClr val="1E2761"/>
                </a:solidFill>
                <a:latin typeface="Cambria" pitchFamily="34" charset="0"/>
                <a:ea typeface="Cambria" pitchFamily="34" charset="-122"/>
                <a:cs typeface="Cambria" pitchFamily="34" charset="-120"/>
              </a:rPr>
              <a:t>Teamwork &amp; Agile Practice: Sprint Planning &amp; Iterative Development</a:t>
            </a:r>
            <a:endParaRPr lang="en-US" sz="2500" dirty="0"/>
          </a:p>
        </p:txBody>
      </p:sp>
      <p:sp>
        <p:nvSpPr>
          <p:cNvPr id="4" name="Shape 2"/>
          <p:cNvSpPr/>
          <p:nvPr/>
        </p:nvSpPr>
        <p:spPr>
          <a:xfrm>
            <a:off x="548640" y="1353312"/>
            <a:ext cx="3547872" cy="3200400"/>
          </a:xfrm>
          <a:prstGeom prst="roundRect">
            <a:avLst>
              <a:gd name="adj" fmla="val 2286"/>
            </a:avLst>
          </a:prstGeom>
          <a:solidFill>
            <a:srgbClr val="FFFFFF"/>
          </a:solidFill>
          <a:ln w="12700">
            <a:solidFill>
              <a:srgbClr val="1F8A5A"/>
            </a:solidFill>
            <a:prstDash val="solid"/>
          </a:ln>
        </p:spPr>
      </p:sp>
      <p:sp>
        <p:nvSpPr>
          <p:cNvPr id="5" name="Shape 3"/>
          <p:cNvSpPr/>
          <p:nvPr/>
        </p:nvSpPr>
        <p:spPr>
          <a:xfrm>
            <a:off x="548640" y="1353312"/>
            <a:ext cx="3547872" cy="457200"/>
          </a:xfrm>
          <a:prstGeom prst="roundRect">
            <a:avLst>
              <a:gd name="adj" fmla="val 16000"/>
            </a:avLst>
          </a:prstGeom>
          <a:solidFill>
            <a:srgbClr val="1E2761"/>
          </a:solidFill>
          <a:ln/>
        </p:spPr>
      </p:sp>
      <p:sp>
        <p:nvSpPr>
          <p:cNvPr id="6" name="Shape 4"/>
          <p:cNvSpPr/>
          <p:nvPr/>
        </p:nvSpPr>
        <p:spPr>
          <a:xfrm>
            <a:off x="548640" y="1581912"/>
            <a:ext cx="3547872" cy="228600"/>
          </a:xfrm>
          <a:prstGeom prst="rect">
            <a:avLst/>
          </a:prstGeom>
          <a:solidFill>
            <a:srgbClr val="1E2761"/>
          </a:solidFill>
          <a:ln/>
        </p:spPr>
      </p:sp>
      <p:sp>
        <p:nvSpPr>
          <p:cNvPr id="7" name="Text 5"/>
          <p:cNvSpPr/>
          <p:nvPr/>
        </p:nvSpPr>
        <p:spPr>
          <a:xfrm>
            <a:off x="640080" y="1353312"/>
            <a:ext cx="3364992"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SPRINT 1 (Weeks 1–3)</a:t>
            </a:r>
            <a:endParaRPr lang="en-US" sz="1150" dirty="0"/>
          </a:p>
        </p:txBody>
      </p:sp>
      <p:sp>
        <p:nvSpPr>
          <p:cNvPr id="8" name="Text 6"/>
          <p:cNvSpPr/>
          <p:nvPr/>
        </p:nvSpPr>
        <p:spPr>
          <a:xfrm>
            <a:off x="640080" y="1883664"/>
            <a:ext cx="3364992" cy="274320"/>
          </a:xfrm>
          <a:prstGeom prst="rect">
            <a:avLst/>
          </a:prstGeom>
          <a:noFill/>
          <a:ln/>
        </p:spPr>
        <p:txBody>
          <a:bodyPr wrap="square" rtlCol="0" anchor="ctr"/>
          <a:lstStyle/>
          <a:p>
            <a:pPr marL="0" indent="0" algn="ctr">
              <a:buNone/>
            </a:pPr>
            <a:r>
              <a:rPr lang="en-US" sz="1050" b="1" dirty="0">
                <a:solidFill>
                  <a:srgbClr val="1A2140"/>
                </a:solidFill>
                <a:latin typeface="Calibri" pitchFamily="34" charset="0"/>
                <a:ea typeface="Calibri" pitchFamily="34" charset="-122"/>
                <a:cs typeface="Calibri" pitchFamily="34" charset="-120"/>
              </a:rPr>
              <a:t>Charter, Ingestion &amp; Schemas</a:t>
            </a:r>
            <a:endParaRPr lang="en-US" sz="1050" dirty="0"/>
          </a:p>
        </p:txBody>
      </p:sp>
      <p:sp>
        <p:nvSpPr>
          <p:cNvPr id="9" name="Shape 7"/>
          <p:cNvSpPr/>
          <p:nvPr/>
        </p:nvSpPr>
        <p:spPr>
          <a:xfrm>
            <a:off x="822960" y="2221992"/>
            <a:ext cx="2999232" cy="292608"/>
          </a:xfrm>
          <a:prstGeom prst="roundRect">
            <a:avLst>
              <a:gd name="adj" fmla="val 15625"/>
            </a:avLst>
          </a:prstGeom>
          <a:solidFill>
            <a:srgbClr val="E8F5E9"/>
          </a:solidFill>
          <a:ln w="12700">
            <a:solidFill>
              <a:srgbClr val="1F8A5A"/>
            </a:solidFill>
            <a:prstDash val="solid"/>
          </a:ln>
        </p:spPr>
      </p:sp>
      <p:sp>
        <p:nvSpPr>
          <p:cNvPr id="10" name="Text 8"/>
          <p:cNvSpPr/>
          <p:nvPr/>
        </p:nvSpPr>
        <p:spPr>
          <a:xfrm>
            <a:off x="822960" y="2221992"/>
            <a:ext cx="2999232" cy="292608"/>
          </a:xfrm>
          <a:prstGeom prst="rect">
            <a:avLst/>
          </a:prstGeom>
          <a:noFill/>
          <a:ln/>
        </p:spPr>
        <p:txBody>
          <a:bodyPr wrap="square" rtlCol="0" anchor="ctr"/>
          <a:lstStyle/>
          <a:p>
            <a:pPr marL="0" indent="0" algn="ctr">
              <a:buNone/>
            </a:pPr>
            <a:r>
              <a:rPr lang="en-US" sz="950" b="1" dirty="0">
                <a:solidFill>
                  <a:srgbClr val="1F8A5A"/>
                </a:solidFill>
                <a:latin typeface="Calibri" pitchFamily="34" charset="0"/>
                <a:ea typeface="Calibri" pitchFamily="34" charset="-122"/>
                <a:cs typeface="Calibri" pitchFamily="34" charset="-120"/>
              </a:rPr>
              <a:t>✓ COMPLETED  ·  Velocity: 24 / 24 Pts (100%)</a:t>
            </a:r>
            <a:endParaRPr lang="en-US" sz="950" dirty="0"/>
          </a:p>
        </p:txBody>
      </p:sp>
      <p:sp>
        <p:nvSpPr>
          <p:cNvPr id="11" name="Text 9"/>
          <p:cNvSpPr/>
          <p:nvPr/>
        </p:nvSpPr>
        <p:spPr>
          <a:xfrm>
            <a:off x="731520" y="2633472"/>
            <a:ext cx="3182112" cy="201168"/>
          </a:xfrm>
          <a:prstGeom prst="rect">
            <a:avLst/>
          </a:prstGeom>
          <a:noFill/>
          <a:ln/>
        </p:spPr>
        <p:txBody>
          <a:bodyPr wrap="square" rtlCol="0" anchor="ctr"/>
          <a:lstStyle/>
          <a:p>
            <a:pPr marL="0" indent="0">
              <a:buNone/>
            </a:pPr>
            <a:r>
              <a:rPr lang="en-US" sz="900" b="1" kern="0" spc="100" dirty="0">
                <a:solidFill>
                  <a:srgbClr val="D98E04"/>
                </a:solidFill>
                <a:latin typeface="Calibri" pitchFamily="34" charset="0"/>
                <a:ea typeface="Calibri" pitchFamily="34" charset="-122"/>
                <a:cs typeface="Calibri" pitchFamily="34" charset="-120"/>
              </a:rPr>
              <a:t>SPRINT USER STORIES</a:t>
            </a:r>
            <a:endParaRPr lang="en-US" sz="900" dirty="0"/>
          </a:p>
        </p:txBody>
      </p:sp>
      <p:sp>
        <p:nvSpPr>
          <p:cNvPr id="12" name="Text 10"/>
          <p:cNvSpPr/>
          <p:nvPr/>
        </p:nvSpPr>
        <p:spPr>
          <a:xfrm>
            <a:off x="731520" y="2862072"/>
            <a:ext cx="3182112" cy="1554480"/>
          </a:xfrm>
          <a:prstGeom prst="rect">
            <a:avLst/>
          </a:prstGeom>
          <a:noFill/>
          <a:ln/>
        </p:spPr>
        <p:txBody>
          <a:bodyPr wrap="square" rtlCol="0" anchor="t"/>
          <a:lstStyle/>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US-1.1: Problem charter &amp; UN SDG 1/10 mapping</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US-1.2: Raw EHCVM ingestion &amp; SHA-256 lineage</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US-1.3: 24 Pandera DataFrameSchemas authored</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US-1.4: 12-paper literature survey &amp; gap analysis</a:t>
            </a:r>
            <a:endParaRPr lang="en-US" sz="950" dirty="0"/>
          </a:p>
        </p:txBody>
      </p:sp>
      <p:sp>
        <p:nvSpPr>
          <p:cNvPr id="13" name="Shape 11"/>
          <p:cNvSpPr/>
          <p:nvPr/>
        </p:nvSpPr>
        <p:spPr>
          <a:xfrm>
            <a:off x="4315968" y="1353312"/>
            <a:ext cx="3547872" cy="3200400"/>
          </a:xfrm>
          <a:prstGeom prst="roundRect">
            <a:avLst>
              <a:gd name="adj" fmla="val 2286"/>
            </a:avLst>
          </a:prstGeom>
          <a:solidFill>
            <a:srgbClr val="FFFFFF"/>
          </a:solidFill>
          <a:ln w="12700">
            <a:solidFill>
              <a:srgbClr val="1F8A5A"/>
            </a:solidFill>
            <a:prstDash val="solid"/>
          </a:ln>
          <a:effectLst>
            <a:outerShdw blurRad="76200" dist="25400" dir="5400000" algn="bl" rotWithShape="0">
              <a:srgbClr val="8A8FA3">
                <a:alpha val="25000"/>
              </a:srgbClr>
            </a:outerShdw>
          </a:effectLst>
        </p:spPr>
      </p:sp>
      <p:sp>
        <p:nvSpPr>
          <p:cNvPr id="14" name="Shape 12"/>
          <p:cNvSpPr/>
          <p:nvPr/>
        </p:nvSpPr>
        <p:spPr>
          <a:xfrm>
            <a:off x="4315968" y="1353312"/>
            <a:ext cx="3547872" cy="457200"/>
          </a:xfrm>
          <a:prstGeom prst="roundRect">
            <a:avLst>
              <a:gd name="adj" fmla="val 16000"/>
            </a:avLst>
          </a:prstGeom>
          <a:solidFill>
            <a:srgbClr val="1E2761"/>
          </a:solidFill>
          <a:ln/>
        </p:spPr>
      </p:sp>
      <p:sp>
        <p:nvSpPr>
          <p:cNvPr id="15" name="Shape 13"/>
          <p:cNvSpPr/>
          <p:nvPr/>
        </p:nvSpPr>
        <p:spPr>
          <a:xfrm>
            <a:off x="4315968" y="1581912"/>
            <a:ext cx="3547872" cy="228600"/>
          </a:xfrm>
          <a:prstGeom prst="rect">
            <a:avLst/>
          </a:prstGeom>
          <a:solidFill>
            <a:srgbClr val="1E2761"/>
          </a:solidFill>
          <a:ln/>
        </p:spPr>
      </p:sp>
      <p:sp>
        <p:nvSpPr>
          <p:cNvPr id="16" name="Text 14"/>
          <p:cNvSpPr/>
          <p:nvPr/>
        </p:nvSpPr>
        <p:spPr>
          <a:xfrm>
            <a:off x="4407408" y="1353312"/>
            <a:ext cx="3364992"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SPRINT 2 (Weeks 4–6)</a:t>
            </a:r>
            <a:endParaRPr lang="en-US" sz="1150" dirty="0"/>
          </a:p>
        </p:txBody>
      </p:sp>
      <p:sp>
        <p:nvSpPr>
          <p:cNvPr id="17" name="Text 15"/>
          <p:cNvSpPr/>
          <p:nvPr/>
        </p:nvSpPr>
        <p:spPr>
          <a:xfrm>
            <a:off x="4407408" y="1883664"/>
            <a:ext cx="3364992" cy="274320"/>
          </a:xfrm>
          <a:prstGeom prst="rect">
            <a:avLst/>
          </a:prstGeom>
          <a:noFill/>
          <a:ln/>
        </p:spPr>
        <p:txBody>
          <a:bodyPr wrap="square" rtlCol="0" anchor="ctr"/>
          <a:lstStyle/>
          <a:p>
            <a:pPr marL="0" indent="0" algn="ctr">
              <a:buNone/>
            </a:pPr>
            <a:r>
              <a:rPr lang="en-US" sz="1050" b="1" dirty="0">
                <a:solidFill>
                  <a:srgbClr val="1A2140"/>
                </a:solidFill>
                <a:latin typeface="Calibri" pitchFamily="34" charset="0"/>
                <a:ea typeface="Calibri" pitchFamily="34" charset="-122"/>
                <a:cs typeface="Calibri" pitchFamily="34" charset="-120"/>
              </a:rPr>
              <a:t>Relational Engineering &amp; O1 Release</a:t>
            </a:r>
            <a:endParaRPr lang="en-US" sz="1050" dirty="0"/>
          </a:p>
        </p:txBody>
      </p:sp>
      <p:sp>
        <p:nvSpPr>
          <p:cNvPr id="18" name="Shape 16"/>
          <p:cNvSpPr/>
          <p:nvPr/>
        </p:nvSpPr>
        <p:spPr>
          <a:xfrm>
            <a:off x="4590288" y="2221992"/>
            <a:ext cx="2999232" cy="292608"/>
          </a:xfrm>
          <a:prstGeom prst="roundRect">
            <a:avLst>
              <a:gd name="adj" fmla="val 15625"/>
            </a:avLst>
          </a:prstGeom>
          <a:solidFill>
            <a:srgbClr val="E8F5E9"/>
          </a:solidFill>
          <a:ln w="12700">
            <a:solidFill>
              <a:srgbClr val="1F8A5A"/>
            </a:solidFill>
            <a:prstDash val="solid"/>
          </a:ln>
        </p:spPr>
      </p:sp>
      <p:sp>
        <p:nvSpPr>
          <p:cNvPr id="19" name="Text 17"/>
          <p:cNvSpPr/>
          <p:nvPr/>
        </p:nvSpPr>
        <p:spPr>
          <a:xfrm>
            <a:off x="4590288" y="2221992"/>
            <a:ext cx="2999232" cy="292608"/>
          </a:xfrm>
          <a:prstGeom prst="rect">
            <a:avLst/>
          </a:prstGeom>
          <a:noFill/>
          <a:ln/>
        </p:spPr>
        <p:txBody>
          <a:bodyPr wrap="square" rtlCol="0" anchor="ctr"/>
          <a:lstStyle/>
          <a:p>
            <a:pPr marL="0" indent="0" algn="ctr">
              <a:buNone/>
            </a:pPr>
            <a:r>
              <a:rPr lang="en-US" sz="950" b="1" dirty="0">
                <a:solidFill>
                  <a:srgbClr val="1F8A5A"/>
                </a:solidFill>
                <a:latin typeface="Calibri" pitchFamily="34" charset="0"/>
                <a:ea typeface="Calibri" pitchFamily="34" charset="-122"/>
                <a:cs typeface="Calibri" pitchFamily="34" charset="-120"/>
              </a:rPr>
              <a:t>✓ COMPLETED (Review 2)  ·  Velocity: 30 / 30 Pts (100%)</a:t>
            </a:r>
            <a:endParaRPr lang="en-US" sz="950" dirty="0"/>
          </a:p>
        </p:txBody>
      </p:sp>
      <p:sp>
        <p:nvSpPr>
          <p:cNvPr id="20" name="Text 18"/>
          <p:cNvSpPr/>
          <p:nvPr/>
        </p:nvSpPr>
        <p:spPr>
          <a:xfrm>
            <a:off x="4498848" y="2633472"/>
            <a:ext cx="3182112" cy="201168"/>
          </a:xfrm>
          <a:prstGeom prst="rect">
            <a:avLst/>
          </a:prstGeom>
          <a:noFill/>
          <a:ln/>
        </p:spPr>
        <p:txBody>
          <a:bodyPr wrap="square" rtlCol="0" anchor="ctr"/>
          <a:lstStyle/>
          <a:p>
            <a:pPr marL="0" indent="0">
              <a:buNone/>
            </a:pPr>
            <a:r>
              <a:rPr lang="en-US" sz="900" b="1" kern="0" spc="100" dirty="0">
                <a:solidFill>
                  <a:srgbClr val="D98E04"/>
                </a:solidFill>
                <a:latin typeface="Calibri" pitchFamily="34" charset="0"/>
                <a:ea typeface="Calibri" pitchFamily="34" charset="-122"/>
                <a:cs typeface="Calibri" pitchFamily="34" charset="-120"/>
              </a:rPr>
              <a:t>SPRINT USER STORIES</a:t>
            </a:r>
            <a:endParaRPr lang="en-US" sz="900" dirty="0"/>
          </a:p>
        </p:txBody>
      </p:sp>
      <p:sp>
        <p:nvSpPr>
          <p:cNvPr id="21" name="Text 19"/>
          <p:cNvSpPr/>
          <p:nvPr/>
        </p:nvSpPr>
        <p:spPr>
          <a:xfrm>
            <a:off x="4498848" y="2862072"/>
            <a:ext cx="3182112" cy="1554480"/>
          </a:xfrm>
          <a:prstGeom prst="rect">
            <a:avLst/>
          </a:prstGeom>
          <a:noFill/>
          <a:ln/>
        </p:spPr>
        <p:txBody>
          <a:bodyPr wrap="square" rtlCol="0" anchor="t"/>
          <a:lstStyle/>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US-2.1: 3-tier relational merge on (country, hhid)</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US-2.2: Roster member aggregation (mean, max)</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US-2.3: Deterministic median/mode imputation</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US-2.4: Zero-leakage target formulation &amp; purge</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US-2.5: Automated EDA plots &amp; profile tables</a:t>
            </a:r>
            <a:endParaRPr lang="en-US" sz="950" dirty="0"/>
          </a:p>
        </p:txBody>
      </p:sp>
      <p:sp>
        <p:nvSpPr>
          <p:cNvPr id="22" name="Shape 20"/>
          <p:cNvSpPr/>
          <p:nvPr/>
        </p:nvSpPr>
        <p:spPr>
          <a:xfrm>
            <a:off x="8083296" y="1353312"/>
            <a:ext cx="3547872" cy="3200400"/>
          </a:xfrm>
          <a:prstGeom prst="roundRect">
            <a:avLst>
              <a:gd name="adj" fmla="val 2286"/>
            </a:avLst>
          </a:prstGeom>
          <a:solidFill>
            <a:srgbClr val="FFFFFF"/>
          </a:solidFill>
          <a:ln w="12700">
            <a:solidFill>
              <a:srgbClr val="E4E8F0"/>
            </a:solidFill>
            <a:prstDash val="solid"/>
          </a:ln>
        </p:spPr>
      </p:sp>
      <p:sp>
        <p:nvSpPr>
          <p:cNvPr id="23" name="Shape 21"/>
          <p:cNvSpPr/>
          <p:nvPr/>
        </p:nvSpPr>
        <p:spPr>
          <a:xfrm>
            <a:off x="8083296" y="1353312"/>
            <a:ext cx="3547872" cy="457200"/>
          </a:xfrm>
          <a:prstGeom prst="roundRect">
            <a:avLst>
              <a:gd name="adj" fmla="val 16000"/>
            </a:avLst>
          </a:prstGeom>
          <a:solidFill>
            <a:srgbClr val="141A45"/>
          </a:solidFill>
          <a:ln/>
        </p:spPr>
      </p:sp>
      <p:sp>
        <p:nvSpPr>
          <p:cNvPr id="24" name="Shape 22"/>
          <p:cNvSpPr/>
          <p:nvPr/>
        </p:nvSpPr>
        <p:spPr>
          <a:xfrm>
            <a:off x="8083296" y="1581912"/>
            <a:ext cx="3547872" cy="228600"/>
          </a:xfrm>
          <a:prstGeom prst="rect">
            <a:avLst/>
          </a:prstGeom>
          <a:solidFill>
            <a:srgbClr val="141A45"/>
          </a:solidFill>
          <a:ln/>
        </p:spPr>
      </p:sp>
      <p:sp>
        <p:nvSpPr>
          <p:cNvPr id="25" name="Text 23"/>
          <p:cNvSpPr/>
          <p:nvPr/>
        </p:nvSpPr>
        <p:spPr>
          <a:xfrm>
            <a:off x="8174736" y="1353312"/>
            <a:ext cx="3364992"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SPRINT 3 (Weeks 7–9)</a:t>
            </a:r>
            <a:endParaRPr lang="en-US" sz="1150" dirty="0"/>
          </a:p>
        </p:txBody>
      </p:sp>
      <p:sp>
        <p:nvSpPr>
          <p:cNvPr id="26" name="Text 24"/>
          <p:cNvSpPr/>
          <p:nvPr/>
        </p:nvSpPr>
        <p:spPr>
          <a:xfrm>
            <a:off x="8174736" y="1883664"/>
            <a:ext cx="3364992" cy="274320"/>
          </a:xfrm>
          <a:prstGeom prst="rect">
            <a:avLst/>
          </a:prstGeom>
          <a:noFill/>
          <a:ln/>
        </p:spPr>
        <p:txBody>
          <a:bodyPr wrap="square" rtlCol="0" anchor="ctr"/>
          <a:lstStyle/>
          <a:p>
            <a:pPr marL="0" indent="0" algn="ctr">
              <a:buNone/>
            </a:pPr>
            <a:r>
              <a:rPr lang="en-US" sz="1050" b="1" dirty="0">
                <a:solidFill>
                  <a:srgbClr val="1A2140"/>
                </a:solidFill>
                <a:latin typeface="Calibri" pitchFamily="34" charset="0"/>
                <a:ea typeface="Calibri" pitchFamily="34" charset="-122"/>
                <a:cs typeface="Calibri" pitchFamily="34" charset="-120"/>
              </a:rPr>
              <a:t>LOCO Evaluation &amp; Baselines</a:t>
            </a:r>
            <a:endParaRPr lang="en-US" sz="1050" dirty="0"/>
          </a:p>
        </p:txBody>
      </p:sp>
      <p:sp>
        <p:nvSpPr>
          <p:cNvPr id="27" name="Shape 25"/>
          <p:cNvSpPr/>
          <p:nvPr/>
        </p:nvSpPr>
        <p:spPr>
          <a:xfrm>
            <a:off x="8357616" y="2221992"/>
            <a:ext cx="2999232" cy="292608"/>
          </a:xfrm>
          <a:prstGeom prst="roundRect">
            <a:avLst>
              <a:gd name="adj" fmla="val 15625"/>
            </a:avLst>
          </a:prstGeom>
          <a:solidFill>
            <a:srgbClr val="FBEBCC"/>
          </a:solidFill>
          <a:ln w="12700">
            <a:solidFill>
              <a:srgbClr val="8A5A00"/>
            </a:solidFill>
            <a:prstDash val="solid"/>
          </a:ln>
        </p:spPr>
      </p:sp>
      <p:sp>
        <p:nvSpPr>
          <p:cNvPr id="28" name="Text 26"/>
          <p:cNvSpPr/>
          <p:nvPr/>
        </p:nvSpPr>
        <p:spPr>
          <a:xfrm>
            <a:off x="8357616" y="2221992"/>
            <a:ext cx="2999232" cy="292608"/>
          </a:xfrm>
          <a:prstGeom prst="rect">
            <a:avLst/>
          </a:prstGeom>
          <a:noFill/>
          <a:ln/>
        </p:spPr>
        <p:txBody>
          <a:bodyPr wrap="square" rtlCol="0" anchor="ctr"/>
          <a:lstStyle/>
          <a:p>
            <a:pPr marL="0" indent="0" algn="ctr">
              <a:buNone/>
            </a:pPr>
            <a:r>
              <a:rPr lang="en-US" sz="950" b="1" dirty="0">
                <a:solidFill>
                  <a:srgbClr val="8A5A00"/>
                </a:solidFill>
                <a:latin typeface="Calibri" pitchFamily="34" charset="0"/>
                <a:ea typeface="Calibri" pitchFamily="34" charset="-122"/>
                <a:cs typeface="Calibri" pitchFamily="34" charset="-120"/>
              </a:rPr>
              <a:t>IN PROGRESS (Review 3)  ·  Velocity: 26 Story Points</a:t>
            </a:r>
            <a:endParaRPr lang="en-US" sz="950" dirty="0"/>
          </a:p>
        </p:txBody>
      </p:sp>
      <p:sp>
        <p:nvSpPr>
          <p:cNvPr id="29" name="Text 27"/>
          <p:cNvSpPr/>
          <p:nvPr/>
        </p:nvSpPr>
        <p:spPr>
          <a:xfrm>
            <a:off x="8266176" y="2633472"/>
            <a:ext cx="3182112" cy="201168"/>
          </a:xfrm>
          <a:prstGeom prst="rect">
            <a:avLst/>
          </a:prstGeom>
          <a:noFill/>
          <a:ln/>
        </p:spPr>
        <p:txBody>
          <a:bodyPr wrap="square" rtlCol="0" anchor="ctr"/>
          <a:lstStyle/>
          <a:p>
            <a:pPr marL="0" indent="0">
              <a:buNone/>
            </a:pPr>
            <a:r>
              <a:rPr lang="en-US" sz="900" b="1" kern="0" spc="100" dirty="0">
                <a:solidFill>
                  <a:srgbClr val="D98E04"/>
                </a:solidFill>
                <a:latin typeface="Calibri" pitchFamily="34" charset="0"/>
                <a:ea typeface="Calibri" pitchFamily="34" charset="-122"/>
                <a:cs typeface="Calibri" pitchFamily="34" charset="-120"/>
              </a:rPr>
              <a:t>SPRINT USER STORIES</a:t>
            </a:r>
            <a:endParaRPr lang="en-US" sz="900" dirty="0"/>
          </a:p>
        </p:txBody>
      </p:sp>
      <p:sp>
        <p:nvSpPr>
          <p:cNvPr id="30" name="Text 28"/>
          <p:cNvSpPr/>
          <p:nvPr/>
        </p:nvSpPr>
        <p:spPr>
          <a:xfrm>
            <a:off x="8266176" y="2862072"/>
            <a:ext cx="3182112" cy="1554480"/>
          </a:xfrm>
          <a:prstGeom prst="rect">
            <a:avLst/>
          </a:prstGeom>
          <a:noFill/>
          <a:ln/>
        </p:spPr>
        <p:txBody>
          <a:bodyPr wrap="square" rtlCol="0" anchor="t"/>
          <a:lstStyle/>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US-3.1: 8-fold LOCO partition generator</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US-3.2: 300-tree RF &amp; XGBoost baseline models</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US-3.3: Spatial transfer penalty quantification</a:t>
            </a:r>
            <a:endParaRPr lang="en-US" sz="950" dirty="0"/>
          </a:p>
          <a:p>
            <a:pPr marL="342900" indent="-342900">
              <a:lnSpc>
                <a:spcPct val="105000"/>
              </a:lnSpc>
              <a:buSzPct val="100000"/>
              <a:buChar char="•"/>
            </a:pPr>
            <a:r>
              <a:rPr lang="en-US" sz="950" dirty="0">
                <a:solidFill>
                  <a:srgbClr val="1A2140"/>
                </a:solidFill>
                <a:latin typeface="Calibri" pitchFamily="34" charset="0"/>
                <a:ea typeface="Calibri" pitchFamily="34" charset="-122"/>
                <a:cs typeface="Calibri" pitchFamily="34" charset="-120"/>
              </a:rPr>
              <a:t>US-3.4: Interactive Streamlit telemetry dashboard</a:t>
            </a:r>
            <a:endParaRPr lang="en-US" sz="950" dirty="0"/>
          </a:p>
        </p:txBody>
      </p:sp>
      <p:sp>
        <p:nvSpPr>
          <p:cNvPr id="31" name="Shape 29"/>
          <p:cNvSpPr/>
          <p:nvPr/>
        </p:nvSpPr>
        <p:spPr>
          <a:xfrm>
            <a:off x="548640" y="4782312"/>
            <a:ext cx="11094415" cy="1280160"/>
          </a:xfrm>
          <a:prstGeom prst="roundRect">
            <a:avLst>
              <a:gd name="adj" fmla="val 5714"/>
            </a:avLst>
          </a:prstGeom>
          <a:solidFill>
            <a:srgbClr val="EEF3FE"/>
          </a:solidFill>
          <a:ln w="12700">
            <a:solidFill>
              <a:srgbClr val="CADCFC"/>
            </a:solidFill>
            <a:prstDash val="solid"/>
          </a:ln>
        </p:spPr>
      </p:sp>
      <p:sp>
        <p:nvSpPr>
          <p:cNvPr id="32" name="Text 30"/>
          <p:cNvSpPr/>
          <p:nvPr/>
        </p:nvSpPr>
        <p:spPr>
          <a:xfrm>
            <a:off x="777240" y="4873752"/>
            <a:ext cx="10637215" cy="256032"/>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AGILE SCRUM CEREMONIES &amp; DEFINITION OF DONE (DoD) QUALITY ASSURANCE</a:t>
            </a:r>
            <a:endParaRPr lang="en-US" sz="1100" dirty="0"/>
          </a:p>
        </p:txBody>
      </p:sp>
      <p:sp>
        <p:nvSpPr>
          <p:cNvPr id="33" name="Text 31"/>
          <p:cNvSpPr/>
          <p:nvPr/>
        </p:nvSpPr>
        <p:spPr>
          <a:xfrm>
            <a:off x="777240" y="5148072"/>
            <a:ext cx="1920240" cy="25603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Scrum Ceremonies:</a:t>
            </a:r>
            <a:endParaRPr lang="en-US" sz="1000" dirty="0"/>
          </a:p>
        </p:txBody>
      </p:sp>
      <p:sp>
        <p:nvSpPr>
          <p:cNvPr id="34" name="Text 32"/>
          <p:cNvSpPr/>
          <p:nvPr/>
        </p:nvSpPr>
        <p:spPr>
          <a:xfrm>
            <a:off x="2743200" y="5148072"/>
            <a:ext cx="8808415" cy="256032"/>
          </a:xfrm>
          <a:prstGeom prst="rect">
            <a:avLst/>
          </a:prstGeom>
          <a:noFill/>
          <a:ln/>
        </p:spPr>
        <p:txBody>
          <a:bodyPr wrap="square" rtlCol="0" anchor="ctr"/>
          <a:lstStyle/>
          <a:p>
            <a:pPr marL="0" indent="0">
              <a:buNone/>
            </a:pPr>
            <a:r>
              <a:rPr lang="en-US" sz="1000" dirty="0">
                <a:solidFill>
                  <a:srgbClr val="1A2140"/>
                </a:solidFill>
                <a:latin typeface="Calibri" pitchFamily="34" charset="0"/>
                <a:ea typeface="Calibri" pitchFamily="34" charset="-122"/>
                <a:cs typeface="Calibri" pitchFamily="34" charset="-120"/>
              </a:rPr>
              <a:t>Bi-weekly Sprint planning; twice-weekly standups (Tuesday &amp; Friday at 4:30 PM); Sprint review &amp; retrospective.</a:t>
            </a:r>
            <a:endParaRPr lang="en-US" sz="1000" dirty="0"/>
          </a:p>
        </p:txBody>
      </p:sp>
      <p:sp>
        <p:nvSpPr>
          <p:cNvPr id="35" name="Text 33"/>
          <p:cNvSpPr/>
          <p:nvPr/>
        </p:nvSpPr>
        <p:spPr>
          <a:xfrm>
            <a:off x="777240" y="5422392"/>
            <a:ext cx="1920240" cy="25603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Definition of Done (DoD):</a:t>
            </a:r>
            <a:endParaRPr lang="en-US" sz="1000" dirty="0"/>
          </a:p>
        </p:txBody>
      </p:sp>
      <p:sp>
        <p:nvSpPr>
          <p:cNvPr id="36" name="Text 34"/>
          <p:cNvSpPr/>
          <p:nvPr/>
        </p:nvSpPr>
        <p:spPr>
          <a:xfrm>
            <a:off x="2743200" y="5422392"/>
            <a:ext cx="8808415" cy="256032"/>
          </a:xfrm>
          <a:prstGeom prst="rect">
            <a:avLst/>
          </a:prstGeom>
          <a:noFill/>
          <a:ln/>
        </p:spPr>
        <p:txBody>
          <a:bodyPr wrap="square" rtlCol="0" anchor="ctr"/>
          <a:lstStyle/>
          <a:p>
            <a:pPr marL="0" indent="0">
              <a:buNone/>
            </a:pPr>
            <a:r>
              <a:rPr lang="en-US" sz="1000" dirty="0">
                <a:solidFill>
                  <a:srgbClr val="1A2140"/>
                </a:solidFill>
                <a:latin typeface="Calibri" pitchFamily="34" charset="0"/>
                <a:ea typeface="Calibri" pitchFamily="34" charset="-122"/>
                <a:cs typeface="Calibri" pitchFamily="34" charset="-120"/>
              </a:rPr>
              <a:t>Clean Python module adhering to PEP 8; 100% Pandera schema validation passing (0 errors); seed=42 verified.</a:t>
            </a:r>
            <a:endParaRPr lang="en-US" sz="1000" dirty="0"/>
          </a:p>
        </p:txBody>
      </p:sp>
      <p:sp>
        <p:nvSpPr>
          <p:cNvPr id="37" name="Text 35"/>
          <p:cNvSpPr/>
          <p:nvPr/>
        </p:nvSpPr>
        <p:spPr>
          <a:xfrm>
            <a:off x="777240" y="5696712"/>
            <a:ext cx="1920240" cy="256032"/>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Collaboration Toolchain:</a:t>
            </a:r>
            <a:endParaRPr lang="en-US" sz="1000" dirty="0"/>
          </a:p>
        </p:txBody>
      </p:sp>
      <p:sp>
        <p:nvSpPr>
          <p:cNvPr id="38" name="Text 36"/>
          <p:cNvSpPr/>
          <p:nvPr/>
        </p:nvSpPr>
        <p:spPr>
          <a:xfrm>
            <a:off x="2743200" y="5696712"/>
            <a:ext cx="8808415" cy="256032"/>
          </a:xfrm>
          <a:prstGeom prst="rect">
            <a:avLst/>
          </a:prstGeom>
          <a:noFill/>
          <a:ln/>
        </p:spPr>
        <p:txBody>
          <a:bodyPr wrap="square" rtlCol="0" anchor="ctr"/>
          <a:lstStyle/>
          <a:p>
            <a:pPr marL="0" indent="0">
              <a:buNone/>
            </a:pPr>
            <a:r>
              <a:rPr lang="en-US" sz="1000" dirty="0">
                <a:solidFill>
                  <a:srgbClr val="1A2140"/>
                </a:solidFill>
                <a:latin typeface="Calibri" pitchFamily="34" charset="0"/>
                <a:ea typeface="Calibri" pitchFamily="34" charset="-122"/>
                <a:cs typeface="Calibri" pitchFamily="34" charset="-120"/>
              </a:rPr>
              <a:t>Git branch-and-PR workflow; GitHub issue tracking; SHA-256 automated data lineage digests in lineage_report.json.</a:t>
            </a:r>
            <a:endParaRPr lang="en-US" sz="1000" dirty="0"/>
          </a:p>
        </p:txBody>
      </p:sp>
      <p:sp>
        <p:nvSpPr>
          <p:cNvPr id="39" name="Text 37"/>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667085"/>
                </a:solidFill>
                <a:latin typeface="Calibri" pitchFamily="34" charset="0"/>
                <a:ea typeface="Calibri" pitchFamily="34" charset="-122"/>
                <a:cs typeface="Calibri" pitchFamily="34" charset="-120"/>
              </a:rPr>
              <a:t>28</a:t>
            </a:r>
            <a:endParaRPr lang="en-US" sz="950" dirty="0"/>
          </a:p>
        </p:txBody>
      </p:sp>
      <p:sp>
        <p:nvSpPr>
          <p:cNvPr id="40" name="Text 38"/>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667085"/>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01200" y="-640080"/>
            <a:ext cx="3017520" cy="3017520"/>
          </a:xfrm>
          <a:prstGeom prst="ellipse">
            <a:avLst/>
          </a:prstGeom>
          <a:solidFill>
            <a:srgbClr val="CADCFC">
              <a:alpha val="12000"/>
            </a:srgbClr>
          </a:solidFill>
          <a:ln/>
        </p:spPr>
      </p:sp>
      <p:sp>
        <p:nvSpPr>
          <p:cNvPr id="3" name="Shape 1"/>
          <p:cNvSpPr/>
          <p:nvPr/>
        </p:nvSpPr>
        <p:spPr>
          <a:xfrm>
            <a:off x="10561320" y="45720"/>
            <a:ext cx="2103120" cy="2103120"/>
          </a:xfrm>
          <a:prstGeom prst="ellipse">
            <a:avLst/>
          </a:prstGeom>
          <a:solidFill>
            <a:srgbClr val="D98E04">
              <a:alpha val="18000"/>
            </a:srgbClr>
          </a:solidFill>
          <a:ln/>
        </p:spPr>
      </p:sp>
      <p:sp>
        <p:nvSpPr>
          <p:cNvPr id="4" name="Shape 2"/>
          <p:cNvSpPr/>
          <p:nvPr/>
        </p:nvSpPr>
        <p:spPr>
          <a:xfrm>
            <a:off x="-822960" y="4572000"/>
            <a:ext cx="2377440" cy="2377440"/>
          </a:xfrm>
          <a:prstGeom prst="ellipse">
            <a:avLst/>
          </a:prstGeom>
          <a:solidFill>
            <a:srgbClr val="FFFFFF">
              <a:alpha val="8000"/>
            </a:srgbClr>
          </a:solidFill>
          <a:ln/>
        </p:spPr>
      </p:sp>
      <p:sp>
        <p:nvSpPr>
          <p:cNvPr id="5" name="Text 3"/>
          <p:cNvSpPr/>
          <p:nvPr/>
        </p:nvSpPr>
        <p:spPr>
          <a:xfrm>
            <a:off x="640080" y="1645920"/>
            <a:ext cx="9144000" cy="100584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4"/>
          <p:cNvSpPr/>
          <p:nvPr/>
        </p:nvSpPr>
        <p:spPr>
          <a:xfrm>
            <a:off x="658368" y="2606040"/>
            <a:ext cx="9144000" cy="457200"/>
          </a:xfrm>
          <a:prstGeom prst="rect">
            <a:avLst/>
          </a:prstGeom>
          <a:noFill/>
          <a:ln/>
        </p:spPr>
        <p:txBody>
          <a:bodyPr wrap="square" rtlCol="0" anchor="ctr"/>
          <a:lstStyle/>
          <a:p>
            <a:pPr marL="0" indent="0">
              <a:buNone/>
            </a:pPr>
            <a:r>
              <a:rPr lang="en-US" sz="2000" i="1" dirty="0">
                <a:solidFill>
                  <a:srgbClr val="D98E04"/>
                </a:solidFill>
                <a:latin typeface="Calibri" pitchFamily="34" charset="0"/>
                <a:ea typeface="Calibri" pitchFamily="34" charset="-122"/>
                <a:cs typeface="Calibri" pitchFamily="34" charset="-120"/>
              </a:rPr>
              <a:t> In-Term Review 2</a:t>
            </a:r>
            <a:endParaRPr lang="en-US" sz="2000" dirty="0"/>
          </a:p>
        </p:txBody>
      </p:sp>
      <p:sp>
        <p:nvSpPr>
          <p:cNvPr id="7" name="Text 5"/>
          <p:cNvSpPr/>
          <p:nvPr/>
        </p:nvSpPr>
        <p:spPr>
          <a:xfrm>
            <a:off x="640080" y="3749040"/>
            <a:ext cx="10515600" cy="329184"/>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Interpretable Cross-Country Household Well-Being Estimation  ·  DSCI-28</a:t>
            </a:r>
            <a:endParaRPr lang="en-US" sz="1300" dirty="0"/>
          </a:p>
        </p:txBody>
      </p:sp>
      <p:sp>
        <p:nvSpPr>
          <p:cNvPr id="8" name="Text 6"/>
          <p:cNvSpPr/>
          <p:nvPr/>
        </p:nvSpPr>
        <p:spPr>
          <a:xfrm>
            <a:off x="640080" y="4114800"/>
            <a:ext cx="10515600" cy="32918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Kuni Likitha  ·  Madala Phanindra  ·  Mahesh Sai Bhima  ·  Punyala Rama Krishna Reddy</a:t>
            </a:r>
            <a:endParaRPr lang="en-US" sz="1300" dirty="0"/>
          </a:p>
        </p:txBody>
      </p:sp>
      <p:sp>
        <p:nvSpPr>
          <p:cNvPr id="9" name="Text 7"/>
          <p:cNvSpPr/>
          <p:nvPr/>
        </p:nvSpPr>
        <p:spPr>
          <a:xfrm>
            <a:off x="640080" y="4480560"/>
            <a:ext cx="10515600" cy="329184"/>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Project Guide: Dr. P. V. R. D. Prasada Rao  ·  Department of Computer Science &amp; Engineering, KL University</a:t>
            </a:r>
            <a:endParaRPr lang="en-US" sz="1200" dirty="0"/>
          </a:p>
        </p:txBody>
      </p:sp>
      <p:sp>
        <p:nvSpPr>
          <p:cNvPr id="11" name="Text 8"/>
          <p:cNvSpPr/>
          <p:nvPr/>
        </p:nvSpPr>
        <p:spPr>
          <a:xfrm>
            <a:off x="11368735" y="6510528"/>
            <a:ext cx="457200" cy="228600"/>
          </a:xfrm>
          <a:prstGeom prst="rect">
            <a:avLst/>
          </a:prstGeom>
          <a:noFill/>
          <a:ln/>
        </p:spPr>
        <p:txBody>
          <a:bodyPr wrap="square" rtlCol="0" anchor="ctr"/>
          <a:lstStyle/>
          <a:p>
            <a:pPr marL="0" indent="0" algn="r">
              <a:buNone/>
            </a:pPr>
            <a:r>
              <a:rPr lang="en-US" sz="950" dirty="0">
                <a:solidFill>
                  <a:srgbClr val="8891C4"/>
                </a:solidFill>
                <a:latin typeface="Calibri" pitchFamily="34" charset="0"/>
                <a:ea typeface="Calibri" pitchFamily="34" charset="-122"/>
                <a:cs typeface="Calibri" pitchFamily="34" charset="-120"/>
              </a:rPr>
              <a:t>29</a:t>
            </a:r>
            <a:endParaRPr lang="en-US" sz="950" dirty="0"/>
          </a:p>
        </p:txBody>
      </p:sp>
      <p:sp>
        <p:nvSpPr>
          <p:cNvPr id="12" name="Text 9"/>
          <p:cNvSpPr/>
          <p:nvPr/>
        </p:nvSpPr>
        <p:spPr>
          <a:xfrm>
            <a:off x="548640" y="6510528"/>
            <a:ext cx="6400800" cy="228600"/>
          </a:xfrm>
          <a:prstGeom prst="rect">
            <a:avLst/>
          </a:prstGeom>
          <a:noFill/>
          <a:ln/>
        </p:spPr>
        <p:txBody>
          <a:bodyPr wrap="square" rtlCol="0" anchor="ctr"/>
          <a:lstStyle/>
          <a:p>
            <a:pPr marL="0" indent="0" algn="l">
              <a:buNone/>
            </a:pPr>
            <a:r>
              <a:rPr lang="en-US" sz="900" dirty="0">
                <a:solidFill>
                  <a:srgbClr val="8891C4"/>
                </a:solidFill>
                <a:latin typeface="Calibri" pitchFamily="34" charset="0"/>
                <a:ea typeface="Calibri" pitchFamily="34" charset="-122"/>
                <a:cs typeface="Calibri" pitchFamily="34" charset="-120"/>
              </a:rPr>
              <a:t>DSCI-28 · Capstone I · In-Term Review 2 · Objective 1 Complete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7126</Words>
  <Application>Microsoft Office PowerPoint</Application>
  <PresentationFormat>Widescreen</PresentationFormat>
  <Paragraphs>874</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Cross-Country Household Well-Being Estimation</dc:title>
  <dc:subject>PptxGenJS Presentation</dc:subject>
  <dc:creator>Team DSCI-28</dc:creator>
  <cp:lastModifiedBy>Mahesh Sai Bhima</cp:lastModifiedBy>
  <cp:revision>1</cp:revision>
  <dcterms:created xsi:type="dcterms:W3CDTF">2026-09-22T02:18:48Z</dcterms:created>
  <dcterms:modified xsi:type="dcterms:W3CDTF">2026-09-22T02:24:23Z</dcterms:modified>
</cp:coreProperties>
</file>